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04277492a7541da" /><Relationship Type="http://schemas.openxmlformats.org/officeDocument/2006/relationships/extended-properties" Target="/docProps/app.xml" Id="Ra3201788fba24b13" /><Relationship Type="http://schemas.openxmlformats.org/officeDocument/2006/relationships/officeDocument" Target="/ppt/presentation.xml" Id="Rf28cc11476d04c6b" /></Relationships>
</file>

<file path=ppt/presentation.xml><?xml version="1.0" encoding="utf-8"?>
<p:presentation xmlns:p="http://schemas.openxmlformats.org/presentationml/2006/main">
  <p:sldMasterIdLst>
    <p:sldMasterId xmlns:r="http://schemas.openxmlformats.org/officeDocument/2006/relationships" id="2147483648" r:id="R6dcab340f4e246a4"/>
  </p:sldMasterIdLst>
  <p:notesMasterIdLst>
    <p:notesMasterId xmlns:r="http://schemas.openxmlformats.org/officeDocument/2006/relationships" r:id="Rab606549306e445b"/>
  </p:notesMasterIdLst>
  <p:sldIdLst>
    <p:sldId xmlns:r="http://schemas.openxmlformats.org/officeDocument/2006/relationships" id="256" r:id="R9b2332b3e1da420c"/>
    <p:sldId xmlns:r="http://schemas.openxmlformats.org/officeDocument/2006/relationships" id="257" r:id="R3135066eb3ba4175"/>
    <p:sldId xmlns:r="http://schemas.openxmlformats.org/officeDocument/2006/relationships" id="258" r:id="R74fcd3beca6a4cbe"/>
    <p:sldId xmlns:r="http://schemas.openxmlformats.org/officeDocument/2006/relationships" id="259" r:id="Rc1689b9675ad49c0"/>
    <p:sldId xmlns:r="http://schemas.openxmlformats.org/officeDocument/2006/relationships" id="260" r:id="R0d8eea40547f4ec5"/>
    <p:sldId xmlns:r="http://schemas.openxmlformats.org/officeDocument/2006/relationships" id="261" r:id="Rda7fffe0e718458e"/>
    <p:sldId xmlns:r="http://schemas.openxmlformats.org/officeDocument/2006/relationships" id="262" r:id="R1b810f6006d24e25"/>
    <p:sldId xmlns:r="http://schemas.openxmlformats.org/officeDocument/2006/relationships" id="263" r:id="R71d2c5bfc20a40cb"/>
    <p:sldId xmlns:r="http://schemas.openxmlformats.org/officeDocument/2006/relationships" id="264" r:id="R5717797b2c064776"/>
    <p:sldId xmlns:r="http://schemas.openxmlformats.org/officeDocument/2006/relationships" id="265" r:id="R899f3f26eebc418d"/>
    <p:sldId xmlns:r="http://schemas.openxmlformats.org/officeDocument/2006/relationships" id="266" r:id="R54efffcdf8854da2"/>
    <p:sldId xmlns:r="http://schemas.openxmlformats.org/officeDocument/2006/relationships" id="267" r:id="Ra87dacfd0e5a477f"/>
    <p:sldId xmlns:r="http://schemas.openxmlformats.org/officeDocument/2006/relationships" id="268" r:id="R36fdb00e1e484dd2"/>
    <p:sldId xmlns:r="http://schemas.openxmlformats.org/officeDocument/2006/relationships" id="269" r:id="R7563ef78a89a4a98"/>
    <p:sldId xmlns:r="http://schemas.openxmlformats.org/officeDocument/2006/relationships" id="270" r:id="Ra430b6fcde0245ce"/>
    <p:sldId xmlns:r="http://schemas.openxmlformats.org/officeDocument/2006/relationships" id="271" r:id="Rdbd4b11a250746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e6ae905b604cae" /><Relationship Type="http://schemas.openxmlformats.org/officeDocument/2006/relationships/slideMaster" Target="/ppt/slideMasters/slideMaster1.xml" Id="R6dcab340f4e246a4" /><Relationship Type="http://schemas.openxmlformats.org/officeDocument/2006/relationships/notesMaster" Target="/ppt/notesMasters/notesMaster1.xml" Id="Rab606549306e445b" /><Relationship Type="http://schemas.openxmlformats.org/officeDocument/2006/relationships/presProps" Target="/ppt/presProps.xml" Id="R5fcaeb71e538419c" /><Relationship Type="http://schemas.openxmlformats.org/officeDocument/2006/relationships/tableStyles" Target="/ppt/tableStyles.xml" Id="R6db369ac73434116" /><Relationship Type="http://schemas.openxmlformats.org/officeDocument/2006/relationships/slide" Target="/ppt/slides/slide1.xml" Id="R9b2332b3e1da420c" /><Relationship Type="http://schemas.openxmlformats.org/officeDocument/2006/relationships/slide" Target="/ppt/slides/slide2.xml" Id="R3135066eb3ba4175" /><Relationship Type="http://schemas.openxmlformats.org/officeDocument/2006/relationships/slide" Target="/ppt/slides/slide3.xml" Id="R74fcd3beca6a4cbe" /><Relationship Type="http://schemas.openxmlformats.org/officeDocument/2006/relationships/slide" Target="/ppt/slides/slide4.xml" Id="Rc1689b9675ad49c0" /><Relationship Type="http://schemas.openxmlformats.org/officeDocument/2006/relationships/slide" Target="/ppt/slides/slide5.xml" Id="R0d8eea40547f4ec5" /><Relationship Type="http://schemas.openxmlformats.org/officeDocument/2006/relationships/slide" Target="/ppt/slides/slide6.xml" Id="Rda7fffe0e718458e" /><Relationship Type="http://schemas.openxmlformats.org/officeDocument/2006/relationships/slide" Target="/ppt/slides/slide7.xml" Id="R1b810f6006d24e25" /><Relationship Type="http://schemas.openxmlformats.org/officeDocument/2006/relationships/slide" Target="/ppt/slides/slide8.xml" Id="R71d2c5bfc20a40cb" /><Relationship Type="http://schemas.openxmlformats.org/officeDocument/2006/relationships/slide" Target="/ppt/slides/slide9.xml" Id="R5717797b2c064776" /><Relationship Type="http://schemas.openxmlformats.org/officeDocument/2006/relationships/slide" Target="/ppt/slides/slide10.xml" Id="R899f3f26eebc418d" /><Relationship Type="http://schemas.openxmlformats.org/officeDocument/2006/relationships/slide" Target="/ppt/slides/slide11.xml" Id="R54efffcdf8854da2" /><Relationship Type="http://schemas.openxmlformats.org/officeDocument/2006/relationships/slide" Target="/ppt/slides/slide12.xml" Id="Ra87dacfd0e5a477f" /><Relationship Type="http://schemas.openxmlformats.org/officeDocument/2006/relationships/slide" Target="/ppt/slides/slide13.xml" Id="R36fdb00e1e484dd2" /><Relationship Type="http://schemas.openxmlformats.org/officeDocument/2006/relationships/slide" Target="/ppt/slides/slide14.xml" Id="R7563ef78a89a4a98" /><Relationship Type="http://schemas.openxmlformats.org/officeDocument/2006/relationships/slide" Target="/ppt/slides/slide15.xml" Id="Ra430b6fcde0245ce" /><Relationship Type="http://schemas.openxmlformats.org/officeDocument/2006/relationships/slide" Target="/ppt/slides/slide16.xml" Id="Rdbd4b11a250746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9b1c16a3b64f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f0d94379034bfe" /><Relationship Type="http://schemas.openxmlformats.org/officeDocument/2006/relationships/notesMaster" Target="/ppt/notesMasters/notesMaster1.xml" Id="R7cb1c96f0c664b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714700a7b64850" /><Relationship Type="http://schemas.openxmlformats.org/officeDocument/2006/relationships/notesMaster" Target="/ppt/notesMasters/notesMaster1.xml" Id="R044ff04df81540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466e287df84e00" /><Relationship Type="http://schemas.openxmlformats.org/officeDocument/2006/relationships/notesMaster" Target="/ppt/notesMasters/notesMaster1.xml" Id="R8dc458e4113341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9c053bdc4d455a" /><Relationship Type="http://schemas.openxmlformats.org/officeDocument/2006/relationships/notesMaster" Target="/ppt/notesMasters/notesMaster1.xml" Id="R0ade147531dc4f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970b2da4934957" /><Relationship Type="http://schemas.openxmlformats.org/officeDocument/2006/relationships/notesMaster" Target="/ppt/notesMasters/notesMaster1.xml" Id="R05299ac3bac84a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4792f841d84e8c" /><Relationship Type="http://schemas.openxmlformats.org/officeDocument/2006/relationships/notesMaster" Target="/ppt/notesMasters/notesMaster1.xml" Id="R62fb727ce39d41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e621f3c3af41c2" /><Relationship Type="http://schemas.openxmlformats.org/officeDocument/2006/relationships/notesMaster" Target="/ppt/notesMasters/notesMaster1.xml" Id="R8dd50dcf7a0f43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3aafdde5f54ffd" /><Relationship Type="http://schemas.openxmlformats.org/officeDocument/2006/relationships/notesMaster" Target="/ppt/notesMasters/notesMaster1.xml" Id="Red51440b60c44f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bb3c6bfabd4ed3" /><Relationship Type="http://schemas.openxmlformats.org/officeDocument/2006/relationships/notesMaster" Target="/ppt/notesMasters/notesMaster1.xml" Id="Rcdd48241ae7e49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9336ca5eba4623" /><Relationship Type="http://schemas.openxmlformats.org/officeDocument/2006/relationships/notesMaster" Target="/ppt/notesMasters/notesMaster1.xml" Id="Ra874e8e61b7e4f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6de730514b455f" /><Relationship Type="http://schemas.openxmlformats.org/officeDocument/2006/relationships/notesMaster" Target="/ppt/notesMasters/notesMaster1.xml" Id="R08682cb0e16649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2bb4b1bdac4aa1" /><Relationship Type="http://schemas.openxmlformats.org/officeDocument/2006/relationships/notesMaster" Target="/ppt/notesMasters/notesMaster1.xml" Id="R4e0dcf5876b140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afa8118eea410d" /><Relationship Type="http://schemas.openxmlformats.org/officeDocument/2006/relationships/notesMaster" Target="/ppt/notesMasters/notesMaster1.xml" Id="R9f60bf94ee2f4c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ec7c5765334ef4" /><Relationship Type="http://schemas.openxmlformats.org/officeDocument/2006/relationships/notesMaster" Target="/ppt/notesMasters/notesMaster1.xml" Id="R247096c0bca94f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07633f560749da" /><Relationship Type="http://schemas.openxmlformats.org/officeDocument/2006/relationships/notesMaster" Target="/ppt/notesMasters/notesMaster1.xml" Id="Rb767be1f94bb42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3f504cbd784155" /><Relationship Type="http://schemas.openxmlformats.org/officeDocument/2006/relationships/notesMaster" Target="/ppt/notesMasters/notesMaster1.xml" Id="R94d81dcda43f42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studies explicit and implicit user-item couplings. This project evaluates the attribute-based Top-N component as a partial reproduction on MovieLens 1M.</a:t>
            </a:r>
          </a:p>
          <a:p xmlns:a="http://schemas.openxmlformats.org/drawingml/2006/main">
            <a:r>
              <a:t/>
            </a:r>
          </a:p>
          <a:p xmlns:a="http://schemas.openxmlformats.org/drawingml/2006/main">
            <a:r>
              <a:t>Zhang, Q., Wang, L., Meng, X., Xu, K., and Hu, J. (2019). IEEE Access, 7, 123944-123958. https://doi.org/10.1109/ACCESS.2019.2937841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123944-123945. The supplied 15-page paper PDF is an image-only copy; page locators here use its printed IEEE pagination.</a:t>
            </a:r>
          </a:p>
          <a:p xmlns:a="http://schemas.openxmlformats.org/drawingml/2006/main">
            <a:r>
              <a:t>The paper's abstract and introduction frame recommendation around non-IID user-item relations, sparse interaction histories, and personalized item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123944-123946. The supplied 15-page paper PDF is an image-only copy; page locators here use its printed IEEE pagination.</a:t>
            </a:r>
          </a:p>
          <a:p xmlns:a="http://schemas.openxmlformats.org/drawingml/2006/main">
            <a:r>
              <a:t>The authors describe CoupledCF's motivation and claimed framework contributions in the abstract and introduction. Project results on this deck are kept separate from the paper's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simplified editable rendering of the paper's framework. The project below uses MovieLens attributes for the explicit branch; it does not implement the review-text pathway.</a:t>
            </a:r>
          </a:p>
          <a:p xmlns:a="http://schemas.openxmlformats.org/drawingml/2006/main">
            <a:r>
              <a:t/>
            </a:r>
          </a:p>
          <a:p xmlns:a="http://schemas.openxmlformats.org/drawingml/2006/main">
            <a:r>
              <a:t>Zhang, Q., Wang, L., Meng, X., Xu, K., and Hu, J. (2019). IEEE Access, 7, 123944-123958. https://doi.org/10.1109/ACCESS.2019.2937841</a:t>
            </a:r>
          </a:p>
          <a:p xmlns:a="http://schemas.openxmlformats.org/drawingml/2006/main">
            <a:r>
              <a:t>Relevant printed IEEE pages: 123945-123950. See the claimed contributions, Figure 1, and Figures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123950-123951. The supplied 15-page paper PDF is an image-only copy; page locators here use its printed IEEE pagination.</a:t>
            </a:r>
          </a:p>
          <a:p xmlns:a="http://schemas.openxmlformats.org/drawingml/2006/main">
            <a:r>
              <a:t>The paper's attribute-based embedding method is described on printed p.123950. Implementation dimensions and selected MovieLens fields come from docs/methodology.md and data/processed/manifest.json.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123947-123948, 123953. The supplied 15-page paper PDF is an image-only copy; page locators here use its printed IEEE pagination.</a:t>
            </a:r>
          </a:p>
          <a:p xmlns:a="http://schemas.openxmlformats.org/drawingml/2006/main">
            <a:r>
              <a:t>Figure 1 and Equations 2-3 describe local/global coupling. Printed p.123953 specifies two CNN layers with 3x3 filters and eight channels for MovieLens 1M. The project applies one valid convolution before pooling and does not claim exact architectural 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123948-123950. The supplied 15-page paper PDF is an image-only copy; page locators here use its printed IEEE pagination.</a:t>
            </a:r>
          </a:p>
          <a:p xmlns:a="http://schemas.openxmlformats.org/drawingml/2006/main">
            <a:r>
              <a:t>Figures 2-3 and Equations 4-16 describe DeepCF and coupled explicit/implicit pathways. In src/coupledcf/models.py, CoupledCF concatenates 72 local and 64 global values, compresses the 136 explicit values to 64, concatenates those 64 with DeepCF's 64-value output to form 128, then applies a joint 128-to-64 MLP and scalar output. Coupled-local compresses 72 local values to 64 before the same joint path. This is the implemented source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123951-123953. The supplied 15-page paper PDF is an image-only copy; page locators here use its printed IEEE pagination.</a:t>
            </a:r>
          </a:p>
          <a:p xmlns:a="http://schemas.openxmlformats.org/drawingml/2006/main">
            <a:r>
              <a:t>The paper treats all observed ratings as positive Top-N interactions, samples four negatives per positive for the implicit task, and evaluates one positive with 99 unobserved candidates using HR and NDCG. The one-per-user validation holdout is a project choice because the paper does not specify its per-user count. Dataset counts come from the verified project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configs/main.json, src/coupledcf/models.py, docs/methodology.md, results/summary.csv.</a:t>
            </a:r>
          </a:p>
          <a:p xmlns:a="http://schemas.openxmlformats.org/drawingml/2006/main">
            <a:r>
              <a:t>For CoupledCF, local 72 and global 64 values enter an explicit fusion MLP of width 64. That result is concatenated with DeepCF's 64-value representation, then a joint MLP maps 128 to 64 before the output logit. Coupled-local omits the global branch and maps local 72 to explicit 64 before the same joint fusion.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results/runs.csv, results/summary.csv, results/references.json, data/processed/manifest.json.</a:t>
            </a:r>
          </a:p>
          <a:p xmlns:a="http://schemas.openxmlformats.org/drawingml/2006/main">
            <a:r>
              <a:t>The result table and chart were built from a validated 15-run bundle. Split SHA256: 4a7c4698919eb6cf0d27a087a21f20e3342db85f300c83e6a9eaf27160935834. Model table values show the arithmetic mean and sample SD across model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results/ablation.csv, results/runs.csv, configs/main.json.</a:t>
            </a:r>
          </a:p>
          <a:p xmlns:a="http://schemas.openxmlformats.org/drawingml/2006/main">
            <a:r>
              <a:t>The CSV's paired differences are re-computed and verified against the same-seed run metrics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configs/main.json, results/runs.csv, results/summary.csv.</a:t>
            </a:r>
          </a:p>
          <a:p xmlns:a="http://schemas.openxmlformats.org/drawingml/2006/main">
            <a:r>
              <a:t>Parameter counts come from each instantiated model. Wall time and sampled peak RSS are means and sample SDs across the configured model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Zhang, Q., Wang, L., Meng, X., Xu, K., and Hu, J. (2019). A Generic Framework for Learning Explicit and Implicit User-Item Couplings in Recommendation. IEEE Access, 7, 123944-123958. https://doi.org/10.1109/ACCESS.2019.2937841</a:t>
            </a:r>
          </a:p>
          <a:p xmlns:a="http://schemas.openxmlformats.org/drawingml/2006/main">
            <a:r>
              <a:t>Relevant printed IEEE page(s): 123954. The supplied 15-page paper PDF is an image-only copy; page locators here use its printed IEEE pagination.</a:t>
            </a:r>
          </a:p>
          <a:p xmlns:a="http://schemas.openxmlformats.org/drawingml/2006/main">
            <a:r>
              <a:t>The values are Table 7 for MovieLens 1M. DeepCF: 0.7147/0.4312; local CoupledCF: 0.8212/0.5408; global CoupledCF: 0.7826/0.5252; CoupledCF: 0.8252/0.5440.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results/summary.csv, results/runs.csv, results/ablation.csv.</a:t>
            </a:r>
          </a:p>
          <a:p xmlns:a="http://schemas.openxmlformats.org/drawingml/2006/main">
            <a:r>
              <a:t>Each difference uses the three matched seeds. A seed is not an independent user sample or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docs/final_report.md, docs/viva_questions.md.</a:t>
            </a:r>
          </a:p>
          <a:p xmlns:a="http://schemas.openxmlformats.org/drawingml/2006/main">
            <a:r>
              <a:t>The project proposes field-aware cross attention with permutation-invariant genre aggregation to avoid assumed local neighborhoods among arbitrary embedding coordinates. This extension is unimplemented and untested. A parameter-matched comparison with the same split, candidate sets, seeds and optimizer-update budget would test it. Separate full-catalogue and entity-holdout protocols would test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configs/student.json, docs/methodology.md, sources/assignment.txt.</a:t>
            </a:r>
          </a:p>
          <a:p xmlns:a="http://schemas.openxmlformats.org/drawingml/2006/main">
            <a:r>
              <a:t>Confirm each student's name, roll number and actual individual contribution before submission. The prompts are preparation questions, not claims about assigned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4dcadeb57c4f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489efe2ce14b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1eb797adef49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31ef5eab6242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e83b9e9f5742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fdf5377ba440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703061-7C2B-4049-825C-68A8D5A8C8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C7325D-9117-4F04-BD5E-F25FCA0130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5AD93A-1B67-447C-93D4-697FCCA57D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1E798-1C80-427F-83C0-078C27D441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78BBE3-F3B0-4816-93A5-A1541060C2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3EEAB14-BFFE-4703-A40F-383F509C65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A998F8-C49F-4E84-8154-006F763CF6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CF067BC-8FFC-4849-A22B-6FD01BEE579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F3B10D-F8BC-4602-B323-D39138E397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DDEF0A-5E73-4725-BEE6-02657DAABD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bd8dd8a148457f" /><Relationship Type="http://schemas.openxmlformats.org/officeDocument/2006/relationships/slideLayout" Target="/ppt/slideLayouts/slideLayout1.xml" Id="Rf274dc84c0464b77" /><Relationship Type="http://schemas.openxmlformats.org/officeDocument/2006/relationships/slideLayout" Target="/ppt/slideLayouts/slideLayout2.xml" Id="R491c5b19500041c0" /><Relationship Type="http://schemas.openxmlformats.org/officeDocument/2006/relationships/slideLayout" Target="/ppt/slideLayouts/slideLayout3.xml" Id="R8f1d5ef899914354" /><Relationship Type="http://schemas.openxmlformats.org/officeDocument/2006/relationships/slideLayout" Target="/ppt/slideLayouts/slideLayout4.xml" Id="R6a55367be9114e41" /><Relationship Type="http://schemas.openxmlformats.org/officeDocument/2006/relationships/slideLayout" Target="/ppt/slideLayouts/slideLayout5.xml" Id="R2708cdc670614f98" /><Relationship Type="http://schemas.openxmlformats.org/officeDocument/2006/relationships/slideLayout" Target="/ppt/slideLayouts/slideLayout6.xml" Id="R87793a693224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74dc84c0464b77"/>
    <p:sldLayoutId xmlns:r="http://schemas.openxmlformats.org/officeDocument/2006/relationships" id="2147483650" r:id="R491c5b19500041c0"/>
    <p:sldLayoutId xmlns:r="http://schemas.openxmlformats.org/officeDocument/2006/relationships" id="2147483651" r:id="R8f1d5ef899914354"/>
    <p:sldLayoutId xmlns:r="http://schemas.openxmlformats.org/officeDocument/2006/relationships" id="2147483652" r:id="R6a55367be9114e41"/>
    <p:sldLayoutId xmlns:r="http://schemas.openxmlformats.org/officeDocument/2006/relationships" id="2147483653" r:id="R2708cdc670614f98"/>
    <p:sldLayoutId xmlns:r="http://schemas.openxmlformats.org/officeDocument/2006/relationships" id="2147483654" r:id="R87793a693224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e9cb28155f406e" /><Relationship Type="http://schemas.openxmlformats.org/officeDocument/2006/relationships/notesSlide" Target="/ppt/notesSlides/notesSlide1.xml" Id="R3d29430eb0024f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8018e961a2463d" /><Relationship Type="http://schemas.openxmlformats.org/officeDocument/2006/relationships/notesSlide" Target="/ppt/notesSlides/notesSlide2.xml" Id="R6b9b885cfa4b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88abfc3f044d24" /><Relationship Type="http://schemas.openxmlformats.org/officeDocument/2006/relationships/notesSlide" Target="/ppt/notesSlides/notesSlide3.xml" Id="R6de08b59c8e04a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dd2cbf670f40ee" /><Relationship Type="http://schemas.openxmlformats.org/officeDocument/2006/relationships/notesSlide" Target="/ppt/notesSlides/notesSlide4.xml" Id="Rfa880b529d9144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1679eccf61842b6" /><Relationship Type="http://schemas.openxmlformats.org/officeDocument/2006/relationships/notesSlide" Target="/ppt/notesSlides/notesSlide5.xml" Id="Re0936ad3e52f44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5edefc8a9a43aa" /><Relationship Type="http://schemas.openxmlformats.org/officeDocument/2006/relationships/notesSlide" Target="/ppt/notesSlides/notesSlide6.xml" Id="R06b46f43d6cd46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3c699407644992" /><Relationship Type="http://schemas.openxmlformats.org/officeDocument/2006/relationships/notesSlide" Target="/ppt/notesSlides/notesSlide7.xml" Id="Rf6016a81fa494d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d71746ed854c9d" /><Relationship Type="http://schemas.openxmlformats.org/officeDocument/2006/relationships/notesSlide" Target="/ppt/notesSlides/notesSlide8.xml" Id="Rb502f4350fa04c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df4d4fe26e4346" /><Relationship Type="http://schemas.openxmlformats.org/officeDocument/2006/relationships/notesSlide" Target="/ppt/notesSlides/notesSlide9.xml" Id="R3129b5dda6e14e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4835097ddb461e" /><Relationship Type="http://schemas.openxmlformats.org/officeDocument/2006/relationships/chart" Target="/ppt/slides/charts/chart1.xml" Id="Rf60f8f31f03747b9" /><Relationship Type="http://schemas.openxmlformats.org/officeDocument/2006/relationships/notesSlide" Target="/ppt/notesSlides/notesSlide10.xml" Id="Red690354b28141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6f567b567d541aa" /><Relationship Type="http://schemas.openxmlformats.org/officeDocument/2006/relationships/chart" Target="/ppt/slides/charts/chart2.xml" Id="R6d55108d023b4d49" /><Relationship Type="http://schemas.openxmlformats.org/officeDocument/2006/relationships/notesSlide" Target="/ppt/notesSlides/notesSlide11.xml" Id="Rca2a55bedf024a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9481f023ca4e3f" /><Relationship Type="http://schemas.openxmlformats.org/officeDocument/2006/relationships/chart" Target="/ppt/slides/charts/chart3.xml" Id="Raabf8f512b5a40c8" /><Relationship Type="http://schemas.openxmlformats.org/officeDocument/2006/relationships/notesSlide" Target="/ppt/notesSlides/notesSlide12.xml" Id="Rcc0ff54abded48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7c48c46c0a4691" /><Relationship Type="http://schemas.openxmlformats.org/officeDocument/2006/relationships/notesSlide" Target="/ppt/notesSlides/notesSlide13.xml" Id="R5b680304b94846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7617588da249ad" /><Relationship Type="http://schemas.openxmlformats.org/officeDocument/2006/relationships/notesSlide" Target="/ppt/notesSlides/notesSlide14.xml" Id="R554ac41b045e47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15cfeb2b89c4edc" /><Relationship Type="http://schemas.openxmlformats.org/officeDocument/2006/relationships/notesSlide" Target="/ppt/notesSlides/notesSlide15.xml" Id="R66621c3c0db542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ce466c967ef4f8f" /><Relationship Type="http://schemas.openxmlformats.org/officeDocument/2006/relationships/notesSlide" Target="/ppt/notesSlides/notesSlide16.xml" Id="R1244b17cc7ae40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5232D"/>
                </a:solidFill>
                <a:latin typeface="Arial"/>
                <a:ea typeface="Arial"/>
                <a:cs typeface="Arial"/>
              </a:rPr>
              <a:t>Seed means</a:t>
            </a:r>
          </a:p>
        </c:rich>
      </c:tx>
      <c:overlay val="0"/>
      <c:txPr>
        <a:bodyPr xmlns:a="http://schemas.openxmlformats.org/drawingml/2006/main" anchorCtr="1"/>
        <a:lstStyle xmlns:a="http://schemas.openxmlformats.org/drawingml/2006/main"/>
        <a:p xmlns:a="http://schemas.openxmlformats.org/drawingml/2006/main">
          <a:pPr>
            <a:defRPr sz="1350" b="1">
              <a:solidFill>
                <a:srgbClr val="15232D"/>
              </a:solidFill>
              <a:latin typeface="Arial"/>
              <a:ea typeface="Arial"/>
              <a:cs typeface="Arial"/>
            </a:defRPr>
          </a:pPr>
        </a:p>
      </c:txPr>
    </c:title>
    <c:plotArea>
      <c:barChart>
        <c:barDir val="col"/>
        <c:grouping val="clustered"/>
        <c:varyColors val="0"/>
        <c:ser>
          <c:idx val="0"/>
          <c:order val="0"/>
          <c:tx>
            <c:v>HR@10</c:v>
          </c:tx>
          <c:spPr>
            <a:solidFill xmlns:a="http://schemas.openxmlformats.org/drawingml/2006/main">
              <a:srgbClr val="147C74"/>
            </a:solidFill>
          </c:spPr>
          <c:invertIfNegative val="0"/>
          <c:cat>
            <c:strRef>
              <c:f>'Chart Data'!$A$2:$A$6</c:f>
              <c:strCache>
                <c:ptCount val="5"/>
                <c:pt idx="0">
                  <c:v>DeepCF</c:v>
                </c:pt>
                <c:pt idx="1">
                  <c:v>Local CNN</c:v>
                </c:pt>
                <c:pt idx="2">
                  <c:v>Global</c:v>
                </c:pt>
                <c:pt idx="3">
                  <c:v>Local+ID</c:v>
                </c:pt>
                <c:pt idx="4">
                  <c:v>CoupledCF</c:v>
                </c:pt>
              </c:strCache>
            </c:strRef>
          </c:cat>
          <c:val>
            <c:numRef>
              <c:f>'Chart Data'!$B$2:$B$6</c:f>
              <c:numCache>
                <c:formatCode>0.0</c:formatCode>
                <c:ptCount val="5"/>
                <c:pt idx="0">
                  <c:v>0.782505518764</c:v>
                </c:pt>
                <c:pt idx="1">
                  <c:v>0.384105960265</c:v>
                </c:pt>
                <c:pt idx="2">
                  <c:v>0.392439293598</c:v>
                </c:pt>
                <c:pt idx="3">
                  <c:v>0.79266004415</c:v>
                </c:pt>
                <c:pt idx="4">
                  <c:v>0.793653421634</c:v>
                </c:pt>
              </c:numCache>
            </c:numRef>
          </c:val>
        </c:ser>
        <c:ser>
          <c:idx val="1"/>
          <c:order val="1"/>
          <c:tx>
            <c:v>NDCG@10</c:v>
          </c:tx>
          <c:spPr>
            <a:solidFill xmlns:a="http://schemas.openxmlformats.org/drawingml/2006/main">
              <a:srgbClr val="C97725"/>
            </a:solidFill>
          </c:spPr>
          <c:invertIfNegative val="0"/>
          <c:cat>
            <c:strRef>
              <c:f>'Chart Data'!$C$2:$C$6</c:f>
              <c:strCache>
                <c:ptCount val="5"/>
                <c:pt idx="0">
                  <c:v>DeepCF</c:v>
                </c:pt>
                <c:pt idx="1">
                  <c:v>Local CNN</c:v>
                </c:pt>
                <c:pt idx="2">
                  <c:v>Global</c:v>
                </c:pt>
                <c:pt idx="3">
                  <c:v>Local+ID</c:v>
                </c:pt>
                <c:pt idx="4">
                  <c:v>CoupledCF</c:v>
                </c:pt>
              </c:strCache>
            </c:strRef>
          </c:cat>
          <c:val>
            <c:numRef>
              <c:f>'Chart Data'!$D$2:$D$6</c:f>
              <c:numCache>
                <c:formatCode>0.0</c:formatCode>
                <c:ptCount val="5"/>
                <c:pt idx="0">
                  <c:v>0.502153563622</c:v>
                </c:pt>
                <c:pt idx="1">
                  <c:v>0.214164889661</c:v>
                </c:pt>
                <c:pt idx="2">
                  <c:v>0.215139825328</c:v>
                </c:pt>
                <c:pt idx="3">
                  <c:v>0.520252559095</c:v>
                </c:pt>
                <c:pt idx="4">
                  <c:v>0.522358202154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900">
                  <a:solidFill>
                    <a:srgbClr val="15232D"/>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293A45"/>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DEE3"/>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5F6D76"/>
                    </a:solidFill>
                    <a:latin typeface="Arial"/>
                    <a:ea typeface="Arial"/>
                    <a:cs typeface="Arial"/>
                  </a:rPr>
                  <a:t>Ranking metric</a:t>
                </a:r>
              </a:p>
            </c:rich>
          </c:tx>
          <c:overlay val="0"/>
          <c:txPr>
            <a:bodyPr xmlns:a="http://schemas.openxmlformats.org/drawingml/2006/main" anchorCtr="1"/>
            <a:lstStyle xmlns:a="http://schemas.openxmlformats.org/drawingml/2006/main"/>
            <a:p xmlns:a="http://schemas.openxmlformats.org/drawingml/2006/main">
              <a:pPr>
                <a:defRPr sz="1200">
                  <a:solidFill>
                    <a:srgbClr val="5F6D7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D76"/>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93A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5232D"/>
                </a:solidFill>
                <a:latin typeface="Arial"/>
                <a:ea typeface="Arial"/>
                <a:cs typeface="Arial"/>
              </a:rPr>
              <a:t>Mean paired delta</a:t>
            </a:r>
          </a:p>
        </c:rich>
      </c:tx>
      <c:overlay val="0"/>
      <c:txPr>
        <a:bodyPr xmlns:a="http://schemas.openxmlformats.org/drawingml/2006/main" anchorCtr="1"/>
        <a:lstStyle xmlns:a="http://schemas.openxmlformats.org/drawingml/2006/main"/>
        <a:p xmlns:a="http://schemas.openxmlformats.org/drawingml/2006/main">
          <a:pPr>
            <a:defRPr sz="1350" b="1">
              <a:solidFill>
                <a:srgbClr val="15232D"/>
              </a:solidFill>
              <a:latin typeface="Arial"/>
              <a:ea typeface="Arial"/>
              <a:cs typeface="Arial"/>
            </a:defRPr>
          </a:pPr>
        </a:p>
      </c:txPr>
    </c:title>
    <c:plotArea>
      <c:barChart>
        <c:barDir val="bar"/>
        <c:grouping val="clustered"/>
        <c:varyColors val="0"/>
        <c:ser>
          <c:idx val="0"/>
          <c:order val="0"/>
          <c:tx>
            <c:v>HR@10</c:v>
          </c:tx>
          <c:spPr>
            <a:solidFill xmlns:a="http://schemas.openxmlformats.org/drawingml/2006/main">
              <a:srgbClr val="147C74"/>
            </a:solidFill>
          </c:spPr>
          <c:invertIfNegative val="0"/>
          <c:cat>
            <c:strRef>
              <c:f>'Chart Data'!$A$2:$A$5</c:f>
              <c:strCache>
                <c:ptCount val="4"/>
                <c:pt idx="0">
                  <c:v>Full vs DeepCF</c:v>
                </c:pt>
                <c:pt idx="1">
                  <c:v>Add global path</c:v>
                </c:pt>
                <c:pt idx="2">
                  <c:v>Add local path</c:v>
                </c:pt>
                <c:pt idx="3">
                  <c:v>Local vs global</c:v>
                </c:pt>
              </c:strCache>
            </c:strRef>
          </c:cat>
          <c:val>
            <c:numRef>
              <c:f>'Chart Data'!$B$2:$B$5</c:f>
              <c:numCache>
                <c:formatCode>General</c:formatCode>
                <c:ptCount val="4"/>
                <c:pt idx="0">
                  <c:v>0.0111479028698</c:v>
                </c:pt>
                <c:pt idx="1">
                  <c:v>0.000993377483444</c:v>
                </c:pt>
                <c:pt idx="2">
                  <c:v>0.0101545253863</c:v>
                </c:pt>
                <c:pt idx="3">
                  <c:v>-0.00833333333333</c:v>
                </c:pt>
              </c:numCache>
            </c:numRef>
          </c:val>
        </c:ser>
        <c:ser>
          <c:idx val="1"/>
          <c:order val="1"/>
          <c:tx>
            <c:v>NDCG@10</c:v>
          </c:tx>
          <c:spPr>
            <a:solidFill xmlns:a="http://schemas.openxmlformats.org/drawingml/2006/main">
              <a:srgbClr val="C97725"/>
            </a:solidFill>
          </c:spPr>
          <c:invertIfNegative val="0"/>
          <c:cat>
            <c:strRef>
              <c:f>'Chart Data'!$C$2:$C$5</c:f>
              <c:strCache>
                <c:ptCount val="4"/>
                <c:pt idx="0">
                  <c:v>Full vs DeepCF</c:v>
                </c:pt>
                <c:pt idx="1">
                  <c:v>Add global path</c:v>
                </c:pt>
                <c:pt idx="2">
                  <c:v>Add local path</c:v>
                </c:pt>
                <c:pt idx="3">
                  <c:v>Local vs global</c:v>
                </c:pt>
              </c:strCache>
            </c:strRef>
          </c:cat>
          <c:val>
            <c:numRef>
              <c:f>'Chart Data'!$D$2:$D$5</c:f>
              <c:numCache>
                <c:formatCode>General</c:formatCode>
                <c:ptCount val="4"/>
                <c:pt idx="0">
                  <c:v>0.020204638532</c:v>
                </c:pt>
                <c:pt idx="1">
                  <c:v>0.00210564305857</c:v>
                </c:pt>
                <c:pt idx="2">
                  <c:v>0.0180989954734</c:v>
                </c:pt>
                <c:pt idx="3">
                  <c:v>-0.000974935666655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825">
                  <a:solidFill>
                    <a:srgbClr val="15232D"/>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5DEE3"/>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F6D76"/>
                    </a:solidFill>
                    <a:latin typeface="Arial"/>
                    <a:ea typeface="Arial"/>
                    <a:cs typeface="Arial"/>
                  </a:rPr>
                  <a:t>Metric-point difference</a:t>
                </a:r>
              </a:p>
            </c:rich>
          </c:tx>
          <c:overlay val="0"/>
          <c:txPr>
            <a:bodyPr xmlns:a="http://schemas.openxmlformats.org/drawingml/2006/main" anchorCtr="1"/>
            <a:lstStyle xmlns:a="http://schemas.openxmlformats.org/drawingml/2006/main"/>
            <a:p xmlns:a="http://schemas.openxmlformats.org/drawingml/2006/main">
              <a:pPr>
                <a:defRPr sz="1125">
                  <a:solidFill>
                    <a:srgbClr val="5F6D76"/>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D7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293A4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93A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5232D"/>
                </a:solidFill>
                <a:latin typeface="Arial"/>
                <a:ea typeface="Arial"/>
                <a:cs typeface="Arial"/>
              </a:rPr>
              <a:t>Mean wall time</a:t>
            </a:r>
          </a:p>
        </c:rich>
      </c:tx>
      <c:overlay val="0"/>
      <c:txPr>
        <a:bodyPr xmlns:a="http://schemas.openxmlformats.org/drawingml/2006/main" anchorCtr="1"/>
        <a:lstStyle xmlns:a="http://schemas.openxmlformats.org/drawingml/2006/main"/>
        <a:p xmlns:a="http://schemas.openxmlformats.org/drawingml/2006/main">
          <a:pPr>
            <a:defRPr sz="1350" b="1">
              <a:solidFill>
                <a:srgbClr val="15232D"/>
              </a:solidFill>
              <a:latin typeface="Arial"/>
              <a:ea typeface="Arial"/>
              <a:cs typeface="Arial"/>
            </a:defRPr>
          </a:pPr>
        </a:p>
      </c:txPr>
    </c:title>
    <c:plotArea>
      <c:barChart>
        <c:barDir val="bar"/>
        <c:grouping val="clustered"/>
        <c:varyColors val="0"/>
        <c:ser>
          <c:idx val="0"/>
          <c:order val="0"/>
          <c:tx>
            <c:v>Minutes per run</c:v>
          </c:tx>
          <c:spPr>
            <a:solidFill xmlns:a="http://schemas.openxmlformats.org/drawingml/2006/main">
              <a:srgbClr val="19689A"/>
            </a:solidFill>
          </c:spPr>
          <c:invertIfNegative val="0"/>
          <c:cat>
            <c:strRef>
              <c:f>'Chart Data'!$A$2:$A$6</c:f>
              <c:strCache>
                <c:ptCount val="5"/>
                <c:pt idx="0">
                  <c:v>DeepCF</c:v>
                </c:pt>
                <c:pt idx="1">
                  <c:v>Local CNN</c:v>
                </c:pt>
                <c:pt idx="2">
                  <c:v>Global</c:v>
                </c:pt>
                <c:pt idx="3">
                  <c:v>Local + implicit</c:v>
                </c:pt>
                <c:pt idx="4">
                  <c:v>CoupledCF</c:v>
                </c:pt>
              </c:strCache>
            </c:strRef>
          </c:cat>
          <c:val>
            <c:numRef>
              <c:f>'Chart Data'!$B$2:$B$6</c:f>
              <c:numCache>
                <c:formatCode>General</c:formatCode>
                <c:ptCount val="5"/>
                <c:pt idx="0">
                  <c:v>2.69929471556</c:v>
                </c:pt>
                <c:pt idx="1">
                  <c:v>9.05244823556</c:v>
                </c:pt>
                <c:pt idx="2">
                  <c:v>4.19310927778</c:v>
                </c:pt>
                <c:pt idx="3">
                  <c:v>12.8180658072</c:v>
                </c:pt>
                <c:pt idx="4">
                  <c:v>12.5575288861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15232D"/>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5DEE3"/>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F6D76"/>
                    </a:solidFill>
                    <a:latin typeface="Arial"/>
                    <a:ea typeface="Arial"/>
                    <a:cs typeface="Arial"/>
                  </a:rPr>
                  <a:t>Minutes</a:t>
                </a:r>
              </a:p>
            </c:rich>
          </c:tx>
          <c:overlay val="0"/>
          <c:txPr>
            <a:bodyPr xmlns:a="http://schemas.openxmlformats.org/drawingml/2006/main" anchorCtr="1"/>
            <a:lstStyle xmlns:a="http://schemas.openxmlformats.org/drawingml/2006/main"/>
            <a:p xmlns:a="http://schemas.openxmlformats.org/drawingml/2006/main">
              <a:pPr>
                <a:defRPr sz="1125">
                  <a:solidFill>
                    <a:srgbClr val="5F6D76"/>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D7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293A4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ivider">
            <a:extLst xmlns:a="http://schemas.openxmlformats.org/drawingml/2006/main">
              <a:ext uri="{FF2B5EF4-FFF2-40B4-BE49-F238E27FC236}">
                <a16:creationId xmlns:a16="http://schemas.microsoft.com/office/drawing/2014/main" id="{6315501D-DDA5-4785-BB32-D32E47072D73}"/>
              </a:ext>
            </a:extLst>
          </p:cNvPr>
          <p:cNvSpPr>
            <a:spLocks xmlns:a="http://schemas.openxmlformats.org/drawingml/2006/main" noGrp="1"/>
          </p:cNvSpPr>
          <p:nvPr/>
        </p:nvSpPr>
        <p:spPr>
          <a:xfrm xmlns:a="http://schemas.openxmlformats.org/drawingml/2006/main">
            <a:off x="609600" y="762000"/>
            <a:ext cx="647700" cy="57150"/>
          </a:xfrm>
          <a:prstGeom xmlns:a="http://schemas.openxmlformats.org/drawingml/2006/main" prst="rect">
            <a:avLst/>
          </a:prstGeom>
          <a:solidFill xmlns:a="http://schemas.openxmlformats.org/drawingml/2006/main">
            <a:srgbClr val="147C74"/>
          </a:solidFill>
          <a:ln xmlns:a="http://schemas.openxmlformats.org/drawingml/2006/main" w="0">
            <a:solidFill>
              <a:srgbClr val="147C74"/>
            </a:solidFill>
            <a:prstDash val="solid"/>
          </a:ln>
        </p:spPr>
      </p:sp>
      <p:sp>
        <p:nvSpPr>
          <p:cNvPr id="2" name="cover-kicker">
            <a:extLst xmlns:a="http://schemas.openxmlformats.org/drawingml/2006/main">
              <a:ext uri="{FF2B5EF4-FFF2-40B4-BE49-F238E27FC236}">
                <a16:creationId xmlns:a16="http://schemas.microsoft.com/office/drawing/2014/main" id="{E1477775-8042-421C-BDAD-F24962478780}"/>
              </a:ext>
            </a:extLst>
          </p:cNvPr>
          <p:cNvSpPr>
            <a:spLocks xmlns:a="http://schemas.openxmlformats.org/drawingml/2006/main" noGrp="1"/>
          </p:cNvSpPr>
          <p:nvPr/>
        </p:nvSpPr>
        <p:spPr>
          <a:xfrm xmlns:a="http://schemas.openxmlformats.org/drawingml/2006/main">
            <a:off x="609600" y="10668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9689A"/>
                </a:solidFill>
                <a:latin typeface="Arial"/>
                <a:ea typeface="Arial"/>
                <a:cs typeface="Arial"/>
              </a:defRPr>
            </a:defPPr>
            <a:lvl1pPr algn="l">
              <a:defRPr sz="1500" b="1">
                <a:solidFill>
                  <a:srgbClr val="19689A"/>
                </a:solidFill>
                <a:latin typeface="Arial"/>
                <a:ea typeface="Arial"/>
                <a:cs typeface="Arial"/>
              </a:defRPr>
            </a:lvl1pPr>
            <a:lvl2pPr algn="l">
              <a:defRPr sz="1500" b="1">
                <a:solidFill>
                  <a:srgbClr val="19689A"/>
                </a:solidFill>
                <a:latin typeface="Arial"/>
                <a:ea typeface="Arial"/>
                <a:cs typeface="Arial"/>
              </a:defRPr>
            </a:lvl2pPr>
            <a:lvl3pPr algn="l">
              <a:defRPr sz="1500" b="1">
                <a:solidFill>
                  <a:srgbClr val="19689A"/>
                </a:solidFill>
                <a:latin typeface="Arial"/>
                <a:ea typeface="Arial"/>
                <a:cs typeface="Arial"/>
              </a:defRPr>
            </a:lvl3pPr>
            <a:lvl4pPr algn="l">
              <a:defRPr sz="1500" b="1">
                <a:solidFill>
                  <a:srgbClr val="19689A"/>
                </a:solidFill>
                <a:latin typeface="Arial"/>
                <a:ea typeface="Arial"/>
                <a:cs typeface="Arial"/>
              </a:defRPr>
            </a:lvl4pPr>
            <a:lvl5pPr algn="l">
              <a:defRPr sz="1500" b="1">
                <a:solidFill>
                  <a:srgbClr val="19689A"/>
                </a:solidFill>
                <a:latin typeface="Arial"/>
                <a:ea typeface="Arial"/>
                <a:cs typeface="Arial"/>
              </a:defRPr>
            </a:lvl5pPr>
            <a:lvl6pPr algn="l">
              <a:defRPr sz="1500" b="1">
                <a:solidFill>
                  <a:srgbClr val="19689A"/>
                </a:solidFill>
                <a:latin typeface="Arial"/>
                <a:ea typeface="Arial"/>
                <a:cs typeface="Arial"/>
              </a:defRPr>
            </a:lvl6pPr>
            <a:lvl7pPr algn="l">
              <a:defRPr sz="1500" b="1">
                <a:solidFill>
                  <a:srgbClr val="19689A"/>
                </a:solidFill>
                <a:latin typeface="Arial"/>
                <a:ea typeface="Arial"/>
                <a:cs typeface="Arial"/>
              </a:defRPr>
            </a:lvl7pPr>
            <a:lvl8pPr algn="l">
              <a:defRPr sz="1500" b="1">
                <a:solidFill>
                  <a:srgbClr val="19689A"/>
                </a:solidFill>
                <a:latin typeface="Arial"/>
                <a:ea typeface="Arial"/>
                <a:cs typeface="Arial"/>
              </a:defRPr>
            </a:lvl8pPr>
            <a:lvl9pPr algn="l">
              <a:defRPr sz="1500" b="1">
                <a:solidFill>
                  <a:srgbClr val="19689A"/>
                </a:solidFill>
                <a:latin typeface="Arial"/>
                <a:ea typeface="Arial"/>
                <a:cs typeface="Arial"/>
              </a:defRPr>
            </a:lvl9pPr>
          </a:lstStyle>
          <a:p xmlns:a="http://schemas.openxmlformats.org/drawingml/2006/main">
            <a:pPr algn="l">
              <a:defRPr sz="1500" b="1">
                <a:solidFill>
                  <a:srgbClr val="19689A"/>
                </a:solidFill>
                <a:latin typeface="Arial"/>
                <a:ea typeface="Arial"/>
                <a:cs typeface="Arial"/>
              </a:defRPr>
            </a:pPr>
            <a:r>
              <a:rPr sz="1500" b="1">
                <a:solidFill>
                  <a:srgbClr val="19689A"/>
                </a:solidFill>
                <a:latin typeface="Arial"/>
                <a:ea typeface="Arial"/>
                <a:cs typeface="Arial"/>
              </a:rPr>
              <a:t>RECOMMENDATION SYSTEMS MINI PROJECT</a:t>
            </a:r>
          </a:p>
        </p:txBody>
      </p:sp>
      <p:sp>
        <p:nvSpPr>
          <p:cNvPr id="3" name="cover-title">
            <a:extLst xmlns:a="http://schemas.openxmlformats.org/drawingml/2006/main">
              <a:ext uri="{FF2B5EF4-FFF2-40B4-BE49-F238E27FC236}">
                <a16:creationId xmlns:a16="http://schemas.microsoft.com/office/drawing/2014/main" id="{FACCD0F5-A5D8-4222-9193-7572E8D77D42}"/>
              </a:ext>
            </a:extLst>
          </p:cNvPr>
          <p:cNvSpPr>
            <a:spLocks xmlns:a="http://schemas.openxmlformats.org/drawingml/2006/main" noGrp="1"/>
          </p:cNvSpPr>
          <p:nvPr/>
        </p:nvSpPr>
        <p:spPr>
          <a:xfrm xmlns:a="http://schemas.openxmlformats.org/drawingml/2006/main">
            <a:off x="609600" y="1809750"/>
            <a:ext cx="1066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5232D"/>
                </a:solidFill>
                <a:latin typeface="Arial"/>
                <a:ea typeface="Arial"/>
                <a:cs typeface="Arial"/>
              </a:defRPr>
            </a:defPPr>
            <a:lvl1pPr algn="l">
              <a:defRPr sz="4650" b="1">
                <a:solidFill>
                  <a:srgbClr val="15232D"/>
                </a:solidFill>
                <a:latin typeface="Arial"/>
                <a:ea typeface="Arial"/>
                <a:cs typeface="Arial"/>
              </a:defRPr>
            </a:lvl1pPr>
            <a:lvl2pPr algn="l">
              <a:defRPr sz="4650" b="1">
                <a:solidFill>
                  <a:srgbClr val="15232D"/>
                </a:solidFill>
                <a:latin typeface="Arial"/>
                <a:ea typeface="Arial"/>
                <a:cs typeface="Arial"/>
              </a:defRPr>
            </a:lvl2pPr>
            <a:lvl3pPr algn="l">
              <a:defRPr sz="4650" b="1">
                <a:solidFill>
                  <a:srgbClr val="15232D"/>
                </a:solidFill>
                <a:latin typeface="Arial"/>
                <a:ea typeface="Arial"/>
                <a:cs typeface="Arial"/>
              </a:defRPr>
            </a:lvl3pPr>
            <a:lvl4pPr algn="l">
              <a:defRPr sz="4650" b="1">
                <a:solidFill>
                  <a:srgbClr val="15232D"/>
                </a:solidFill>
                <a:latin typeface="Arial"/>
                <a:ea typeface="Arial"/>
                <a:cs typeface="Arial"/>
              </a:defRPr>
            </a:lvl4pPr>
            <a:lvl5pPr algn="l">
              <a:defRPr sz="4650" b="1">
                <a:solidFill>
                  <a:srgbClr val="15232D"/>
                </a:solidFill>
                <a:latin typeface="Arial"/>
                <a:ea typeface="Arial"/>
                <a:cs typeface="Arial"/>
              </a:defRPr>
            </a:lvl5pPr>
            <a:lvl6pPr algn="l">
              <a:defRPr sz="4650" b="1">
                <a:solidFill>
                  <a:srgbClr val="15232D"/>
                </a:solidFill>
                <a:latin typeface="Arial"/>
                <a:ea typeface="Arial"/>
                <a:cs typeface="Arial"/>
              </a:defRPr>
            </a:lvl6pPr>
            <a:lvl7pPr algn="l">
              <a:defRPr sz="4650" b="1">
                <a:solidFill>
                  <a:srgbClr val="15232D"/>
                </a:solidFill>
                <a:latin typeface="Arial"/>
                <a:ea typeface="Arial"/>
                <a:cs typeface="Arial"/>
              </a:defRPr>
            </a:lvl7pPr>
            <a:lvl8pPr algn="l">
              <a:defRPr sz="4650" b="1">
                <a:solidFill>
                  <a:srgbClr val="15232D"/>
                </a:solidFill>
                <a:latin typeface="Arial"/>
                <a:ea typeface="Arial"/>
                <a:cs typeface="Arial"/>
              </a:defRPr>
            </a:lvl8pPr>
            <a:lvl9pPr algn="l">
              <a:defRPr sz="4650" b="1">
                <a:solidFill>
                  <a:srgbClr val="15232D"/>
                </a:solidFill>
                <a:latin typeface="Arial"/>
                <a:ea typeface="Arial"/>
                <a:cs typeface="Arial"/>
              </a:defRPr>
            </a:lvl9pPr>
          </a:lstStyle>
          <a:p xmlns:a="http://schemas.openxmlformats.org/drawingml/2006/main">
            <a:pPr algn="l">
              <a:defRPr sz="4650" b="1">
                <a:solidFill>
                  <a:srgbClr val="15232D"/>
                </a:solidFill>
                <a:latin typeface="Arial"/>
                <a:ea typeface="Arial"/>
                <a:cs typeface="Arial"/>
              </a:defRPr>
            </a:pPr>
            <a:r>
              <a:rPr sz="4650" b="1">
                <a:solidFill>
                  <a:srgbClr val="15232D"/>
                </a:solidFill>
                <a:latin typeface="Arial"/>
                <a:ea typeface="Arial"/>
                <a:cs typeface="Arial"/>
              </a:rPr>
              <a:t>CoupledCF on MovieLens 1M</a:t>
            </a:r>
          </a:p>
        </p:txBody>
      </p:sp>
      <p:sp>
        <p:nvSpPr>
          <p:cNvPr id="4" name="cover-subtitle">
            <a:extLst xmlns:a="http://schemas.openxmlformats.org/drawingml/2006/main">
              <a:ext uri="{FF2B5EF4-FFF2-40B4-BE49-F238E27FC236}">
                <a16:creationId xmlns:a16="http://schemas.microsoft.com/office/drawing/2014/main" id="{E1E90544-7A68-416A-8CAF-1E0307056F00}"/>
              </a:ext>
            </a:extLst>
          </p:cNvPr>
          <p:cNvSpPr>
            <a:spLocks xmlns:a="http://schemas.openxmlformats.org/drawingml/2006/main" noGrp="1"/>
          </p:cNvSpPr>
          <p:nvPr/>
        </p:nvSpPr>
        <p:spPr>
          <a:xfrm xmlns:a="http://schemas.openxmlformats.org/drawingml/2006/main">
            <a:off x="609600" y="29908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a:solidFill>
                  <a:srgbClr val="147C74"/>
                </a:solidFill>
                <a:latin typeface="Arial"/>
                <a:ea typeface="Arial"/>
                <a:cs typeface="Arial"/>
              </a:defRPr>
            </a:defPPr>
            <a:lvl1pPr algn="l">
              <a:defRPr sz="2325">
                <a:solidFill>
                  <a:srgbClr val="147C74"/>
                </a:solidFill>
                <a:latin typeface="Arial"/>
                <a:ea typeface="Arial"/>
                <a:cs typeface="Arial"/>
              </a:defRPr>
            </a:lvl1pPr>
            <a:lvl2pPr algn="l">
              <a:defRPr sz="2325">
                <a:solidFill>
                  <a:srgbClr val="147C74"/>
                </a:solidFill>
                <a:latin typeface="Arial"/>
                <a:ea typeface="Arial"/>
                <a:cs typeface="Arial"/>
              </a:defRPr>
            </a:lvl2pPr>
            <a:lvl3pPr algn="l">
              <a:defRPr sz="2325">
                <a:solidFill>
                  <a:srgbClr val="147C74"/>
                </a:solidFill>
                <a:latin typeface="Arial"/>
                <a:ea typeface="Arial"/>
                <a:cs typeface="Arial"/>
              </a:defRPr>
            </a:lvl3pPr>
            <a:lvl4pPr algn="l">
              <a:defRPr sz="2325">
                <a:solidFill>
                  <a:srgbClr val="147C74"/>
                </a:solidFill>
                <a:latin typeface="Arial"/>
                <a:ea typeface="Arial"/>
                <a:cs typeface="Arial"/>
              </a:defRPr>
            </a:lvl4pPr>
            <a:lvl5pPr algn="l">
              <a:defRPr sz="2325">
                <a:solidFill>
                  <a:srgbClr val="147C74"/>
                </a:solidFill>
                <a:latin typeface="Arial"/>
                <a:ea typeface="Arial"/>
                <a:cs typeface="Arial"/>
              </a:defRPr>
            </a:lvl5pPr>
            <a:lvl6pPr algn="l">
              <a:defRPr sz="2325">
                <a:solidFill>
                  <a:srgbClr val="147C74"/>
                </a:solidFill>
                <a:latin typeface="Arial"/>
                <a:ea typeface="Arial"/>
                <a:cs typeface="Arial"/>
              </a:defRPr>
            </a:lvl6pPr>
            <a:lvl7pPr algn="l">
              <a:defRPr sz="2325">
                <a:solidFill>
                  <a:srgbClr val="147C74"/>
                </a:solidFill>
                <a:latin typeface="Arial"/>
                <a:ea typeface="Arial"/>
                <a:cs typeface="Arial"/>
              </a:defRPr>
            </a:lvl7pPr>
            <a:lvl8pPr algn="l">
              <a:defRPr sz="2325">
                <a:solidFill>
                  <a:srgbClr val="147C74"/>
                </a:solidFill>
                <a:latin typeface="Arial"/>
                <a:ea typeface="Arial"/>
                <a:cs typeface="Arial"/>
              </a:defRPr>
            </a:lvl8pPr>
            <a:lvl9pPr algn="l">
              <a:defRPr sz="2325">
                <a:solidFill>
                  <a:srgbClr val="147C74"/>
                </a:solidFill>
                <a:latin typeface="Arial"/>
                <a:ea typeface="Arial"/>
                <a:cs typeface="Arial"/>
              </a:defRPr>
            </a:lvl9pPr>
          </a:lstStyle>
          <a:p xmlns:a="http://schemas.openxmlformats.org/drawingml/2006/main">
            <a:pPr algn="l">
              <a:defRPr sz="2325">
                <a:solidFill>
                  <a:srgbClr val="147C74"/>
                </a:solidFill>
                <a:latin typeface="Arial"/>
                <a:ea typeface="Arial"/>
                <a:cs typeface="Arial"/>
              </a:defRPr>
            </a:pPr>
            <a:r>
              <a:rPr sz="2325">
                <a:solidFill>
                  <a:srgbClr val="147C74"/>
                </a:solidFill>
                <a:latin typeface="Arial"/>
                <a:ea typeface="Arial"/>
                <a:cs typeface="Arial"/>
              </a:rPr>
              <a:t>Attribute-based explicit coupling for Top-N recommendation</a:t>
            </a:r>
          </a:p>
        </p:txBody>
      </p:sp>
      <p:sp>
        <p:nvSpPr>
          <p:cNvPr id="5" name="divider">
            <a:extLst xmlns:a="http://schemas.openxmlformats.org/drawingml/2006/main">
              <a:ext uri="{FF2B5EF4-FFF2-40B4-BE49-F238E27FC236}">
                <a16:creationId xmlns:a16="http://schemas.microsoft.com/office/drawing/2014/main" id="{DA75F2D5-870A-4B5E-818C-8EE00013A937}"/>
              </a:ext>
            </a:extLst>
          </p:cNvPr>
          <p:cNvSpPr>
            <a:spLocks xmlns:a="http://schemas.openxmlformats.org/drawingml/2006/main" noGrp="1"/>
          </p:cNvSpPr>
          <p:nvPr/>
        </p:nvSpPr>
        <p:spPr>
          <a:xfrm xmlns:a="http://schemas.openxmlformats.org/drawingml/2006/main">
            <a:off x="609600" y="3924300"/>
            <a:ext cx="10972800" cy="19050"/>
          </a:xfrm>
          <a:prstGeom xmlns:a="http://schemas.openxmlformats.org/drawingml/2006/main" prst="rect">
            <a:avLst/>
          </a:prstGeom>
          <a:solidFill xmlns:a="http://schemas.openxmlformats.org/drawingml/2006/main">
            <a:srgbClr val="D5DEE3"/>
          </a:solidFill>
          <a:ln xmlns:a="http://schemas.openxmlformats.org/drawingml/2006/main" w="0">
            <a:solidFill>
              <a:srgbClr val="D5DEE3"/>
            </a:solidFill>
            <a:prstDash val="solid"/>
          </a:ln>
        </p:spPr>
      </p:sp>
      <p:sp>
        <p:nvSpPr>
          <p:cNvPr id="6" name="cover-paper">
            <a:extLst xmlns:a="http://schemas.openxmlformats.org/drawingml/2006/main">
              <a:ext uri="{FF2B5EF4-FFF2-40B4-BE49-F238E27FC236}">
                <a16:creationId xmlns:a16="http://schemas.microsoft.com/office/drawing/2014/main" id="{399C4C9F-59B6-49D6-90AD-4AF029756A7D}"/>
              </a:ext>
            </a:extLst>
          </p:cNvPr>
          <p:cNvSpPr>
            <a:spLocks xmlns:a="http://schemas.openxmlformats.org/drawingml/2006/main" noGrp="1"/>
          </p:cNvSpPr>
          <p:nvPr/>
        </p:nvSpPr>
        <p:spPr>
          <a:xfrm xmlns:a="http://schemas.openxmlformats.org/drawingml/2006/main">
            <a:off x="609600" y="42291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293A45"/>
                </a:solidFill>
                <a:latin typeface="Arial"/>
                <a:ea typeface="Arial"/>
                <a:cs typeface="Arial"/>
              </a:defRPr>
            </a:defPPr>
            <a:lvl1pPr algn="l">
              <a:defRPr sz="1875">
                <a:solidFill>
                  <a:srgbClr val="293A45"/>
                </a:solidFill>
                <a:latin typeface="Arial"/>
                <a:ea typeface="Arial"/>
                <a:cs typeface="Arial"/>
              </a:defRPr>
            </a:lvl1pPr>
            <a:lvl2pPr algn="l">
              <a:defRPr sz="1875">
                <a:solidFill>
                  <a:srgbClr val="293A45"/>
                </a:solidFill>
                <a:latin typeface="Arial"/>
                <a:ea typeface="Arial"/>
                <a:cs typeface="Arial"/>
              </a:defRPr>
            </a:lvl2pPr>
            <a:lvl3pPr algn="l">
              <a:defRPr sz="1875">
                <a:solidFill>
                  <a:srgbClr val="293A45"/>
                </a:solidFill>
                <a:latin typeface="Arial"/>
                <a:ea typeface="Arial"/>
                <a:cs typeface="Arial"/>
              </a:defRPr>
            </a:lvl3pPr>
            <a:lvl4pPr algn="l">
              <a:defRPr sz="1875">
                <a:solidFill>
                  <a:srgbClr val="293A45"/>
                </a:solidFill>
                <a:latin typeface="Arial"/>
                <a:ea typeface="Arial"/>
                <a:cs typeface="Arial"/>
              </a:defRPr>
            </a:lvl4pPr>
            <a:lvl5pPr algn="l">
              <a:defRPr sz="1875">
                <a:solidFill>
                  <a:srgbClr val="293A45"/>
                </a:solidFill>
                <a:latin typeface="Arial"/>
                <a:ea typeface="Arial"/>
                <a:cs typeface="Arial"/>
              </a:defRPr>
            </a:lvl5pPr>
            <a:lvl6pPr algn="l">
              <a:defRPr sz="1875">
                <a:solidFill>
                  <a:srgbClr val="293A45"/>
                </a:solidFill>
                <a:latin typeface="Arial"/>
                <a:ea typeface="Arial"/>
                <a:cs typeface="Arial"/>
              </a:defRPr>
            </a:lvl6pPr>
            <a:lvl7pPr algn="l">
              <a:defRPr sz="1875">
                <a:solidFill>
                  <a:srgbClr val="293A45"/>
                </a:solidFill>
                <a:latin typeface="Arial"/>
                <a:ea typeface="Arial"/>
                <a:cs typeface="Arial"/>
              </a:defRPr>
            </a:lvl7pPr>
            <a:lvl8pPr algn="l">
              <a:defRPr sz="1875">
                <a:solidFill>
                  <a:srgbClr val="293A45"/>
                </a:solidFill>
                <a:latin typeface="Arial"/>
                <a:ea typeface="Arial"/>
                <a:cs typeface="Arial"/>
              </a:defRPr>
            </a:lvl8pPr>
            <a:lvl9pPr algn="l">
              <a:defRPr sz="1875">
                <a:solidFill>
                  <a:srgbClr val="293A45"/>
                </a:solidFill>
                <a:latin typeface="Arial"/>
                <a:ea typeface="Arial"/>
                <a:cs typeface="Arial"/>
              </a:defRPr>
            </a:lvl9pPr>
          </a:lstStyle>
          <a:p xmlns:a="http://schemas.openxmlformats.org/drawingml/2006/main">
            <a:pPr algn="l">
              <a:defRPr sz="1875">
                <a:solidFill>
                  <a:srgbClr val="293A45"/>
                </a:solidFill>
                <a:latin typeface="Arial"/>
                <a:ea typeface="Arial"/>
                <a:cs typeface="Arial"/>
              </a:defRPr>
            </a:pPr>
            <a:r>
              <a:rPr sz="1875">
                <a:solidFill>
                  <a:srgbClr val="293A45"/>
                </a:solidFill>
                <a:latin typeface="Arial"/>
                <a:ea typeface="Arial"/>
                <a:cs typeface="Arial"/>
              </a:rPr>
              <a:t>Partial reproduction of Zhang et al. (2019)</a:t>
            </a:r>
          </a:p>
        </p:txBody>
      </p:sp>
      <p:sp>
        <p:nvSpPr>
          <p:cNvPr id="7" name="cover-details">
            <a:extLst xmlns:a="http://schemas.openxmlformats.org/drawingml/2006/main">
              <a:ext uri="{FF2B5EF4-FFF2-40B4-BE49-F238E27FC236}">
                <a16:creationId xmlns:a16="http://schemas.microsoft.com/office/drawing/2014/main" id="{5E32638B-DD88-469A-8F93-02FDF1C7D158}"/>
              </a:ext>
            </a:extLst>
          </p:cNvPr>
          <p:cNvSpPr>
            <a:spLocks xmlns:a="http://schemas.openxmlformats.org/drawingml/2006/main" noGrp="1"/>
          </p:cNvSpPr>
          <p:nvPr/>
        </p:nvSpPr>
        <p:spPr>
          <a:xfrm xmlns:a="http://schemas.openxmlformats.org/drawingml/2006/main">
            <a:off x="609600" y="48958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a:solidFill>
                  <a:srgbClr val="5F6D76"/>
                </a:solidFill>
                <a:latin typeface="Arial"/>
                <a:ea typeface="Arial"/>
                <a:cs typeface="Arial"/>
              </a:defRPr>
            </a:defPPr>
            <a:lvl1pPr algn="l">
              <a:defRPr sz="1575">
                <a:solidFill>
                  <a:srgbClr val="5F6D76"/>
                </a:solidFill>
                <a:latin typeface="Arial"/>
                <a:ea typeface="Arial"/>
                <a:cs typeface="Arial"/>
              </a:defRPr>
            </a:lvl1pPr>
            <a:lvl2pPr algn="l">
              <a:defRPr sz="1575">
                <a:solidFill>
                  <a:srgbClr val="5F6D76"/>
                </a:solidFill>
                <a:latin typeface="Arial"/>
                <a:ea typeface="Arial"/>
                <a:cs typeface="Arial"/>
              </a:defRPr>
            </a:lvl2pPr>
            <a:lvl3pPr algn="l">
              <a:defRPr sz="1575">
                <a:solidFill>
                  <a:srgbClr val="5F6D76"/>
                </a:solidFill>
                <a:latin typeface="Arial"/>
                <a:ea typeface="Arial"/>
                <a:cs typeface="Arial"/>
              </a:defRPr>
            </a:lvl3pPr>
            <a:lvl4pPr algn="l">
              <a:defRPr sz="1575">
                <a:solidFill>
                  <a:srgbClr val="5F6D76"/>
                </a:solidFill>
                <a:latin typeface="Arial"/>
                <a:ea typeface="Arial"/>
                <a:cs typeface="Arial"/>
              </a:defRPr>
            </a:lvl4pPr>
            <a:lvl5pPr algn="l">
              <a:defRPr sz="1575">
                <a:solidFill>
                  <a:srgbClr val="5F6D76"/>
                </a:solidFill>
                <a:latin typeface="Arial"/>
                <a:ea typeface="Arial"/>
                <a:cs typeface="Arial"/>
              </a:defRPr>
            </a:lvl5pPr>
            <a:lvl6pPr algn="l">
              <a:defRPr sz="1575">
                <a:solidFill>
                  <a:srgbClr val="5F6D76"/>
                </a:solidFill>
                <a:latin typeface="Arial"/>
                <a:ea typeface="Arial"/>
                <a:cs typeface="Arial"/>
              </a:defRPr>
            </a:lvl6pPr>
            <a:lvl7pPr algn="l">
              <a:defRPr sz="1575">
                <a:solidFill>
                  <a:srgbClr val="5F6D76"/>
                </a:solidFill>
                <a:latin typeface="Arial"/>
                <a:ea typeface="Arial"/>
                <a:cs typeface="Arial"/>
              </a:defRPr>
            </a:lvl7pPr>
            <a:lvl8pPr algn="l">
              <a:defRPr sz="1575">
                <a:solidFill>
                  <a:srgbClr val="5F6D76"/>
                </a:solidFill>
                <a:latin typeface="Arial"/>
                <a:ea typeface="Arial"/>
                <a:cs typeface="Arial"/>
              </a:defRPr>
            </a:lvl8pPr>
            <a:lvl9pPr algn="l">
              <a:defRPr sz="1575">
                <a:solidFill>
                  <a:srgbClr val="5F6D76"/>
                </a:solidFill>
                <a:latin typeface="Arial"/>
                <a:ea typeface="Arial"/>
                <a:cs typeface="Arial"/>
              </a:defRPr>
            </a:lvl9pPr>
          </a:lstStyle>
          <a:p xmlns:a="http://schemas.openxmlformats.org/drawingml/2006/main">
            <a:pPr algn="l">
              <a:defRPr sz="1575">
                <a:solidFill>
                  <a:srgbClr val="5F6D76"/>
                </a:solidFill>
                <a:latin typeface="Arial"/>
                <a:ea typeface="Arial"/>
                <a:cs typeface="Arial"/>
              </a:defRPr>
            </a:pPr>
            <a:r>
              <a:rPr sz="1575">
                <a:solidFill>
                  <a:srgbClr val="5F6D76"/>
                </a:solidFill>
                <a:latin typeface="Arial"/>
                <a:ea typeface="Arial"/>
                <a:cs typeface="Arial"/>
              </a:rPr>
              <a:t>Recommendation Systems  |  [Group number]  |  [Institution]</a:t>
            </a:r>
          </a:p>
        </p:txBody>
      </p:sp>
    </p:spTree>
    <p:extLst>
      <p:ext uri="{BB962C8B-B14F-4D97-AF65-F5344CB8AC3E}">
        <p14:creationId xmlns:p14="http://schemas.microsoft.com/office/powerpoint/2010/main" val="2169397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B596ACE-4A15-4342-B5F1-AD29C366B512}"/>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The recommendation problem</a:t>
            </a:r>
          </a:p>
        </p:txBody>
      </p:sp>
      <p:sp>
        <p:nvSpPr>
          <p:cNvPr id="2" name="divider">
            <a:extLst xmlns:a="http://schemas.openxmlformats.org/drawingml/2006/main">
              <a:ext uri="{FF2B5EF4-FFF2-40B4-BE49-F238E27FC236}">
                <a16:creationId xmlns:a16="http://schemas.microsoft.com/office/drawing/2014/main" id="{F0D9D02E-0342-452B-B7DA-189AAE573BBD}"/>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4AB6A291-56ED-45C7-A6E9-871EE95788F3}"/>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A personalized Top-N ranking task with sparse user histories</a:t>
            </a:r>
          </a:p>
        </p:txBody>
      </p:sp>
      <p:sp>
        <p:nvSpPr>
          <p:cNvPr id="4" name="divider">
            <a:extLst xmlns:a="http://schemas.openxmlformats.org/drawingml/2006/main">
              <a:ext uri="{FF2B5EF4-FFF2-40B4-BE49-F238E27FC236}">
                <a16:creationId xmlns:a16="http://schemas.microsoft.com/office/drawing/2014/main" id="{95AC113A-68A0-4D70-8F06-CC931DE71BA5}"/>
              </a:ext>
            </a:extLst>
          </p:cNvPr>
          <p:cNvSpPr>
            <a:spLocks xmlns:a="http://schemas.openxmlformats.org/drawingml/2006/main" noGrp="1"/>
          </p:cNvSpPr>
          <p:nvPr/>
        </p:nvSpPr>
        <p:spPr>
          <a:xfrm xmlns:a="http://schemas.openxmlformats.org/drawingml/2006/main">
            <a:off x="685800" y="1943100"/>
            <a:ext cx="419100" cy="38100"/>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5" name="column-title">
            <a:extLst xmlns:a="http://schemas.openxmlformats.org/drawingml/2006/main">
              <a:ext uri="{FF2B5EF4-FFF2-40B4-BE49-F238E27FC236}">
                <a16:creationId xmlns:a16="http://schemas.microsoft.com/office/drawing/2014/main" id="{0CC7E5F8-4DA2-4F13-B989-CD54BDF0EE82}"/>
              </a:ext>
            </a:extLst>
          </p:cNvPr>
          <p:cNvSpPr>
            <a:spLocks xmlns:a="http://schemas.openxmlformats.org/drawingml/2006/main" noGrp="1"/>
          </p:cNvSpPr>
          <p:nvPr/>
        </p:nvSpPr>
        <p:spPr>
          <a:xfrm xmlns:a="http://schemas.openxmlformats.org/drawingml/2006/main">
            <a:off x="685800" y="21145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User need</a:t>
            </a:r>
          </a:p>
        </p:txBody>
      </p:sp>
      <p:sp>
        <p:nvSpPr>
          <p:cNvPr id="6" name="column-copy">
            <a:extLst xmlns:a="http://schemas.openxmlformats.org/drawingml/2006/main">
              <a:ext uri="{FF2B5EF4-FFF2-40B4-BE49-F238E27FC236}">
                <a16:creationId xmlns:a16="http://schemas.microsoft.com/office/drawing/2014/main" id="{6A7616BD-58EF-4587-8FDC-60AF450278A1}"/>
              </a:ext>
            </a:extLst>
          </p:cNvPr>
          <p:cNvSpPr>
            <a:spLocks xmlns:a="http://schemas.openxmlformats.org/drawingml/2006/main" noGrp="1"/>
          </p:cNvSpPr>
          <p:nvPr/>
        </p:nvSpPr>
        <p:spPr>
          <a:xfrm xmlns:a="http://schemas.openxmlformats.org/drawingml/2006/main">
            <a:off x="685800" y="2628900"/>
            <a:ext cx="447675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293A45"/>
                </a:solidFill>
                <a:latin typeface="Arial"/>
                <a:ea typeface="Arial"/>
                <a:cs typeface="Arial"/>
              </a:defRPr>
            </a:defPPr>
            <a:lvl1pPr algn="l">
              <a:defRPr sz="1650">
                <a:solidFill>
                  <a:srgbClr val="293A45"/>
                </a:solidFill>
                <a:latin typeface="Arial"/>
                <a:ea typeface="Arial"/>
                <a:cs typeface="Arial"/>
              </a:defRPr>
            </a:lvl1pPr>
            <a:lvl2pPr algn="l">
              <a:defRPr sz="1650">
                <a:solidFill>
                  <a:srgbClr val="293A45"/>
                </a:solidFill>
                <a:latin typeface="Arial"/>
                <a:ea typeface="Arial"/>
                <a:cs typeface="Arial"/>
              </a:defRPr>
            </a:lvl2pPr>
            <a:lvl3pPr algn="l">
              <a:defRPr sz="1650">
                <a:solidFill>
                  <a:srgbClr val="293A45"/>
                </a:solidFill>
                <a:latin typeface="Arial"/>
                <a:ea typeface="Arial"/>
                <a:cs typeface="Arial"/>
              </a:defRPr>
            </a:lvl3pPr>
            <a:lvl4pPr algn="l">
              <a:defRPr sz="1650">
                <a:solidFill>
                  <a:srgbClr val="293A45"/>
                </a:solidFill>
                <a:latin typeface="Arial"/>
                <a:ea typeface="Arial"/>
                <a:cs typeface="Arial"/>
              </a:defRPr>
            </a:lvl4pPr>
            <a:lvl5pPr algn="l">
              <a:defRPr sz="1650">
                <a:solidFill>
                  <a:srgbClr val="293A45"/>
                </a:solidFill>
                <a:latin typeface="Arial"/>
                <a:ea typeface="Arial"/>
                <a:cs typeface="Arial"/>
              </a:defRPr>
            </a:lvl5pPr>
            <a:lvl6pPr algn="l">
              <a:defRPr sz="1650">
                <a:solidFill>
                  <a:srgbClr val="293A45"/>
                </a:solidFill>
                <a:latin typeface="Arial"/>
                <a:ea typeface="Arial"/>
                <a:cs typeface="Arial"/>
              </a:defRPr>
            </a:lvl6pPr>
            <a:lvl7pPr algn="l">
              <a:defRPr sz="1650">
                <a:solidFill>
                  <a:srgbClr val="293A45"/>
                </a:solidFill>
                <a:latin typeface="Arial"/>
                <a:ea typeface="Arial"/>
                <a:cs typeface="Arial"/>
              </a:defRPr>
            </a:lvl7pPr>
            <a:lvl8pPr algn="l">
              <a:defRPr sz="1650">
                <a:solidFill>
                  <a:srgbClr val="293A45"/>
                </a:solidFill>
                <a:latin typeface="Arial"/>
                <a:ea typeface="Arial"/>
                <a:cs typeface="Arial"/>
              </a:defRPr>
            </a:lvl8pPr>
            <a:lvl9pPr algn="l">
              <a:defRPr sz="1650">
                <a:solidFill>
                  <a:srgbClr val="293A45"/>
                </a:solidFill>
                <a:latin typeface="Arial"/>
                <a:ea typeface="Arial"/>
                <a:cs typeface="Arial"/>
              </a:defRPr>
            </a:lvl9pPr>
          </a:lstStyle>
          <a:p xmlns:a="http://schemas.openxmlformats.org/drawingml/2006/main">
            <a:pPr algn="l">
              <a:lnSpc>
                <a:spcPct val="104000"/>
              </a:lnSpc>
              <a:buNone/>
              <a:defRPr sz="1650">
                <a:solidFill>
                  <a:srgbClr val="293A45"/>
                </a:solidFill>
                <a:latin typeface="Arial"/>
                <a:ea typeface="Arial"/>
                <a:cs typeface="Arial"/>
              </a:defRPr>
            </a:pPr>
            <a:r>
              <a:rPr sz="1650">
                <a:solidFill>
                  <a:srgbClr val="293A45"/>
                </a:solidFill>
                <a:latin typeface="Arial"/>
                <a:ea typeface="Arial"/>
                <a:cs typeface="Arial"/>
              </a:rPr>
              <a:t>A catalogue can contain thousands of items, while each user interacts with only a small fraction. A useful system must rank unseen items from limited feedback.</a:t>
            </a:r>
          </a:p>
        </p:txBody>
      </p:sp>
      <p:sp>
        <p:nvSpPr>
          <p:cNvPr id="7" name="divider">
            <a:extLst xmlns:a="http://schemas.openxmlformats.org/drawingml/2006/main">
              <a:ext uri="{FF2B5EF4-FFF2-40B4-BE49-F238E27FC236}">
                <a16:creationId xmlns:a16="http://schemas.microsoft.com/office/drawing/2014/main" id="{8247E256-4CD8-4B85-AAB6-D1664D66AB58}"/>
              </a:ext>
            </a:extLst>
          </p:cNvPr>
          <p:cNvSpPr>
            <a:spLocks xmlns:a="http://schemas.openxmlformats.org/drawingml/2006/main" noGrp="1"/>
          </p:cNvSpPr>
          <p:nvPr/>
        </p:nvSpPr>
        <p:spPr>
          <a:xfrm xmlns:a="http://schemas.openxmlformats.org/drawingml/2006/main">
            <a:off x="6477000" y="1943100"/>
            <a:ext cx="419100" cy="38100"/>
          </a:xfrm>
          <a:prstGeom xmlns:a="http://schemas.openxmlformats.org/drawingml/2006/main" prst="rect">
            <a:avLst/>
          </a:prstGeom>
          <a:solidFill xmlns:a="http://schemas.openxmlformats.org/drawingml/2006/main">
            <a:srgbClr val="147C74"/>
          </a:solidFill>
          <a:ln xmlns:a="http://schemas.openxmlformats.org/drawingml/2006/main" w="0">
            <a:solidFill>
              <a:srgbClr val="147C74"/>
            </a:solidFill>
            <a:prstDash val="solid"/>
          </a:ln>
        </p:spPr>
      </p:sp>
      <p:sp>
        <p:nvSpPr>
          <p:cNvPr id="8" name="column-title">
            <a:extLst xmlns:a="http://schemas.openxmlformats.org/drawingml/2006/main">
              <a:ext uri="{FF2B5EF4-FFF2-40B4-BE49-F238E27FC236}">
                <a16:creationId xmlns:a16="http://schemas.microsoft.com/office/drawing/2014/main" id="{A4C85BDB-7C9C-4249-95A5-F80094162D9C}"/>
              </a:ext>
            </a:extLst>
          </p:cNvPr>
          <p:cNvSpPr>
            <a:spLocks xmlns:a="http://schemas.openxmlformats.org/drawingml/2006/main" noGrp="1"/>
          </p:cNvSpPr>
          <p:nvPr/>
        </p:nvSpPr>
        <p:spPr>
          <a:xfrm xmlns:a="http://schemas.openxmlformats.org/drawingml/2006/main">
            <a:off x="6477000" y="21145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Paper framing</a:t>
            </a:r>
          </a:p>
        </p:txBody>
      </p:sp>
      <p:sp>
        <p:nvSpPr>
          <p:cNvPr id="9" name="column-copy">
            <a:extLst xmlns:a="http://schemas.openxmlformats.org/drawingml/2006/main">
              <a:ext uri="{FF2B5EF4-FFF2-40B4-BE49-F238E27FC236}">
                <a16:creationId xmlns:a16="http://schemas.microsoft.com/office/drawing/2014/main" id="{D4F1E0CD-98E9-4613-8D70-E2D225C03994}"/>
              </a:ext>
            </a:extLst>
          </p:cNvPr>
          <p:cNvSpPr>
            <a:spLocks xmlns:a="http://schemas.openxmlformats.org/drawingml/2006/main" noGrp="1"/>
          </p:cNvSpPr>
          <p:nvPr/>
        </p:nvSpPr>
        <p:spPr>
          <a:xfrm xmlns:a="http://schemas.openxmlformats.org/drawingml/2006/main">
            <a:off x="6477000" y="2628900"/>
            <a:ext cx="466725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293A45"/>
                </a:solidFill>
                <a:latin typeface="Arial"/>
                <a:ea typeface="Arial"/>
                <a:cs typeface="Arial"/>
              </a:defRPr>
            </a:defPPr>
            <a:lvl1pPr algn="l">
              <a:defRPr sz="1650">
                <a:solidFill>
                  <a:srgbClr val="293A45"/>
                </a:solidFill>
                <a:latin typeface="Arial"/>
                <a:ea typeface="Arial"/>
                <a:cs typeface="Arial"/>
              </a:defRPr>
            </a:lvl1pPr>
            <a:lvl2pPr algn="l">
              <a:defRPr sz="1650">
                <a:solidFill>
                  <a:srgbClr val="293A45"/>
                </a:solidFill>
                <a:latin typeface="Arial"/>
                <a:ea typeface="Arial"/>
                <a:cs typeface="Arial"/>
              </a:defRPr>
            </a:lvl2pPr>
            <a:lvl3pPr algn="l">
              <a:defRPr sz="1650">
                <a:solidFill>
                  <a:srgbClr val="293A45"/>
                </a:solidFill>
                <a:latin typeface="Arial"/>
                <a:ea typeface="Arial"/>
                <a:cs typeface="Arial"/>
              </a:defRPr>
            </a:lvl3pPr>
            <a:lvl4pPr algn="l">
              <a:defRPr sz="1650">
                <a:solidFill>
                  <a:srgbClr val="293A45"/>
                </a:solidFill>
                <a:latin typeface="Arial"/>
                <a:ea typeface="Arial"/>
                <a:cs typeface="Arial"/>
              </a:defRPr>
            </a:lvl4pPr>
            <a:lvl5pPr algn="l">
              <a:defRPr sz="1650">
                <a:solidFill>
                  <a:srgbClr val="293A45"/>
                </a:solidFill>
                <a:latin typeface="Arial"/>
                <a:ea typeface="Arial"/>
                <a:cs typeface="Arial"/>
              </a:defRPr>
            </a:lvl5pPr>
            <a:lvl6pPr algn="l">
              <a:defRPr sz="1650">
                <a:solidFill>
                  <a:srgbClr val="293A45"/>
                </a:solidFill>
                <a:latin typeface="Arial"/>
                <a:ea typeface="Arial"/>
                <a:cs typeface="Arial"/>
              </a:defRPr>
            </a:lvl6pPr>
            <a:lvl7pPr algn="l">
              <a:defRPr sz="1650">
                <a:solidFill>
                  <a:srgbClr val="293A45"/>
                </a:solidFill>
                <a:latin typeface="Arial"/>
                <a:ea typeface="Arial"/>
                <a:cs typeface="Arial"/>
              </a:defRPr>
            </a:lvl7pPr>
            <a:lvl8pPr algn="l">
              <a:defRPr sz="1650">
                <a:solidFill>
                  <a:srgbClr val="293A45"/>
                </a:solidFill>
                <a:latin typeface="Arial"/>
                <a:ea typeface="Arial"/>
                <a:cs typeface="Arial"/>
              </a:defRPr>
            </a:lvl8pPr>
            <a:lvl9pPr algn="l">
              <a:defRPr sz="1650">
                <a:solidFill>
                  <a:srgbClr val="293A45"/>
                </a:solidFill>
                <a:latin typeface="Arial"/>
                <a:ea typeface="Arial"/>
                <a:cs typeface="Arial"/>
              </a:defRPr>
            </a:lvl9pPr>
          </a:lstStyle>
          <a:p xmlns:a="http://schemas.openxmlformats.org/drawingml/2006/main">
            <a:pPr algn="l">
              <a:lnSpc>
                <a:spcPct val="104000"/>
              </a:lnSpc>
              <a:buNone/>
              <a:defRPr sz="1650">
                <a:solidFill>
                  <a:srgbClr val="293A45"/>
                </a:solidFill>
                <a:latin typeface="Arial"/>
                <a:ea typeface="Arial"/>
                <a:cs typeface="Arial"/>
              </a:defRPr>
            </a:pPr>
            <a:r>
              <a:rPr sz="1650">
                <a:solidFill>
                  <a:srgbClr val="293A45"/>
                </a:solidFill>
                <a:latin typeface="Arial"/>
                <a:ea typeface="Arial"/>
                <a:cs typeface="Arial"/>
              </a:rPr>
              <a:t>The paper treats recommendation as learning user-item interactions. It evaluates both Top-N ranking and rating prediction, with sparsity and cold-start as central concerns.</a:t>
            </a:r>
          </a:p>
        </p:txBody>
      </p:sp>
      <p:sp>
        <p:nvSpPr>
          <p:cNvPr id="10" name="divider">
            <a:extLst xmlns:a="http://schemas.openxmlformats.org/drawingml/2006/main">
              <a:ext uri="{FF2B5EF4-FFF2-40B4-BE49-F238E27FC236}">
                <a16:creationId xmlns:a16="http://schemas.microsoft.com/office/drawing/2014/main" id="{C6527F05-B75D-4133-AE0B-2A8768BE7941}"/>
              </a:ext>
            </a:extLst>
          </p:cNvPr>
          <p:cNvSpPr>
            <a:spLocks xmlns:a="http://schemas.openxmlformats.org/drawingml/2006/main" noGrp="1"/>
          </p:cNvSpPr>
          <p:nvPr/>
        </p:nvSpPr>
        <p:spPr>
          <a:xfrm xmlns:a="http://schemas.openxmlformats.org/drawingml/2006/main">
            <a:off x="685800" y="5467350"/>
            <a:ext cx="10439400" cy="9525"/>
          </a:xfrm>
          <a:prstGeom xmlns:a="http://schemas.openxmlformats.org/drawingml/2006/main" prst="rect">
            <a:avLst/>
          </a:prstGeom>
          <a:solidFill xmlns:a="http://schemas.openxmlformats.org/drawingml/2006/main">
            <a:srgbClr val="D5DEE3"/>
          </a:solidFill>
          <a:ln xmlns:a="http://schemas.openxmlformats.org/drawingml/2006/main" w="0">
            <a:solidFill>
              <a:srgbClr val="D5DEE3"/>
            </a:solidFill>
            <a:prstDash val="solid"/>
          </a:ln>
        </p:spPr>
      </p:sp>
      <p:sp>
        <p:nvSpPr>
          <p:cNvPr id="11" name="scope-statement">
            <a:extLst xmlns:a="http://schemas.openxmlformats.org/drawingml/2006/main">
              <a:ext uri="{FF2B5EF4-FFF2-40B4-BE49-F238E27FC236}">
                <a16:creationId xmlns:a16="http://schemas.microsoft.com/office/drawing/2014/main" id="{EA70E292-1787-44DF-AEF7-169A5CFCF003}"/>
              </a:ext>
            </a:extLst>
          </p:cNvPr>
          <p:cNvSpPr>
            <a:spLocks xmlns:a="http://schemas.openxmlformats.org/drawingml/2006/main" noGrp="1"/>
          </p:cNvSpPr>
          <p:nvPr/>
        </p:nvSpPr>
        <p:spPr>
          <a:xfrm xmlns:a="http://schemas.openxmlformats.org/drawingml/2006/main">
            <a:off x="685800" y="56959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232D"/>
                </a:solidFill>
                <a:latin typeface="Arial"/>
                <a:ea typeface="Arial"/>
                <a:cs typeface="Arial"/>
              </a:defRPr>
            </a:defPPr>
            <a:lvl1pPr algn="l">
              <a:defRPr sz="1725" b="1">
                <a:solidFill>
                  <a:srgbClr val="15232D"/>
                </a:solidFill>
                <a:latin typeface="Arial"/>
                <a:ea typeface="Arial"/>
                <a:cs typeface="Arial"/>
              </a:defRPr>
            </a:lvl1pPr>
            <a:lvl2pPr algn="l">
              <a:defRPr sz="1725" b="1">
                <a:solidFill>
                  <a:srgbClr val="15232D"/>
                </a:solidFill>
                <a:latin typeface="Arial"/>
                <a:ea typeface="Arial"/>
                <a:cs typeface="Arial"/>
              </a:defRPr>
            </a:lvl2pPr>
            <a:lvl3pPr algn="l">
              <a:defRPr sz="1725" b="1">
                <a:solidFill>
                  <a:srgbClr val="15232D"/>
                </a:solidFill>
                <a:latin typeface="Arial"/>
                <a:ea typeface="Arial"/>
                <a:cs typeface="Arial"/>
              </a:defRPr>
            </a:lvl3pPr>
            <a:lvl4pPr algn="l">
              <a:defRPr sz="1725" b="1">
                <a:solidFill>
                  <a:srgbClr val="15232D"/>
                </a:solidFill>
                <a:latin typeface="Arial"/>
                <a:ea typeface="Arial"/>
                <a:cs typeface="Arial"/>
              </a:defRPr>
            </a:lvl4pPr>
            <a:lvl5pPr algn="l">
              <a:defRPr sz="1725" b="1">
                <a:solidFill>
                  <a:srgbClr val="15232D"/>
                </a:solidFill>
                <a:latin typeface="Arial"/>
                <a:ea typeface="Arial"/>
                <a:cs typeface="Arial"/>
              </a:defRPr>
            </a:lvl5pPr>
            <a:lvl6pPr algn="l">
              <a:defRPr sz="1725" b="1">
                <a:solidFill>
                  <a:srgbClr val="15232D"/>
                </a:solidFill>
                <a:latin typeface="Arial"/>
                <a:ea typeface="Arial"/>
                <a:cs typeface="Arial"/>
              </a:defRPr>
            </a:lvl6pPr>
            <a:lvl7pPr algn="l">
              <a:defRPr sz="1725" b="1">
                <a:solidFill>
                  <a:srgbClr val="15232D"/>
                </a:solidFill>
                <a:latin typeface="Arial"/>
                <a:ea typeface="Arial"/>
                <a:cs typeface="Arial"/>
              </a:defRPr>
            </a:lvl7pPr>
            <a:lvl8pPr algn="l">
              <a:defRPr sz="1725" b="1">
                <a:solidFill>
                  <a:srgbClr val="15232D"/>
                </a:solidFill>
                <a:latin typeface="Arial"/>
                <a:ea typeface="Arial"/>
                <a:cs typeface="Arial"/>
              </a:defRPr>
            </a:lvl8pPr>
            <a:lvl9pPr algn="l">
              <a:defRPr sz="1725" b="1">
                <a:solidFill>
                  <a:srgbClr val="15232D"/>
                </a:solidFill>
                <a:latin typeface="Arial"/>
                <a:ea typeface="Arial"/>
                <a:cs typeface="Arial"/>
              </a:defRPr>
            </a:lvl9pPr>
          </a:lstStyle>
          <a:p xmlns:a="http://schemas.openxmlformats.org/drawingml/2006/main">
            <a:pPr algn="l">
              <a:defRPr sz="1725" b="1">
                <a:solidFill>
                  <a:srgbClr val="15232D"/>
                </a:solidFill>
                <a:latin typeface="Arial"/>
                <a:ea typeface="Arial"/>
                <a:cs typeface="Arial"/>
              </a:defRPr>
            </a:pPr>
            <a:r>
              <a:rPr sz="1725" b="1">
                <a:solidFill>
                  <a:srgbClr val="15232D"/>
                </a:solidFill>
                <a:latin typeface="Arial"/>
                <a:ea typeface="Arial"/>
                <a:cs typeface="Arial"/>
              </a:rPr>
              <a:t>This project studies the attribute-based Top-N component and reports HR@10 and NDCG@10.</a:t>
            </a:r>
          </a:p>
        </p:txBody>
      </p:sp>
    </p:spTree>
    <p:extLst>
      <p:ext uri="{BB962C8B-B14F-4D97-AF65-F5344CB8AC3E}">
        <p14:creationId xmlns:p14="http://schemas.microsoft.com/office/powerpoint/2010/main" val="20587637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CA5286AC-1C71-4917-B2CB-0BDD7FBC169B}"/>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Research gap and contribution</a:t>
            </a:r>
          </a:p>
        </p:txBody>
      </p:sp>
      <p:sp>
        <p:nvSpPr>
          <p:cNvPr id="2" name="divider">
            <a:extLst xmlns:a="http://schemas.openxmlformats.org/drawingml/2006/main">
              <a:ext uri="{FF2B5EF4-FFF2-40B4-BE49-F238E27FC236}">
                <a16:creationId xmlns:a16="http://schemas.microsoft.com/office/drawing/2014/main" id="{CE198D57-3DF1-4146-A590-45E0D574A1A2}"/>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4B2E9359-53D5-47F4-BC15-589E2214680D}"/>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The paper combines side-information coupling with ID-based interaction learning</a:t>
            </a:r>
          </a:p>
        </p:txBody>
      </p:sp>
      <p:sp>
        <p:nvSpPr>
          <p:cNvPr id="4" name="divider">
            <a:extLst xmlns:a="http://schemas.openxmlformats.org/drawingml/2006/main">
              <a:ext uri="{FF2B5EF4-FFF2-40B4-BE49-F238E27FC236}">
                <a16:creationId xmlns:a16="http://schemas.microsoft.com/office/drawing/2014/main" id="{2AA12A5D-4F01-4EC7-AA1B-DD8A6FAB6561}"/>
              </a:ext>
            </a:extLst>
          </p:cNvPr>
          <p:cNvSpPr>
            <a:spLocks xmlns:a="http://schemas.openxmlformats.org/drawingml/2006/main" noGrp="1"/>
          </p:cNvSpPr>
          <p:nvPr/>
        </p:nvSpPr>
        <p:spPr>
          <a:xfrm xmlns:a="http://schemas.openxmlformats.org/drawingml/2006/main">
            <a:off x="685800" y="1981200"/>
            <a:ext cx="419100" cy="38100"/>
          </a:xfrm>
          <a:prstGeom xmlns:a="http://schemas.openxmlformats.org/drawingml/2006/main" prst="rect">
            <a:avLst/>
          </a:prstGeom>
          <a:solidFill xmlns:a="http://schemas.openxmlformats.org/drawingml/2006/main">
            <a:srgbClr val="C97725"/>
          </a:solidFill>
          <a:ln xmlns:a="http://schemas.openxmlformats.org/drawingml/2006/main" w="0">
            <a:solidFill>
              <a:srgbClr val="C97725"/>
            </a:solidFill>
            <a:prstDash val="solid"/>
          </a:ln>
        </p:spPr>
      </p:sp>
      <p:sp>
        <p:nvSpPr>
          <p:cNvPr id="5" name="column-title">
            <a:extLst xmlns:a="http://schemas.openxmlformats.org/drawingml/2006/main">
              <a:ext uri="{FF2B5EF4-FFF2-40B4-BE49-F238E27FC236}">
                <a16:creationId xmlns:a16="http://schemas.microsoft.com/office/drawing/2014/main" id="{0E8A9804-BCEA-4E04-B733-9882FA11F04C}"/>
              </a:ext>
            </a:extLst>
          </p:cNvPr>
          <p:cNvSpPr>
            <a:spLocks xmlns:a="http://schemas.openxmlformats.org/drawingml/2006/main" noGrp="1"/>
          </p:cNvSpPr>
          <p:nvPr/>
        </p:nvSpPr>
        <p:spPr>
          <a:xfrm xmlns:a="http://schemas.openxmlformats.org/drawingml/2006/main">
            <a:off x="685800" y="21526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Research gap</a:t>
            </a:r>
          </a:p>
        </p:txBody>
      </p:sp>
      <p:sp>
        <p:nvSpPr>
          <p:cNvPr id="6" name="column-copy">
            <a:extLst xmlns:a="http://schemas.openxmlformats.org/drawingml/2006/main">
              <a:ext uri="{FF2B5EF4-FFF2-40B4-BE49-F238E27FC236}">
                <a16:creationId xmlns:a16="http://schemas.microsoft.com/office/drawing/2014/main" id="{9A7D03FC-4CD0-43F5-89C0-CD4BE5A8C84C}"/>
              </a:ext>
            </a:extLst>
          </p:cNvPr>
          <p:cNvSpPr>
            <a:spLocks xmlns:a="http://schemas.openxmlformats.org/drawingml/2006/main" noGrp="1"/>
          </p:cNvSpPr>
          <p:nvPr/>
        </p:nvSpPr>
        <p:spPr>
          <a:xfrm xmlns:a="http://schemas.openxmlformats.org/drawingml/2006/main">
            <a:off x="685800" y="2667000"/>
            <a:ext cx="466725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293A45"/>
                </a:solidFill>
                <a:latin typeface="Arial"/>
                <a:ea typeface="Arial"/>
                <a:cs typeface="Arial"/>
              </a:defRPr>
            </a:defPPr>
            <a:lvl1pPr algn="l">
              <a:defRPr sz="1650">
                <a:solidFill>
                  <a:srgbClr val="293A45"/>
                </a:solidFill>
                <a:latin typeface="Arial"/>
                <a:ea typeface="Arial"/>
                <a:cs typeface="Arial"/>
              </a:defRPr>
            </a:lvl1pPr>
            <a:lvl2pPr algn="l">
              <a:defRPr sz="1650">
                <a:solidFill>
                  <a:srgbClr val="293A45"/>
                </a:solidFill>
                <a:latin typeface="Arial"/>
                <a:ea typeface="Arial"/>
                <a:cs typeface="Arial"/>
              </a:defRPr>
            </a:lvl2pPr>
            <a:lvl3pPr algn="l">
              <a:defRPr sz="1650">
                <a:solidFill>
                  <a:srgbClr val="293A45"/>
                </a:solidFill>
                <a:latin typeface="Arial"/>
                <a:ea typeface="Arial"/>
                <a:cs typeface="Arial"/>
              </a:defRPr>
            </a:lvl3pPr>
            <a:lvl4pPr algn="l">
              <a:defRPr sz="1650">
                <a:solidFill>
                  <a:srgbClr val="293A45"/>
                </a:solidFill>
                <a:latin typeface="Arial"/>
                <a:ea typeface="Arial"/>
                <a:cs typeface="Arial"/>
              </a:defRPr>
            </a:lvl4pPr>
            <a:lvl5pPr algn="l">
              <a:defRPr sz="1650">
                <a:solidFill>
                  <a:srgbClr val="293A45"/>
                </a:solidFill>
                <a:latin typeface="Arial"/>
                <a:ea typeface="Arial"/>
                <a:cs typeface="Arial"/>
              </a:defRPr>
            </a:lvl5pPr>
            <a:lvl6pPr algn="l">
              <a:defRPr sz="1650">
                <a:solidFill>
                  <a:srgbClr val="293A45"/>
                </a:solidFill>
                <a:latin typeface="Arial"/>
                <a:ea typeface="Arial"/>
                <a:cs typeface="Arial"/>
              </a:defRPr>
            </a:lvl6pPr>
            <a:lvl7pPr algn="l">
              <a:defRPr sz="1650">
                <a:solidFill>
                  <a:srgbClr val="293A45"/>
                </a:solidFill>
                <a:latin typeface="Arial"/>
                <a:ea typeface="Arial"/>
                <a:cs typeface="Arial"/>
              </a:defRPr>
            </a:lvl7pPr>
            <a:lvl8pPr algn="l">
              <a:defRPr sz="1650">
                <a:solidFill>
                  <a:srgbClr val="293A45"/>
                </a:solidFill>
                <a:latin typeface="Arial"/>
                <a:ea typeface="Arial"/>
                <a:cs typeface="Arial"/>
              </a:defRPr>
            </a:lvl8pPr>
            <a:lvl9pPr algn="l">
              <a:defRPr sz="1650">
                <a:solidFill>
                  <a:srgbClr val="293A45"/>
                </a:solidFill>
                <a:latin typeface="Arial"/>
                <a:ea typeface="Arial"/>
                <a:cs typeface="Arial"/>
              </a:defRPr>
            </a:lvl9pPr>
          </a:lstStyle>
          <a:p xmlns:a="http://schemas.openxmlformats.org/drawingml/2006/main">
            <a:pPr algn="l">
              <a:lnSpc>
                <a:spcPct val="104000"/>
              </a:lnSpc>
              <a:buNone/>
              <a:defRPr sz="1650">
                <a:solidFill>
                  <a:srgbClr val="293A45"/>
                </a:solidFill>
                <a:latin typeface="Arial"/>
                <a:ea typeface="Arial"/>
                <a:cs typeface="Arial"/>
              </a:defRPr>
            </a:pPr>
            <a:r>
              <a:rPr sz="1650">
                <a:solidFill>
                  <a:srgbClr val="293A45"/>
                </a:solidFill>
                <a:latin typeface="Arial"/>
                <a:ea typeface="Arial"/>
                <a:cs typeface="Arial"/>
              </a:rPr>
              <a:t>ID-only interaction models can underuse attributes and text that describe users and items. Side information also creates many feature interactions that simple concatenation may leave unmodeled.</a:t>
            </a:r>
          </a:p>
        </p:txBody>
      </p:sp>
      <p:sp>
        <p:nvSpPr>
          <p:cNvPr id="7" name="divider">
            <a:extLst xmlns:a="http://schemas.openxmlformats.org/drawingml/2006/main">
              <a:ext uri="{FF2B5EF4-FFF2-40B4-BE49-F238E27FC236}">
                <a16:creationId xmlns:a16="http://schemas.microsoft.com/office/drawing/2014/main" id="{225BD678-622C-4F99-AB69-F80F215F75E0}"/>
              </a:ext>
            </a:extLst>
          </p:cNvPr>
          <p:cNvSpPr>
            <a:spLocks xmlns:a="http://schemas.openxmlformats.org/drawingml/2006/main" noGrp="1"/>
          </p:cNvSpPr>
          <p:nvPr/>
        </p:nvSpPr>
        <p:spPr>
          <a:xfrm xmlns:a="http://schemas.openxmlformats.org/drawingml/2006/main">
            <a:off x="6477000" y="1981200"/>
            <a:ext cx="419100" cy="38100"/>
          </a:xfrm>
          <a:prstGeom xmlns:a="http://schemas.openxmlformats.org/drawingml/2006/main" prst="rect">
            <a:avLst/>
          </a:prstGeom>
          <a:solidFill xmlns:a="http://schemas.openxmlformats.org/drawingml/2006/main">
            <a:srgbClr val="147C74"/>
          </a:solidFill>
          <a:ln xmlns:a="http://schemas.openxmlformats.org/drawingml/2006/main" w="0">
            <a:solidFill>
              <a:srgbClr val="147C74"/>
            </a:solidFill>
            <a:prstDash val="solid"/>
          </a:ln>
        </p:spPr>
      </p:sp>
      <p:sp>
        <p:nvSpPr>
          <p:cNvPr id="8" name="column-title">
            <a:extLst xmlns:a="http://schemas.openxmlformats.org/drawingml/2006/main">
              <a:ext uri="{FF2B5EF4-FFF2-40B4-BE49-F238E27FC236}">
                <a16:creationId xmlns:a16="http://schemas.microsoft.com/office/drawing/2014/main" id="{158C1FBD-73A1-415C-B0A0-E45DE81A20AD}"/>
              </a:ext>
            </a:extLst>
          </p:cNvPr>
          <p:cNvSpPr>
            <a:spLocks xmlns:a="http://schemas.openxmlformats.org/drawingml/2006/main" noGrp="1"/>
          </p:cNvSpPr>
          <p:nvPr/>
        </p:nvSpPr>
        <p:spPr>
          <a:xfrm xmlns:a="http://schemas.openxmlformats.org/drawingml/2006/main">
            <a:off x="6477000" y="21526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Authors' contribution</a:t>
            </a:r>
          </a:p>
        </p:txBody>
      </p:sp>
      <p:sp>
        <p:nvSpPr>
          <p:cNvPr id="9" name="column-copy">
            <a:extLst xmlns:a="http://schemas.openxmlformats.org/drawingml/2006/main">
              <a:ext uri="{FF2B5EF4-FFF2-40B4-BE49-F238E27FC236}">
                <a16:creationId xmlns:a16="http://schemas.microsoft.com/office/drawing/2014/main" id="{56E6CFFC-FDD0-45DA-B35A-BB97E5BECB17}"/>
              </a:ext>
            </a:extLst>
          </p:cNvPr>
          <p:cNvSpPr>
            <a:spLocks xmlns:a="http://schemas.openxmlformats.org/drawingml/2006/main" noGrp="1"/>
          </p:cNvSpPr>
          <p:nvPr/>
        </p:nvSpPr>
        <p:spPr>
          <a:xfrm xmlns:a="http://schemas.openxmlformats.org/drawingml/2006/main">
            <a:off x="6477000" y="2667000"/>
            <a:ext cx="466725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293A45"/>
                </a:solidFill>
                <a:latin typeface="Arial"/>
                <a:ea typeface="Arial"/>
                <a:cs typeface="Arial"/>
              </a:defRPr>
            </a:defPPr>
            <a:lvl1pPr algn="l">
              <a:defRPr sz="1650">
                <a:solidFill>
                  <a:srgbClr val="293A45"/>
                </a:solidFill>
                <a:latin typeface="Arial"/>
                <a:ea typeface="Arial"/>
                <a:cs typeface="Arial"/>
              </a:defRPr>
            </a:lvl1pPr>
            <a:lvl2pPr algn="l">
              <a:defRPr sz="1650">
                <a:solidFill>
                  <a:srgbClr val="293A45"/>
                </a:solidFill>
                <a:latin typeface="Arial"/>
                <a:ea typeface="Arial"/>
                <a:cs typeface="Arial"/>
              </a:defRPr>
            </a:lvl2pPr>
            <a:lvl3pPr algn="l">
              <a:defRPr sz="1650">
                <a:solidFill>
                  <a:srgbClr val="293A45"/>
                </a:solidFill>
                <a:latin typeface="Arial"/>
                <a:ea typeface="Arial"/>
                <a:cs typeface="Arial"/>
              </a:defRPr>
            </a:lvl3pPr>
            <a:lvl4pPr algn="l">
              <a:defRPr sz="1650">
                <a:solidFill>
                  <a:srgbClr val="293A45"/>
                </a:solidFill>
                <a:latin typeface="Arial"/>
                <a:ea typeface="Arial"/>
                <a:cs typeface="Arial"/>
              </a:defRPr>
            </a:lvl4pPr>
            <a:lvl5pPr algn="l">
              <a:defRPr sz="1650">
                <a:solidFill>
                  <a:srgbClr val="293A45"/>
                </a:solidFill>
                <a:latin typeface="Arial"/>
                <a:ea typeface="Arial"/>
                <a:cs typeface="Arial"/>
              </a:defRPr>
            </a:lvl5pPr>
            <a:lvl6pPr algn="l">
              <a:defRPr sz="1650">
                <a:solidFill>
                  <a:srgbClr val="293A45"/>
                </a:solidFill>
                <a:latin typeface="Arial"/>
                <a:ea typeface="Arial"/>
                <a:cs typeface="Arial"/>
              </a:defRPr>
            </a:lvl6pPr>
            <a:lvl7pPr algn="l">
              <a:defRPr sz="1650">
                <a:solidFill>
                  <a:srgbClr val="293A45"/>
                </a:solidFill>
                <a:latin typeface="Arial"/>
                <a:ea typeface="Arial"/>
                <a:cs typeface="Arial"/>
              </a:defRPr>
            </a:lvl7pPr>
            <a:lvl8pPr algn="l">
              <a:defRPr sz="1650">
                <a:solidFill>
                  <a:srgbClr val="293A45"/>
                </a:solidFill>
                <a:latin typeface="Arial"/>
                <a:ea typeface="Arial"/>
                <a:cs typeface="Arial"/>
              </a:defRPr>
            </a:lvl8pPr>
            <a:lvl9pPr algn="l">
              <a:defRPr sz="1650">
                <a:solidFill>
                  <a:srgbClr val="293A45"/>
                </a:solidFill>
                <a:latin typeface="Arial"/>
                <a:ea typeface="Arial"/>
                <a:cs typeface="Arial"/>
              </a:defRPr>
            </a:lvl9pPr>
          </a:lstStyle>
          <a:p xmlns:a="http://schemas.openxmlformats.org/drawingml/2006/main">
            <a:pPr algn="l">
              <a:lnSpc>
                <a:spcPct val="104000"/>
              </a:lnSpc>
              <a:buNone/>
              <a:defRPr sz="1650">
                <a:solidFill>
                  <a:srgbClr val="293A45"/>
                </a:solidFill>
                <a:latin typeface="Arial"/>
                <a:ea typeface="Arial"/>
                <a:cs typeface="Arial"/>
              </a:defRPr>
            </a:pPr>
            <a:r>
              <a:rPr sz="1650">
                <a:solidFill>
                  <a:srgbClr val="293A45"/>
                </a:solidFill>
                <a:latin typeface="Arial"/>
                <a:ea typeface="Arial"/>
                <a:cs typeface="Arial"/>
              </a:rPr>
              <a:t>CoupledCF learns local explicit interactions with CNNs, adds a global product representation, and integrates these features with the implicit DeepCF branch.</a:t>
            </a:r>
          </a:p>
        </p:txBody>
      </p:sp>
      <p:sp>
        <p:nvSpPr>
          <p:cNvPr id="10" name="divider">
            <a:extLst xmlns:a="http://schemas.openxmlformats.org/drawingml/2006/main">
              <a:ext uri="{FF2B5EF4-FFF2-40B4-BE49-F238E27FC236}">
                <a16:creationId xmlns:a16="http://schemas.microsoft.com/office/drawing/2014/main" id="{C3B83146-962B-44B7-8EA1-FE7246AD3A44}"/>
              </a:ext>
            </a:extLst>
          </p:cNvPr>
          <p:cNvSpPr>
            <a:spLocks xmlns:a="http://schemas.openxmlformats.org/drawingml/2006/main" noGrp="1"/>
          </p:cNvSpPr>
          <p:nvPr/>
        </p:nvSpPr>
        <p:spPr>
          <a:xfrm xmlns:a="http://schemas.openxmlformats.org/drawingml/2006/main">
            <a:off x="685800" y="5448300"/>
            <a:ext cx="10439400" cy="9525"/>
          </a:xfrm>
          <a:prstGeom xmlns:a="http://schemas.openxmlformats.org/drawingml/2006/main" prst="rect">
            <a:avLst/>
          </a:prstGeom>
          <a:solidFill xmlns:a="http://schemas.openxmlformats.org/drawingml/2006/main">
            <a:srgbClr val="D5DEE3"/>
          </a:solidFill>
          <a:ln xmlns:a="http://schemas.openxmlformats.org/drawingml/2006/main" w="0">
            <a:solidFill>
              <a:srgbClr val="D5DEE3"/>
            </a:solidFill>
            <a:prstDash val="solid"/>
          </a:ln>
        </p:spPr>
      </p:sp>
      <p:sp>
        <p:nvSpPr>
          <p:cNvPr id="11" name="project-contribution">
            <a:extLst xmlns:a="http://schemas.openxmlformats.org/drawingml/2006/main">
              <a:ext uri="{FF2B5EF4-FFF2-40B4-BE49-F238E27FC236}">
                <a16:creationId xmlns:a16="http://schemas.microsoft.com/office/drawing/2014/main" id="{E108D22E-0A3D-41AE-9E92-40FAB80AC6D6}"/>
              </a:ext>
            </a:extLst>
          </p:cNvPr>
          <p:cNvSpPr>
            <a:spLocks xmlns:a="http://schemas.openxmlformats.org/drawingml/2006/main" noGrp="1"/>
          </p:cNvSpPr>
          <p:nvPr/>
        </p:nvSpPr>
        <p:spPr>
          <a:xfrm xmlns:a="http://schemas.openxmlformats.org/drawingml/2006/main">
            <a:off x="685800" y="5695950"/>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5232D"/>
                </a:solidFill>
                <a:latin typeface="Arial"/>
                <a:ea typeface="Arial"/>
                <a:cs typeface="Arial"/>
              </a:defRPr>
            </a:defPPr>
            <a:lvl1pPr algn="l">
              <a:defRPr sz="1725" b="1">
                <a:solidFill>
                  <a:srgbClr val="15232D"/>
                </a:solidFill>
                <a:latin typeface="Arial"/>
                <a:ea typeface="Arial"/>
                <a:cs typeface="Arial"/>
              </a:defRPr>
            </a:lvl1pPr>
            <a:lvl2pPr algn="l">
              <a:defRPr sz="1725" b="1">
                <a:solidFill>
                  <a:srgbClr val="15232D"/>
                </a:solidFill>
                <a:latin typeface="Arial"/>
                <a:ea typeface="Arial"/>
                <a:cs typeface="Arial"/>
              </a:defRPr>
            </a:lvl2pPr>
            <a:lvl3pPr algn="l">
              <a:defRPr sz="1725" b="1">
                <a:solidFill>
                  <a:srgbClr val="15232D"/>
                </a:solidFill>
                <a:latin typeface="Arial"/>
                <a:ea typeface="Arial"/>
                <a:cs typeface="Arial"/>
              </a:defRPr>
            </a:lvl3pPr>
            <a:lvl4pPr algn="l">
              <a:defRPr sz="1725" b="1">
                <a:solidFill>
                  <a:srgbClr val="15232D"/>
                </a:solidFill>
                <a:latin typeface="Arial"/>
                <a:ea typeface="Arial"/>
                <a:cs typeface="Arial"/>
              </a:defRPr>
            </a:lvl4pPr>
            <a:lvl5pPr algn="l">
              <a:defRPr sz="1725" b="1">
                <a:solidFill>
                  <a:srgbClr val="15232D"/>
                </a:solidFill>
                <a:latin typeface="Arial"/>
                <a:ea typeface="Arial"/>
                <a:cs typeface="Arial"/>
              </a:defRPr>
            </a:lvl5pPr>
            <a:lvl6pPr algn="l">
              <a:defRPr sz="1725" b="1">
                <a:solidFill>
                  <a:srgbClr val="15232D"/>
                </a:solidFill>
                <a:latin typeface="Arial"/>
                <a:ea typeface="Arial"/>
                <a:cs typeface="Arial"/>
              </a:defRPr>
            </a:lvl6pPr>
            <a:lvl7pPr algn="l">
              <a:defRPr sz="1725" b="1">
                <a:solidFill>
                  <a:srgbClr val="15232D"/>
                </a:solidFill>
                <a:latin typeface="Arial"/>
                <a:ea typeface="Arial"/>
                <a:cs typeface="Arial"/>
              </a:defRPr>
            </a:lvl7pPr>
            <a:lvl8pPr algn="l">
              <a:defRPr sz="1725" b="1">
                <a:solidFill>
                  <a:srgbClr val="15232D"/>
                </a:solidFill>
                <a:latin typeface="Arial"/>
                <a:ea typeface="Arial"/>
                <a:cs typeface="Arial"/>
              </a:defRPr>
            </a:lvl8pPr>
            <a:lvl9pPr algn="l">
              <a:defRPr sz="1725" b="1">
                <a:solidFill>
                  <a:srgbClr val="15232D"/>
                </a:solidFill>
                <a:latin typeface="Arial"/>
                <a:ea typeface="Arial"/>
                <a:cs typeface="Arial"/>
              </a:defRPr>
            </a:lvl9pPr>
          </a:lstStyle>
          <a:p xmlns:a="http://schemas.openxmlformats.org/drawingml/2006/main">
            <a:pPr algn="l">
              <a:defRPr sz="1725" b="1">
                <a:solidFill>
                  <a:srgbClr val="15232D"/>
                </a:solidFill>
                <a:latin typeface="Arial"/>
                <a:ea typeface="Arial"/>
                <a:cs typeface="Arial"/>
              </a:defRPr>
            </a:pPr>
            <a:r>
              <a:rPr sz="1725" b="1">
                <a:solidFill>
                  <a:srgbClr val="15232D"/>
                </a:solidFill>
                <a:latin typeface="Arial"/>
                <a:ea typeface="Arial"/>
                <a:cs typeface="Arial"/>
              </a:rPr>
              <a:t>Project contribution: implement and compare five branch configurations under one matched MovieLens 1M ranking protocol.</a:t>
            </a:r>
          </a:p>
        </p:txBody>
      </p:sp>
    </p:spTree>
    <p:extLst>
      <p:ext uri="{BB962C8B-B14F-4D97-AF65-F5344CB8AC3E}">
        <p14:creationId xmlns:p14="http://schemas.microsoft.com/office/powerpoint/2010/main" val="10947669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5026573-FBCB-4E54-898D-FB47E8ADF3D1}"/>
              </a:ext>
            </a:extLst>
          </p:cNvPr>
          <p:cNvCxnSpPr>
            <a:stCxn xmlns:a="http://schemas.openxmlformats.org/drawingml/2006/main" id="8" idx="3"/>
            <a:endCxn xmlns:a="http://schemas.openxmlformats.org/drawingml/2006/main" id="9" idx="1"/>
          </p:cNvCxnSpPr>
          <p:nvPr/>
        </p:nvCxnSpPr>
        <p:spPr>
          <a:xfrm xmlns:a="http://schemas.openxmlformats.org/drawingml/2006/main" flipV="1">
            <a:off x="8763000" y="3648075"/>
            <a:ext cx="647700" cy="9525"/>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B65EFFD0-1AD7-4ACC-8B70-401660EE350F}"/>
              </a:ext>
            </a:extLst>
          </p:cNvPr>
          <p:cNvCxnSpPr>
            <a:stCxn xmlns:a="http://schemas.openxmlformats.org/drawingml/2006/main" id="7" idx="3"/>
            <a:endCxn xmlns:a="http://schemas.openxmlformats.org/drawingml/2006/main" id="8" idx="1"/>
          </p:cNvCxnSpPr>
          <p:nvPr/>
        </p:nvCxnSpPr>
        <p:spPr>
          <a:xfrm xmlns:a="http://schemas.openxmlformats.org/drawingml/2006/main" flipV="1">
            <a:off x="6057900" y="3657600"/>
            <a:ext cx="742950" cy="94297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32ABEDB0-4521-497F-BD65-6C4D79F56880}"/>
              </a:ext>
            </a:extLst>
          </p:cNvPr>
          <p:cNvCxnSpPr>
            <a:stCxn xmlns:a="http://schemas.openxmlformats.org/drawingml/2006/main" id="6" idx="3"/>
            <a:endCxn xmlns:a="http://schemas.openxmlformats.org/drawingml/2006/main" id="8" idx="1"/>
          </p:cNvCxnSpPr>
          <p:nvPr/>
        </p:nvCxnSpPr>
        <p:spPr>
          <a:xfrm xmlns:a="http://schemas.openxmlformats.org/drawingml/2006/main">
            <a:off x="6057900" y="2657475"/>
            <a:ext cx="742950" cy="10001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9CED2B6F-AFC0-4101-BC4B-974D1BA9417B}"/>
              </a:ext>
            </a:extLst>
          </p:cNvPr>
          <p:cNvCxnSpPr>
            <a:stCxn xmlns:a="http://schemas.openxmlformats.org/drawingml/2006/main" id="5" idx="3"/>
            <a:endCxn xmlns:a="http://schemas.openxmlformats.org/drawingml/2006/main" id="7" idx="1"/>
          </p:cNvCxnSpPr>
          <p:nvPr/>
        </p:nvCxnSpPr>
        <p:spPr>
          <a:xfrm xmlns:a="http://schemas.openxmlformats.org/drawingml/2006/main" flipV="1">
            <a:off x="2800350" y="4600575"/>
            <a:ext cx="762000" cy="95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7BEE87A6-8A47-4E83-92BB-40444D9B264D}"/>
              </a:ext>
            </a:extLst>
          </p:cNvPr>
          <p:cNvCxnSpPr>
            <a:stCxn xmlns:a="http://schemas.openxmlformats.org/drawingml/2006/main" id="4" idx="3"/>
            <a:endCxn xmlns:a="http://schemas.openxmlformats.org/drawingml/2006/main" id="6" idx="1"/>
          </p:cNvCxnSpPr>
          <p:nvPr/>
        </p:nvCxnSpPr>
        <p:spPr>
          <a:xfrm xmlns:a="http://schemas.openxmlformats.org/drawingml/2006/main">
            <a:off x="2800350" y="2638425"/>
            <a:ext cx="762000" cy="1905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sp>
        <p:nvSpPr>
          <p:cNvPr id="16" name="slide-title">
            <a:extLst xmlns:a="http://schemas.openxmlformats.org/drawingml/2006/main">
              <a:ext uri="{FF2B5EF4-FFF2-40B4-BE49-F238E27FC236}">
                <a16:creationId xmlns:a16="http://schemas.microsoft.com/office/drawing/2014/main" id="{7683E3D6-855E-49AD-A306-954597C64EBF}"/>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CoupledCF in the paper</a:t>
            </a:r>
          </a:p>
        </p:txBody>
      </p:sp>
      <p:sp>
        <p:nvSpPr>
          <p:cNvPr id="2" name="divider">
            <a:extLst xmlns:a="http://schemas.openxmlformats.org/drawingml/2006/main">
              <a:ext uri="{FF2B5EF4-FFF2-40B4-BE49-F238E27FC236}">
                <a16:creationId xmlns:a16="http://schemas.microsoft.com/office/drawing/2014/main" id="{C6275183-3D8E-4FA0-B5BA-84763718CECF}"/>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91823D97-EC14-45A0-A33B-E8CA7FE4FD06}"/>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Paper-level view: explicit feature coupling and implicit ID interaction meet at the output layer</a:t>
            </a:r>
          </a:p>
        </p:txBody>
      </p:sp>
      <p:sp>
        <p:nvSpPr>
          <p:cNvPr id="4" name="paper-explicit-inputs">
            <a:extLst xmlns:a="http://schemas.openxmlformats.org/drawingml/2006/main">
              <a:ext uri="{FF2B5EF4-FFF2-40B4-BE49-F238E27FC236}">
                <a16:creationId xmlns:a16="http://schemas.microsoft.com/office/drawing/2014/main" id="{0530315B-6D48-4DF5-B1A0-1F691E063D0A}"/>
              </a:ext>
            </a:extLst>
          </p:cNvPr>
          <p:cNvSpPr>
            <a:spLocks xmlns:a="http://schemas.openxmlformats.org/drawingml/2006/main" noGrp="1"/>
          </p:cNvSpPr>
          <p:nvPr/>
        </p:nvSpPr>
        <p:spPr>
          <a:xfrm xmlns:a="http://schemas.openxmlformats.org/drawingml/2006/main">
            <a:off x="666750" y="2038350"/>
            <a:ext cx="2133600" cy="12001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User and item</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attributes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Review-derived features</a:t>
            </a:r>
          </a:p>
        </p:txBody>
      </p:sp>
      <p:sp>
        <p:nvSpPr>
          <p:cNvPr id="5" name="paper-implicit-inputs">
            <a:extLst xmlns:a="http://schemas.openxmlformats.org/drawingml/2006/main">
              <a:ext uri="{FF2B5EF4-FFF2-40B4-BE49-F238E27FC236}">
                <a16:creationId xmlns:a16="http://schemas.microsoft.com/office/drawing/2014/main" id="{E64E50B2-7B95-4E30-85F8-ED290F52ECBB}"/>
              </a:ext>
            </a:extLst>
          </p:cNvPr>
          <p:cNvSpPr>
            <a:spLocks xmlns:a="http://schemas.openxmlformats.org/drawingml/2006/main" noGrp="1"/>
          </p:cNvSpPr>
          <p:nvPr/>
        </p:nvSpPr>
        <p:spPr>
          <a:xfrm xmlns:a="http://schemas.openxmlformats.org/drawingml/2006/main">
            <a:off x="666750" y="4095750"/>
            <a:ext cx="2133600" cy="10287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725" b="0">
                <a:solidFill>
                  <a:srgbClr val="15232D"/>
                </a:solidFill>
                <a:latin typeface="Arial"/>
                <a:ea typeface="Arial"/>
                <a:cs typeface="Arial"/>
              </a:defRPr>
            </a:defPPr>
            <a:lvl1pPr algn="ctr">
              <a:defRPr sz="1725" b="0">
                <a:solidFill>
                  <a:srgbClr val="15232D"/>
                </a:solidFill>
                <a:latin typeface="Arial"/>
                <a:ea typeface="Arial"/>
                <a:cs typeface="Arial"/>
              </a:defRPr>
            </a:lvl1pPr>
            <a:lvl2pPr algn="ctr">
              <a:defRPr sz="1725" b="0">
                <a:solidFill>
                  <a:srgbClr val="15232D"/>
                </a:solidFill>
                <a:latin typeface="Arial"/>
                <a:ea typeface="Arial"/>
                <a:cs typeface="Arial"/>
              </a:defRPr>
            </a:lvl2pPr>
            <a:lvl3pPr algn="ctr">
              <a:defRPr sz="1725" b="0">
                <a:solidFill>
                  <a:srgbClr val="15232D"/>
                </a:solidFill>
                <a:latin typeface="Arial"/>
                <a:ea typeface="Arial"/>
                <a:cs typeface="Arial"/>
              </a:defRPr>
            </a:lvl3pPr>
            <a:lvl4pPr algn="ctr">
              <a:defRPr sz="1725" b="0">
                <a:solidFill>
                  <a:srgbClr val="15232D"/>
                </a:solidFill>
                <a:latin typeface="Arial"/>
                <a:ea typeface="Arial"/>
                <a:cs typeface="Arial"/>
              </a:defRPr>
            </a:lvl4pPr>
            <a:lvl5pPr algn="ctr">
              <a:defRPr sz="1725" b="0">
                <a:solidFill>
                  <a:srgbClr val="15232D"/>
                </a:solidFill>
                <a:latin typeface="Arial"/>
                <a:ea typeface="Arial"/>
                <a:cs typeface="Arial"/>
              </a:defRPr>
            </a:lvl5pPr>
            <a:lvl6pPr algn="ctr">
              <a:defRPr sz="1725" b="0">
                <a:solidFill>
                  <a:srgbClr val="15232D"/>
                </a:solidFill>
                <a:latin typeface="Arial"/>
                <a:ea typeface="Arial"/>
                <a:cs typeface="Arial"/>
              </a:defRPr>
            </a:lvl6pPr>
            <a:lvl7pPr algn="ctr">
              <a:defRPr sz="1725" b="0">
                <a:solidFill>
                  <a:srgbClr val="15232D"/>
                </a:solidFill>
                <a:latin typeface="Arial"/>
                <a:ea typeface="Arial"/>
                <a:cs typeface="Arial"/>
              </a:defRPr>
            </a:lvl7pPr>
            <a:lvl8pPr algn="ctr">
              <a:defRPr sz="1725" b="0">
                <a:solidFill>
                  <a:srgbClr val="15232D"/>
                </a:solidFill>
                <a:latin typeface="Arial"/>
                <a:ea typeface="Arial"/>
                <a:cs typeface="Arial"/>
              </a:defRPr>
            </a:lvl8pPr>
            <a:lvl9pPr algn="ctr">
              <a:defRPr sz="1725" b="0">
                <a:solidFill>
                  <a:srgbClr val="15232D"/>
                </a:solidFill>
                <a:latin typeface="Arial"/>
                <a:ea typeface="Arial"/>
                <a:cs typeface="Arial"/>
              </a:defRPr>
            </a:lvl9pPr>
          </a:lstStyle>
          <a:p xmlns:a="http://schemas.openxmlformats.org/drawingml/2006/main">
            <a:pPr algn="ctr">
              <a:defRPr sz="1725" b="0">
                <a:solidFill>
                  <a:srgbClr val="15232D"/>
                </a:solidFill>
                <a:latin typeface="Arial"/>
                <a:ea typeface="Arial"/>
                <a:cs typeface="Arial"/>
              </a:defRPr>
            </a:pPr>
            <a:r>
              <a:rPr sz="1725" b="0">
                <a:solidFill>
                  <a:srgbClr val="15232D"/>
                </a:solidFill>
                <a:latin typeface="Arial"/>
                <a:ea typeface="Arial"/>
                <a:cs typeface="Arial"/>
              </a:rPr>
              <a:t>User ID and</a:t>
            </a:r>
          </a:p>
          <a:p xmlns:a="http://schemas.openxmlformats.org/drawingml/2006/main">
            <a:pPr algn="ctr">
              <a:defRPr sz="1725" b="0">
                <a:solidFill>
                  <a:srgbClr val="15232D"/>
                </a:solidFill>
                <a:latin typeface="Arial"/>
                <a:ea typeface="Arial"/>
                <a:cs typeface="Arial"/>
              </a:defRPr>
            </a:pPr>
            <a:r>
              <a:rPr sz="1725" b="0">
                <a:solidFill>
                  <a:srgbClr val="15232D"/>
                </a:solidFill>
                <a:latin typeface="Arial"/>
                <a:ea typeface="Arial"/>
                <a:cs typeface="Arial"/>
              </a:rPr>
              <a:t>item ID</a:t>
            </a:r>
          </a:p>
        </p:txBody>
      </p:sp>
      <p:sp>
        <p:nvSpPr>
          <p:cNvPr id="6" name="paper-explicit-path">
            <a:extLst xmlns:a="http://schemas.openxmlformats.org/drawingml/2006/main">
              <a:ext uri="{FF2B5EF4-FFF2-40B4-BE49-F238E27FC236}">
                <a16:creationId xmlns:a16="http://schemas.microsoft.com/office/drawing/2014/main" id="{7DCFD912-6592-4D74-A4F7-FA318DC65234}"/>
              </a:ext>
            </a:extLst>
          </p:cNvPr>
          <p:cNvSpPr>
            <a:spLocks xmlns:a="http://schemas.openxmlformats.org/drawingml/2006/main" noGrp="1"/>
          </p:cNvSpPr>
          <p:nvPr/>
        </p:nvSpPr>
        <p:spPr>
          <a:xfrm xmlns:a="http://schemas.openxmlformats.org/drawingml/2006/main">
            <a:off x="3562350" y="1943100"/>
            <a:ext cx="2495550" cy="142875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Explicit coupling</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Local CNN features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Global product features</a:t>
            </a:r>
          </a:p>
        </p:txBody>
      </p:sp>
      <p:sp>
        <p:nvSpPr>
          <p:cNvPr id="7" name="paper-implicit-path">
            <a:extLst xmlns:a="http://schemas.openxmlformats.org/drawingml/2006/main">
              <a:ext uri="{FF2B5EF4-FFF2-40B4-BE49-F238E27FC236}">
                <a16:creationId xmlns:a16="http://schemas.microsoft.com/office/drawing/2014/main" id="{9DF4FC9F-8D9B-4EC5-B926-36786D27A2DA}"/>
              </a:ext>
            </a:extLst>
          </p:cNvPr>
          <p:cNvSpPr>
            <a:spLocks xmlns:a="http://schemas.openxmlformats.org/drawingml/2006/main" noGrp="1"/>
          </p:cNvSpPr>
          <p:nvPr/>
        </p:nvSpPr>
        <p:spPr>
          <a:xfrm xmlns:a="http://schemas.openxmlformats.org/drawingml/2006/main">
            <a:off x="3562350" y="3990975"/>
            <a:ext cx="2495550" cy="12192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DeepCF</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ID embeddings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Element product + MLP</a:t>
            </a:r>
          </a:p>
        </p:txBody>
      </p:sp>
      <p:sp>
        <p:nvSpPr>
          <p:cNvPr id="8" name="paper-fusion">
            <a:extLst xmlns:a="http://schemas.openxmlformats.org/drawingml/2006/main">
              <a:ext uri="{FF2B5EF4-FFF2-40B4-BE49-F238E27FC236}">
                <a16:creationId xmlns:a16="http://schemas.microsoft.com/office/drawing/2014/main" id="{77592DB1-E225-4D7A-A840-3B3E3D4E4D4E}"/>
              </a:ext>
            </a:extLst>
          </p:cNvPr>
          <p:cNvSpPr>
            <a:spLocks xmlns:a="http://schemas.openxmlformats.org/drawingml/2006/main" noGrp="1"/>
          </p:cNvSpPr>
          <p:nvPr/>
        </p:nvSpPr>
        <p:spPr>
          <a:xfrm xmlns:a="http://schemas.openxmlformats.org/drawingml/2006/main">
            <a:off x="6800850" y="2895600"/>
            <a:ext cx="1962150" cy="1524000"/>
          </a:xfrm>
          <a:prstGeom xmlns:a="http://schemas.openxmlformats.org/drawingml/2006/main" prst="rect">
            <a:avLst/>
          </a:prstGeom>
          <a:solidFill xmlns:a="http://schemas.openxmlformats.org/drawingml/2006/main">
            <a:srgbClr val="F3F6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Concatenate</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and learn a</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joint representation</a:t>
            </a:r>
          </a:p>
        </p:txBody>
      </p:sp>
      <p:sp>
        <p:nvSpPr>
          <p:cNvPr id="9" name="paper-output">
            <a:extLst xmlns:a="http://schemas.openxmlformats.org/drawingml/2006/main">
              <a:ext uri="{FF2B5EF4-FFF2-40B4-BE49-F238E27FC236}">
                <a16:creationId xmlns:a16="http://schemas.microsoft.com/office/drawing/2014/main" id="{5EF9507D-8123-40C7-87F2-8548603F0ACB}"/>
              </a:ext>
            </a:extLst>
          </p:cNvPr>
          <p:cNvSpPr>
            <a:spLocks xmlns:a="http://schemas.openxmlformats.org/drawingml/2006/main" noGrp="1"/>
          </p:cNvSpPr>
          <p:nvPr/>
        </p:nvSpPr>
        <p:spPr>
          <a:xfrm xmlns:a="http://schemas.openxmlformats.org/drawingml/2006/main">
            <a:off x="9410700" y="3028950"/>
            <a:ext cx="2133600" cy="12382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Recommendation</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score</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Top-N or rating</a:t>
            </a:r>
          </a:p>
        </p:txBody>
      </p:sp>
      <p:sp>
        <p:nvSpPr>
          <p:cNvPr id="15" name="diagram-label">
            <a:extLst xmlns:a="http://schemas.openxmlformats.org/drawingml/2006/main">
              <a:ext uri="{FF2B5EF4-FFF2-40B4-BE49-F238E27FC236}">
                <a16:creationId xmlns:a16="http://schemas.microsoft.com/office/drawing/2014/main" id="{A2B00577-02B5-4BCE-BF3E-BD7AF44CE06D}"/>
              </a:ext>
            </a:extLst>
          </p:cNvPr>
          <p:cNvSpPr>
            <a:spLocks xmlns:a="http://schemas.openxmlformats.org/drawingml/2006/main" noGrp="1"/>
          </p:cNvSpPr>
          <p:nvPr/>
        </p:nvSpPr>
        <p:spPr>
          <a:xfrm xmlns:a="http://schemas.openxmlformats.org/drawingml/2006/main">
            <a:off x="685800" y="1695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F6D76"/>
                </a:solidFill>
                <a:latin typeface="Arial"/>
                <a:ea typeface="Arial"/>
                <a:cs typeface="Arial"/>
              </a:defRPr>
            </a:defPPr>
            <a:lvl1pPr algn="l">
              <a:defRPr sz="1350" b="1">
                <a:solidFill>
                  <a:srgbClr val="5F6D76"/>
                </a:solidFill>
                <a:latin typeface="Arial"/>
                <a:ea typeface="Arial"/>
                <a:cs typeface="Arial"/>
              </a:defRPr>
            </a:lvl1pPr>
            <a:lvl2pPr algn="l">
              <a:defRPr sz="1350" b="1">
                <a:solidFill>
                  <a:srgbClr val="5F6D76"/>
                </a:solidFill>
                <a:latin typeface="Arial"/>
                <a:ea typeface="Arial"/>
                <a:cs typeface="Arial"/>
              </a:defRPr>
            </a:lvl2pPr>
            <a:lvl3pPr algn="l">
              <a:defRPr sz="1350" b="1">
                <a:solidFill>
                  <a:srgbClr val="5F6D76"/>
                </a:solidFill>
                <a:latin typeface="Arial"/>
                <a:ea typeface="Arial"/>
                <a:cs typeface="Arial"/>
              </a:defRPr>
            </a:lvl3pPr>
            <a:lvl4pPr algn="l">
              <a:defRPr sz="1350" b="1">
                <a:solidFill>
                  <a:srgbClr val="5F6D76"/>
                </a:solidFill>
                <a:latin typeface="Arial"/>
                <a:ea typeface="Arial"/>
                <a:cs typeface="Arial"/>
              </a:defRPr>
            </a:lvl4pPr>
            <a:lvl5pPr algn="l">
              <a:defRPr sz="1350" b="1">
                <a:solidFill>
                  <a:srgbClr val="5F6D76"/>
                </a:solidFill>
                <a:latin typeface="Arial"/>
                <a:ea typeface="Arial"/>
                <a:cs typeface="Arial"/>
              </a:defRPr>
            </a:lvl5pPr>
            <a:lvl6pPr algn="l">
              <a:defRPr sz="1350" b="1">
                <a:solidFill>
                  <a:srgbClr val="5F6D76"/>
                </a:solidFill>
                <a:latin typeface="Arial"/>
                <a:ea typeface="Arial"/>
                <a:cs typeface="Arial"/>
              </a:defRPr>
            </a:lvl6pPr>
            <a:lvl7pPr algn="l">
              <a:defRPr sz="1350" b="1">
                <a:solidFill>
                  <a:srgbClr val="5F6D76"/>
                </a:solidFill>
                <a:latin typeface="Arial"/>
                <a:ea typeface="Arial"/>
                <a:cs typeface="Arial"/>
              </a:defRPr>
            </a:lvl7pPr>
            <a:lvl8pPr algn="l">
              <a:defRPr sz="1350" b="1">
                <a:solidFill>
                  <a:srgbClr val="5F6D76"/>
                </a:solidFill>
                <a:latin typeface="Arial"/>
                <a:ea typeface="Arial"/>
                <a:cs typeface="Arial"/>
              </a:defRPr>
            </a:lvl8pPr>
            <a:lvl9pPr algn="l">
              <a:defRPr sz="1350" b="1">
                <a:solidFill>
                  <a:srgbClr val="5F6D76"/>
                </a:solidFill>
                <a:latin typeface="Arial"/>
                <a:ea typeface="Arial"/>
                <a:cs typeface="Arial"/>
              </a:defRPr>
            </a:lvl9pPr>
          </a:lstStyle>
          <a:p xmlns:a="http://schemas.openxmlformats.org/drawingml/2006/main">
            <a:pPr algn="l">
              <a:defRPr sz="1350" b="1">
                <a:solidFill>
                  <a:srgbClr val="5F6D76"/>
                </a:solidFill>
                <a:latin typeface="Arial"/>
                <a:ea typeface="Arial"/>
                <a:cs typeface="Arial"/>
              </a:defRPr>
            </a:pPr>
            <a:r>
              <a:rPr sz="1350" b="1">
                <a:solidFill>
                  <a:srgbClr val="5F6D76"/>
                </a:solidFill>
                <a:latin typeface="Arial"/>
                <a:ea typeface="Arial"/>
                <a:cs typeface="Arial"/>
              </a:rPr>
              <a:t>Paper framework</a:t>
            </a:r>
          </a:p>
        </p:txBody>
      </p:sp>
    </p:spTree>
    <p:extLst>
      <p:ext uri="{BB962C8B-B14F-4D97-AF65-F5344CB8AC3E}">
        <p14:creationId xmlns:p14="http://schemas.microsoft.com/office/powerpoint/2010/main" val="7575368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1FF6E7A6-DFA8-4620-929B-0DC8F3B1F887}"/>
              </a:ext>
            </a:extLst>
          </p:cNvPr>
          <p:cNvCxnSpPr>
            <a:stCxn xmlns:a="http://schemas.openxmlformats.org/drawingml/2006/main" id="8" idx="3"/>
            <a:endCxn xmlns:a="http://schemas.openxmlformats.org/drawingml/2006/main" id="9" idx="1"/>
          </p:cNvCxnSpPr>
          <p:nvPr/>
        </p:nvCxnSpPr>
        <p:spPr>
          <a:xfrm xmlns:a="http://schemas.openxmlformats.org/drawingml/2006/main" flipV="1">
            <a:off x="8858250" y="3857625"/>
            <a:ext cx="742950" cy="9525"/>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6A451CD9-300E-4DFB-B10A-4ABAF8BD2AB9}"/>
              </a:ext>
            </a:extLst>
          </p:cNvPr>
          <p:cNvCxnSpPr>
            <a:stCxn xmlns:a="http://schemas.openxmlformats.org/drawingml/2006/main" id="7" idx="3"/>
            <a:endCxn xmlns:a="http://schemas.openxmlformats.org/drawingml/2006/main" id="8" idx="1"/>
          </p:cNvCxnSpPr>
          <p:nvPr/>
        </p:nvCxnSpPr>
        <p:spPr>
          <a:xfrm xmlns:a="http://schemas.openxmlformats.org/drawingml/2006/main" flipV="1">
            <a:off x="5943600" y="3867150"/>
            <a:ext cx="762000" cy="150495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2B6046FC-168A-41FC-8335-44795E3422C1}"/>
              </a:ext>
            </a:extLst>
          </p:cNvPr>
          <p:cNvCxnSpPr>
            <a:stCxn xmlns:a="http://schemas.openxmlformats.org/drawingml/2006/main" id="5" idx="3"/>
            <a:endCxn xmlns:a="http://schemas.openxmlformats.org/drawingml/2006/main" id="8" idx="1"/>
          </p:cNvCxnSpPr>
          <p:nvPr/>
        </p:nvCxnSpPr>
        <p:spPr>
          <a:xfrm xmlns:a="http://schemas.openxmlformats.org/drawingml/2006/main">
            <a:off x="5943600" y="3219450"/>
            <a:ext cx="762000" cy="64770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B24ED923-0D58-4D5E-9555-F80C3B27AEFA}"/>
              </a:ext>
            </a:extLst>
          </p:cNvPr>
          <p:cNvCxnSpPr>
            <a:stCxn xmlns:a="http://schemas.openxmlformats.org/drawingml/2006/main" id="6" idx="3"/>
            <a:endCxn xmlns:a="http://schemas.openxmlformats.org/drawingml/2006/main" id="7" idx="1"/>
          </p:cNvCxnSpPr>
          <p:nvPr/>
        </p:nvCxnSpPr>
        <p:spPr>
          <a:xfrm xmlns:a="http://schemas.openxmlformats.org/drawingml/2006/main">
            <a:off x="3019425" y="5372100"/>
            <a:ext cx="542925" cy="0"/>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1583F638-B925-4882-BF58-3127F4CBF332}"/>
              </a:ext>
            </a:extLst>
          </p:cNvPr>
          <p:cNvCxnSpPr>
            <a:stCxn xmlns:a="http://schemas.openxmlformats.org/drawingml/2006/main" id="4" idx="3"/>
            <a:endCxn xmlns:a="http://schemas.openxmlformats.org/drawingml/2006/main" id="5" idx="1"/>
          </p:cNvCxnSpPr>
          <p:nvPr/>
        </p:nvCxnSpPr>
        <p:spPr>
          <a:xfrm xmlns:a="http://schemas.openxmlformats.org/drawingml/2006/main" flipV="1">
            <a:off x="3019425" y="3219450"/>
            <a:ext cx="542925" cy="95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sp>
        <p:nvSpPr>
          <p:cNvPr id="16" name="slide-title">
            <a:extLst xmlns:a="http://schemas.openxmlformats.org/drawingml/2006/main">
              <a:ext uri="{FF2B5EF4-FFF2-40B4-BE49-F238E27FC236}">
                <a16:creationId xmlns:a16="http://schemas.microsoft.com/office/drawing/2014/main" id="{1036A927-78E3-4470-9791-C40897E296E4}"/>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Feature inputs and representations</a:t>
            </a:r>
          </a:p>
        </p:txBody>
      </p:sp>
      <p:sp>
        <p:nvSpPr>
          <p:cNvPr id="2" name="divider">
            <a:extLst xmlns:a="http://schemas.openxmlformats.org/drawingml/2006/main">
              <a:ext uri="{FF2B5EF4-FFF2-40B4-BE49-F238E27FC236}">
                <a16:creationId xmlns:a16="http://schemas.microsoft.com/office/drawing/2014/main" id="{A285D3A0-CDC9-4397-BAFF-000806E42332}"/>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78DE8042-31FF-4B56-AD75-5BEF449B2F8B}"/>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The project uses profile and genre metadata for explicit coupling</a:t>
            </a:r>
          </a:p>
        </p:txBody>
      </p:sp>
      <p:sp>
        <p:nvSpPr>
          <p:cNvPr id="4" name="user-profile-fields">
            <a:extLst xmlns:a="http://schemas.openxmlformats.org/drawingml/2006/main">
              <a:ext uri="{FF2B5EF4-FFF2-40B4-BE49-F238E27FC236}">
                <a16:creationId xmlns:a16="http://schemas.microsoft.com/office/drawing/2014/main" id="{D7D8D1B4-61C2-49D6-A5EB-9B48A279D59A}"/>
              </a:ext>
            </a:extLst>
          </p:cNvPr>
          <p:cNvSpPr>
            <a:spLocks xmlns:a="http://schemas.openxmlformats.org/drawingml/2006/main" noGrp="1"/>
          </p:cNvSpPr>
          <p:nvPr/>
        </p:nvSpPr>
        <p:spPr>
          <a:xfrm xmlns:a="http://schemas.openxmlformats.org/drawingml/2006/main">
            <a:off x="685800" y="2019300"/>
            <a:ext cx="2333625" cy="24193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User profile fields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Gender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Age group</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Occupation</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ZIP code</a:t>
            </a:r>
          </a:p>
        </p:txBody>
      </p:sp>
      <p:sp>
        <p:nvSpPr>
          <p:cNvPr id="5" name="user-side-representation">
            <a:extLst xmlns:a="http://schemas.openxmlformats.org/drawingml/2006/main">
              <a:ext uri="{FF2B5EF4-FFF2-40B4-BE49-F238E27FC236}">
                <a16:creationId xmlns:a16="http://schemas.microsoft.com/office/drawing/2014/main" id="{7CA91B7E-D8A4-4EC1-9242-20619E79571A}"/>
              </a:ext>
            </a:extLst>
          </p:cNvPr>
          <p:cNvSpPr>
            <a:spLocks xmlns:a="http://schemas.openxmlformats.org/drawingml/2006/main" noGrp="1"/>
          </p:cNvSpPr>
          <p:nvPr/>
        </p:nvSpPr>
        <p:spPr>
          <a:xfrm xmlns:a="http://schemas.openxmlformats.org/drawingml/2006/main">
            <a:off x="3562350" y="2143125"/>
            <a:ext cx="2381250" cy="215265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Four learned</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8-dimensional</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field embeddings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Concatenate, then</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project to 8D</a:t>
            </a:r>
          </a:p>
        </p:txBody>
      </p:sp>
      <p:sp>
        <p:nvSpPr>
          <p:cNvPr id="6" name="item-genre-fields">
            <a:extLst xmlns:a="http://schemas.openxmlformats.org/drawingml/2006/main">
              <a:ext uri="{FF2B5EF4-FFF2-40B4-BE49-F238E27FC236}">
                <a16:creationId xmlns:a16="http://schemas.microsoft.com/office/drawing/2014/main" id="{7FB9A8F2-4C09-456A-A581-FC434808E0A9}"/>
              </a:ext>
            </a:extLst>
          </p:cNvPr>
          <p:cNvSpPr>
            <a:spLocks xmlns:a="http://schemas.openxmlformats.org/drawingml/2006/main" noGrp="1"/>
          </p:cNvSpPr>
          <p:nvPr/>
        </p:nvSpPr>
        <p:spPr>
          <a:xfrm xmlns:a="http://schemas.openxmlformats.org/drawingml/2006/main">
            <a:off x="685800" y="4895850"/>
            <a:ext cx="2333625" cy="9525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18 movie genre flags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Multi-hot item vector</a:t>
            </a:r>
          </a:p>
        </p:txBody>
      </p:sp>
      <p:sp>
        <p:nvSpPr>
          <p:cNvPr id="7" name="item-side-representation">
            <a:extLst xmlns:a="http://schemas.openxmlformats.org/drawingml/2006/main">
              <a:ext uri="{FF2B5EF4-FFF2-40B4-BE49-F238E27FC236}">
                <a16:creationId xmlns:a16="http://schemas.microsoft.com/office/drawing/2014/main" id="{9C2EDAF6-017D-4FF7-B453-6448E598B769}"/>
              </a:ext>
            </a:extLst>
          </p:cNvPr>
          <p:cNvSpPr>
            <a:spLocks xmlns:a="http://schemas.openxmlformats.org/drawingml/2006/main" noGrp="1"/>
          </p:cNvSpPr>
          <p:nvPr/>
        </p:nvSpPr>
        <p:spPr>
          <a:xfrm xmlns:a="http://schemas.openxmlformats.org/drawingml/2006/main">
            <a:off x="3562350" y="4857750"/>
            <a:ext cx="2381250" cy="102870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Project the genre vector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to an 8-dimensional</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item side vector</a:t>
            </a:r>
          </a:p>
        </p:txBody>
      </p:sp>
      <p:sp>
        <p:nvSpPr>
          <p:cNvPr id="8" name="side-vector-pair">
            <a:extLst xmlns:a="http://schemas.openxmlformats.org/drawingml/2006/main">
              <a:ext uri="{FF2B5EF4-FFF2-40B4-BE49-F238E27FC236}">
                <a16:creationId xmlns:a16="http://schemas.microsoft.com/office/drawing/2014/main" id="{A1EA5DD0-8F06-4856-84F9-08DF954E4CB4}"/>
              </a:ext>
            </a:extLst>
          </p:cNvPr>
          <p:cNvSpPr>
            <a:spLocks xmlns:a="http://schemas.openxmlformats.org/drawingml/2006/main" noGrp="1"/>
          </p:cNvSpPr>
          <p:nvPr/>
        </p:nvSpPr>
        <p:spPr>
          <a:xfrm xmlns:a="http://schemas.openxmlformats.org/drawingml/2006/main">
            <a:off x="6705600" y="3028950"/>
            <a:ext cx="2152650" cy="1676400"/>
          </a:xfrm>
          <a:prstGeom xmlns:a="http://schemas.openxmlformats.org/drawingml/2006/main" prst="rect">
            <a:avLst/>
          </a:prstGeom>
          <a:solidFill xmlns:a="http://schemas.openxmlformats.org/drawingml/2006/main">
            <a:srgbClr val="F3F6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User side vector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 values</a:t>
            </a:r>
          </a:p>
          <a:p xmlns:a="http://schemas.openxmlformats.org/drawingml/2006/main">
            <a:r>
              <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Item side vector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 values</a:t>
            </a:r>
          </a:p>
        </p:txBody>
      </p:sp>
      <p:sp>
        <p:nvSpPr>
          <p:cNvPr id="9" name="outer-product-result">
            <a:extLst xmlns:a="http://schemas.openxmlformats.org/drawingml/2006/main">
              <a:ext uri="{FF2B5EF4-FFF2-40B4-BE49-F238E27FC236}">
                <a16:creationId xmlns:a16="http://schemas.microsoft.com/office/drawing/2014/main" id="{EAC5D7EE-E280-4DA8-8E14-47C847309CD2}"/>
              </a:ext>
            </a:extLst>
          </p:cNvPr>
          <p:cNvSpPr>
            <a:spLocks xmlns:a="http://schemas.openxmlformats.org/drawingml/2006/main" noGrp="1"/>
          </p:cNvSpPr>
          <p:nvPr/>
        </p:nvSpPr>
        <p:spPr>
          <a:xfrm xmlns:a="http://schemas.openxmlformats.org/drawingml/2006/main">
            <a:off x="9601200" y="3181350"/>
            <a:ext cx="1943100" cy="13525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650" b="0">
                <a:solidFill>
                  <a:srgbClr val="15232D"/>
                </a:solidFill>
                <a:latin typeface="Arial"/>
                <a:ea typeface="Arial"/>
                <a:cs typeface="Arial"/>
              </a:defRPr>
            </a:defPPr>
            <a:lvl1pPr algn="ctr">
              <a:defRPr sz="1650" b="0">
                <a:solidFill>
                  <a:srgbClr val="15232D"/>
                </a:solidFill>
                <a:latin typeface="Arial"/>
                <a:ea typeface="Arial"/>
                <a:cs typeface="Arial"/>
              </a:defRPr>
            </a:lvl1pPr>
            <a:lvl2pPr algn="ctr">
              <a:defRPr sz="1650" b="0">
                <a:solidFill>
                  <a:srgbClr val="15232D"/>
                </a:solidFill>
                <a:latin typeface="Arial"/>
                <a:ea typeface="Arial"/>
                <a:cs typeface="Arial"/>
              </a:defRPr>
            </a:lvl2pPr>
            <a:lvl3pPr algn="ctr">
              <a:defRPr sz="1650" b="0">
                <a:solidFill>
                  <a:srgbClr val="15232D"/>
                </a:solidFill>
                <a:latin typeface="Arial"/>
                <a:ea typeface="Arial"/>
                <a:cs typeface="Arial"/>
              </a:defRPr>
            </a:lvl3pPr>
            <a:lvl4pPr algn="ctr">
              <a:defRPr sz="1650" b="0">
                <a:solidFill>
                  <a:srgbClr val="15232D"/>
                </a:solidFill>
                <a:latin typeface="Arial"/>
                <a:ea typeface="Arial"/>
                <a:cs typeface="Arial"/>
              </a:defRPr>
            </a:lvl4pPr>
            <a:lvl5pPr algn="ctr">
              <a:defRPr sz="1650" b="0">
                <a:solidFill>
                  <a:srgbClr val="15232D"/>
                </a:solidFill>
                <a:latin typeface="Arial"/>
                <a:ea typeface="Arial"/>
                <a:cs typeface="Arial"/>
              </a:defRPr>
            </a:lvl5pPr>
            <a:lvl6pPr algn="ctr">
              <a:defRPr sz="1650" b="0">
                <a:solidFill>
                  <a:srgbClr val="15232D"/>
                </a:solidFill>
                <a:latin typeface="Arial"/>
                <a:ea typeface="Arial"/>
                <a:cs typeface="Arial"/>
              </a:defRPr>
            </a:lvl6pPr>
            <a:lvl7pPr algn="ctr">
              <a:defRPr sz="1650" b="0">
                <a:solidFill>
                  <a:srgbClr val="15232D"/>
                </a:solidFill>
                <a:latin typeface="Arial"/>
                <a:ea typeface="Arial"/>
                <a:cs typeface="Arial"/>
              </a:defRPr>
            </a:lvl7pPr>
            <a:lvl8pPr algn="ctr">
              <a:defRPr sz="1650" b="0">
                <a:solidFill>
                  <a:srgbClr val="15232D"/>
                </a:solidFill>
                <a:latin typeface="Arial"/>
                <a:ea typeface="Arial"/>
                <a:cs typeface="Arial"/>
              </a:defRPr>
            </a:lvl8pPr>
            <a:lvl9pPr algn="ctr">
              <a:defRPr sz="1650" b="0">
                <a:solidFill>
                  <a:srgbClr val="15232D"/>
                </a:solidFill>
                <a:latin typeface="Arial"/>
                <a:ea typeface="Arial"/>
                <a:cs typeface="Arial"/>
              </a:defRPr>
            </a:lvl9pPr>
          </a:lstStyle>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Outer product</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8 x 8 interaction</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matrix</a:t>
            </a:r>
          </a:p>
        </p:txBody>
      </p:sp>
      <p:sp>
        <p:nvSpPr>
          <p:cNvPr id="15" name="feature-note">
            <a:extLst xmlns:a="http://schemas.openxmlformats.org/drawingml/2006/main">
              <a:ext uri="{FF2B5EF4-FFF2-40B4-BE49-F238E27FC236}">
                <a16:creationId xmlns:a16="http://schemas.microsoft.com/office/drawing/2014/main" id="{9CAECC9F-217C-452C-A657-F0D0A2E1C755}"/>
              </a:ext>
            </a:extLst>
          </p:cNvPr>
          <p:cNvSpPr>
            <a:spLocks xmlns:a="http://schemas.openxmlformats.org/drawingml/2006/main" noGrp="1"/>
          </p:cNvSpPr>
          <p:nvPr/>
        </p:nvSpPr>
        <p:spPr>
          <a:xfrm xmlns:a="http://schemas.openxmlformats.org/drawingml/2006/main">
            <a:off x="6705600" y="510540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a:solidFill>
                  <a:srgbClr val="5F6D76"/>
                </a:solidFill>
                <a:latin typeface="Arial"/>
                <a:ea typeface="Arial"/>
                <a:cs typeface="Arial"/>
              </a:defRPr>
            </a:defPPr>
            <a:lvl1pPr algn="l">
              <a:defRPr sz="1500">
                <a:solidFill>
                  <a:srgbClr val="5F6D76"/>
                </a:solidFill>
                <a:latin typeface="Arial"/>
                <a:ea typeface="Arial"/>
                <a:cs typeface="Arial"/>
              </a:defRPr>
            </a:lvl1pPr>
            <a:lvl2pPr algn="l">
              <a:defRPr sz="1500">
                <a:solidFill>
                  <a:srgbClr val="5F6D76"/>
                </a:solidFill>
                <a:latin typeface="Arial"/>
                <a:ea typeface="Arial"/>
                <a:cs typeface="Arial"/>
              </a:defRPr>
            </a:lvl2pPr>
            <a:lvl3pPr algn="l">
              <a:defRPr sz="1500">
                <a:solidFill>
                  <a:srgbClr val="5F6D76"/>
                </a:solidFill>
                <a:latin typeface="Arial"/>
                <a:ea typeface="Arial"/>
                <a:cs typeface="Arial"/>
              </a:defRPr>
            </a:lvl3pPr>
            <a:lvl4pPr algn="l">
              <a:defRPr sz="1500">
                <a:solidFill>
                  <a:srgbClr val="5F6D76"/>
                </a:solidFill>
                <a:latin typeface="Arial"/>
                <a:ea typeface="Arial"/>
                <a:cs typeface="Arial"/>
              </a:defRPr>
            </a:lvl4pPr>
            <a:lvl5pPr algn="l">
              <a:defRPr sz="1500">
                <a:solidFill>
                  <a:srgbClr val="5F6D76"/>
                </a:solidFill>
                <a:latin typeface="Arial"/>
                <a:ea typeface="Arial"/>
                <a:cs typeface="Arial"/>
              </a:defRPr>
            </a:lvl5pPr>
            <a:lvl6pPr algn="l">
              <a:defRPr sz="1500">
                <a:solidFill>
                  <a:srgbClr val="5F6D76"/>
                </a:solidFill>
                <a:latin typeface="Arial"/>
                <a:ea typeface="Arial"/>
                <a:cs typeface="Arial"/>
              </a:defRPr>
            </a:lvl6pPr>
            <a:lvl7pPr algn="l">
              <a:defRPr sz="1500">
                <a:solidFill>
                  <a:srgbClr val="5F6D76"/>
                </a:solidFill>
                <a:latin typeface="Arial"/>
                <a:ea typeface="Arial"/>
                <a:cs typeface="Arial"/>
              </a:defRPr>
            </a:lvl7pPr>
            <a:lvl8pPr algn="l">
              <a:defRPr sz="1500">
                <a:solidFill>
                  <a:srgbClr val="5F6D76"/>
                </a:solidFill>
                <a:latin typeface="Arial"/>
                <a:ea typeface="Arial"/>
                <a:cs typeface="Arial"/>
              </a:defRPr>
            </a:lvl8pPr>
            <a:lvl9pPr algn="l">
              <a:defRPr sz="1500">
                <a:solidFill>
                  <a:srgbClr val="5F6D76"/>
                </a:solidFill>
                <a:latin typeface="Arial"/>
                <a:ea typeface="Arial"/>
                <a:cs typeface="Arial"/>
              </a:defRPr>
            </a:lvl9pPr>
          </a:lstStyle>
          <a:p xmlns:a="http://schemas.openxmlformats.org/drawingml/2006/main">
            <a:pPr algn="l">
              <a:defRPr sz="1500">
                <a:solidFill>
                  <a:srgbClr val="5F6D76"/>
                </a:solidFill>
                <a:latin typeface="Arial"/>
                <a:ea typeface="Arial"/>
                <a:cs typeface="Arial"/>
              </a:defRPr>
            </a:pPr>
            <a:r>
              <a:rPr sz="1500">
                <a:solidFill>
                  <a:srgbClr val="5F6D76"/>
                </a:solidFill>
                <a:latin typeface="Arial"/>
                <a:ea typeface="Arial"/>
                <a:cs typeface="Arial"/>
              </a:rPr>
              <a:t>ZIP values remain categorical strings so leading zeros are retained. No review text or images enter this implementation.</a:t>
            </a:r>
          </a:p>
        </p:txBody>
      </p:sp>
    </p:spTree>
    <p:extLst>
      <p:ext uri="{BB962C8B-B14F-4D97-AF65-F5344CB8AC3E}">
        <p14:creationId xmlns:p14="http://schemas.microsoft.com/office/powerpoint/2010/main" val="10078209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7D89151D-347A-4AD0-89DB-0EA0DBE5820E}"/>
              </a:ext>
            </a:extLst>
          </p:cNvPr>
          <p:cNvCxnSpPr>
            <a:stCxn xmlns:a="http://schemas.openxmlformats.org/drawingml/2006/main" id="9" idx="3"/>
            <a:endCxn xmlns:a="http://schemas.openxmlformats.org/drawingml/2006/main" id="10" idx="1"/>
          </p:cNvCxnSpPr>
          <p:nvPr/>
        </p:nvCxnSpPr>
        <p:spPr>
          <a:xfrm xmlns:a="http://schemas.openxmlformats.org/drawingml/2006/main" flipV="1">
            <a:off x="7715250" y="3743325"/>
            <a:ext cx="1066800" cy="1771650"/>
          </a:xfrm>
          <a:prstGeom xmlns:a="http://schemas.openxmlformats.org/drawingml/2006/main" prst="bentConnector3">
            <a:avLst>
              <a:gd name="adj1" fmla="val 50000"/>
            </a:avLst>
          </a:prstGeom>
          <a:ln xmlns:a="http://schemas.openxmlformats.org/drawingml/2006/main" w="19050">
            <a:solidFill>
              <a:srgbClr val="C97725"/>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A7285FBA-A46D-4B7C-8EEC-C4790E579B9A}"/>
              </a:ext>
            </a:extLst>
          </p:cNvPr>
          <p:cNvCxnSpPr>
            <a:stCxn xmlns:a="http://schemas.openxmlformats.org/drawingml/2006/main" id="8" idx="3"/>
            <a:endCxn xmlns:a="http://schemas.openxmlformats.org/drawingml/2006/main" id="10" idx="1"/>
          </p:cNvCxnSpPr>
          <p:nvPr/>
        </p:nvCxnSpPr>
        <p:spPr>
          <a:xfrm xmlns:a="http://schemas.openxmlformats.org/drawingml/2006/main" flipV="1">
            <a:off x="7715250" y="3743325"/>
            <a:ext cx="1066800" cy="457200"/>
          </a:xfrm>
          <a:prstGeom xmlns:a="http://schemas.openxmlformats.org/drawingml/2006/main" prst="bentConnector3">
            <a:avLst>
              <a:gd name="adj1" fmla="val 50000"/>
            </a:avLst>
          </a:prstGeom>
          <a:ln xmlns:a="http://schemas.openxmlformats.org/drawingml/2006/main" w="19050">
            <a:solidFill>
              <a:srgbClr val="147C74"/>
            </a:solidFill>
            <a:prstDash val="solid"/>
            <a:headEnd type="none" w="med" len="med"/>
            <a:tailEnd type="triangle" w="sm" len="sm"/>
          </a:ln>
        </p:spPr>
      </p:cxnSp>
      <p:cxnSp>
        <p:nvCxnSpPr>
          <p:cNvPr id="15" name="">
            <a:extLst xmlns:a="http://schemas.openxmlformats.org/drawingml/2006/main">
              <a:ext uri="{FF2B5EF4-FFF2-40B4-BE49-F238E27FC236}">
                <a16:creationId xmlns:a16="http://schemas.microsoft.com/office/drawing/2014/main" id="{8EC30ECC-E6BB-4B68-9B7E-CC00A57A37F7}"/>
              </a:ext>
            </a:extLst>
          </p:cNvPr>
          <p:cNvCxnSpPr>
            <a:stCxn xmlns:a="http://schemas.openxmlformats.org/drawingml/2006/main" id="6" idx="2"/>
            <a:endCxn xmlns:a="http://schemas.openxmlformats.org/drawingml/2006/main" id="9" idx="1"/>
          </p:cNvCxnSpPr>
          <p:nvPr/>
        </p:nvCxnSpPr>
        <p:spPr>
          <a:xfrm xmlns:a="http://schemas.openxmlformats.org/drawingml/2006/main">
            <a:off x="3686175" y="4133850"/>
            <a:ext cx="1609725" cy="1381125"/>
          </a:xfrm>
          <a:prstGeom xmlns:a="http://schemas.openxmlformats.org/drawingml/2006/main" prst="bentConnector5">
            <a:avLst>
              <a:gd name="adj1" fmla="val 0"/>
              <a:gd name="adj2" fmla="val 16552"/>
              <a:gd name="adj3" fmla="val 85799"/>
            </a:avLst>
          </a:prstGeom>
          <a:ln xmlns:a="http://schemas.openxmlformats.org/drawingml/2006/main" w="19050">
            <a:solidFill>
              <a:srgbClr val="C97725"/>
            </a:solidFill>
            <a:prstDash val="solid"/>
            <a:headEnd type="none" w="med" len="med"/>
            <a:tailEnd type="triangle" w="sm" len="sm"/>
          </a:ln>
        </p:spPr>
      </p:cxnSp>
      <p:cxnSp>
        <p:nvCxnSpPr>
          <p:cNvPr id="14" name="">
            <a:extLst xmlns:a="http://schemas.openxmlformats.org/drawingml/2006/main">
              <a:ext uri="{FF2B5EF4-FFF2-40B4-BE49-F238E27FC236}">
                <a16:creationId xmlns:a16="http://schemas.microsoft.com/office/drawing/2014/main" id="{95F94F88-53AD-4CE3-A76C-FCD4E623D305}"/>
              </a:ext>
            </a:extLst>
          </p:cNvPr>
          <p:cNvCxnSpPr>
            <a:stCxn xmlns:a="http://schemas.openxmlformats.org/drawingml/2006/main" id="7" idx="2"/>
            <a:endCxn xmlns:a="http://schemas.openxmlformats.org/drawingml/2006/main" id="8" idx="0"/>
          </p:cNvCxnSpPr>
          <p:nvPr/>
        </p:nvCxnSpPr>
        <p:spPr>
          <a:xfrm xmlns:a="http://schemas.openxmlformats.org/drawingml/2006/main">
            <a:off x="6505575" y="3200400"/>
            <a:ext cx="0" cy="419100"/>
          </a:xfrm>
          <a:prstGeom xmlns:a="http://schemas.openxmlformats.org/drawingml/2006/main" prst="straightConnector1">
            <a:avLst/>
          </a:prstGeom>
          <a:ln xmlns:a="http://schemas.openxmlformats.org/drawingml/2006/main" w="19050">
            <a:solidFill>
              <a:srgbClr val="147C74"/>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6AFCF85D-2F5F-4F10-85F1-E7E4B9A3D0B0}"/>
              </a:ext>
            </a:extLst>
          </p:cNvPr>
          <p:cNvCxnSpPr>
            <a:stCxn xmlns:a="http://schemas.openxmlformats.org/drawingml/2006/main" id="6" idx="3"/>
            <a:endCxn xmlns:a="http://schemas.openxmlformats.org/drawingml/2006/main" id="7" idx="1"/>
          </p:cNvCxnSpPr>
          <p:nvPr/>
        </p:nvCxnSpPr>
        <p:spPr>
          <a:xfrm xmlns:a="http://schemas.openxmlformats.org/drawingml/2006/main" flipV="1">
            <a:off x="4648200" y="2571750"/>
            <a:ext cx="647700" cy="9620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089FD802-4E6F-43E7-89CA-71B52FD7A0B1}"/>
              </a:ext>
            </a:extLst>
          </p:cNvPr>
          <p:cNvCxnSpPr>
            <a:stCxn xmlns:a="http://schemas.openxmlformats.org/drawingml/2006/main" id="5" idx="3"/>
            <a:endCxn xmlns:a="http://schemas.openxmlformats.org/drawingml/2006/main" id="6" idx="1"/>
          </p:cNvCxnSpPr>
          <p:nvPr/>
        </p:nvCxnSpPr>
        <p:spPr>
          <a:xfrm xmlns:a="http://schemas.openxmlformats.org/drawingml/2006/main" flipV="1">
            <a:off x="2190750" y="3533775"/>
            <a:ext cx="533400" cy="83820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2944AE24-2AA2-4926-992E-6B215DE26C21}"/>
              </a:ext>
            </a:extLst>
          </p:cNvPr>
          <p:cNvCxnSpPr>
            <a:stCxn xmlns:a="http://schemas.openxmlformats.org/drawingml/2006/main" id="4" idx="3"/>
            <a:endCxn xmlns:a="http://schemas.openxmlformats.org/drawingml/2006/main" id="6" idx="1"/>
          </p:cNvCxnSpPr>
          <p:nvPr/>
        </p:nvCxnSpPr>
        <p:spPr>
          <a:xfrm xmlns:a="http://schemas.openxmlformats.org/drawingml/2006/main">
            <a:off x="2190750" y="2790825"/>
            <a:ext cx="533400" cy="74295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sp>
        <p:nvSpPr>
          <p:cNvPr id="19" name="slide-title">
            <a:extLst xmlns:a="http://schemas.openxmlformats.org/drawingml/2006/main">
              <a:ext uri="{FF2B5EF4-FFF2-40B4-BE49-F238E27FC236}">
                <a16:creationId xmlns:a16="http://schemas.microsoft.com/office/drawing/2014/main" id="{2BD6DBE3-90DE-4783-B342-09571C3D7888}"/>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The explicit coupling branch</a:t>
            </a:r>
          </a:p>
        </p:txBody>
      </p:sp>
      <p:sp>
        <p:nvSpPr>
          <p:cNvPr id="2" name="divider">
            <a:extLst xmlns:a="http://schemas.openxmlformats.org/drawingml/2006/main">
              <a:ext uri="{FF2B5EF4-FFF2-40B4-BE49-F238E27FC236}">
                <a16:creationId xmlns:a16="http://schemas.microsoft.com/office/drawing/2014/main" id="{2CA38795-49CC-4A6B-A548-98AFF685C81C}"/>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BEBC8507-0E67-4A39-88C9-2DB793CE6E09}"/>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Outer products expose user-feature by item-feature interactions</a:t>
            </a:r>
          </a:p>
        </p:txBody>
      </p:sp>
      <p:sp>
        <p:nvSpPr>
          <p:cNvPr id="4" name="explicit-user-vector">
            <a:extLst xmlns:a="http://schemas.openxmlformats.org/drawingml/2006/main">
              <a:ext uri="{FF2B5EF4-FFF2-40B4-BE49-F238E27FC236}">
                <a16:creationId xmlns:a16="http://schemas.microsoft.com/office/drawing/2014/main" id="{8179B8D0-8EFB-4803-B1D3-5BC355588B18}"/>
              </a:ext>
            </a:extLst>
          </p:cNvPr>
          <p:cNvSpPr>
            <a:spLocks xmlns:a="http://schemas.openxmlformats.org/drawingml/2006/main" noGrp="1"/>
          </p:cNvSpPr>
          <p:nvPr/>
        </p:nvSpPr>
        <p:spPr>
          <a:xfrm xmlns:a="http://schemas.openxmlformats.org/drawingml/2006/main">
            <a:off x="571500" y="2381250"/>
            <a:ext cx="1619250" cy="8191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99159"/>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User side vector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 values</a:t>
            </a:r>
          </a:p>
        </p:txBody>
      </p:sp>
      <p:sp>
        <p:nvSpPr>
          <p:cNvPr id="5" name="explicit-item-vector">
            <a:extLst xmlns:a="http://schemas.openxmlformats.org/drawingml/2006/main">
              <a:ext uri="{FF2B5EF4-FFF2-40B4-BE49-F238E27FC236}">
                <a16:creationId xmlns:a16="http://schemas.microsoft.com/office/drawing/2014/main" id="{98037330-A9A4-4AFE-9B63-AC83867B5FBD}"/>
              </a:ext>
            </a:extLst>
          </p:cNvPr>
          <p:cNvSpPr>
            <a:spLocks xmlns:a="http://schemas.openxmlformats.org/drawingml/2006/main" noGrp="1"/>
          </p:cNvSpPr>
          <p:nvPr/>
        </p:nvSpPr>
        <p:spPr>
          <a:xfrm xmlns:a="http://schemas.openxmlformats.org/drawingml/2006/main">
            <a:off x="571500" y="3962400"/>
            <a:ext cx="1619250" cy="8191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Item side vector</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 values</a:t>
            </a:r>
          </a:p>
        </p:txBody>
      </p:sp>
      <p:sp>
        <p:nvSpPr>
          <p:cNvPr id="6" name="explicit-outer-product">
            <a:extLst xmlns:a="http://schemas.openxmlformats.org/drawingml/2006/main">
              <a:ext uri="{FF2B5EF4-FFF2-40B4-BE49-F238E27FC236}">
                <a16:creationId xmlns:a16="http://schemas.microsoft.com/office/drawing/2014/main" id="{EAD852B2-CFA1-4845-A187-981B3C7A862E}"/>
              </a:ext>
            </a:extLst>
          </p:cNvPr>
          <p:cNvSpPr>
            <a:spLocks xmlns:a="http://schemas.openxmlformats.org/drawingml/2006/main" noGrp="1"/>
          </p:cNvSpPr>
          <p:nvPr/>
        </p:nvSpPr>
        <p:spPr>
          <a:xfrm xmlns:a="http://schemas.openxmlformats.org/drawingml/2006/main">
            <a:off x="2724150" y="2933700"/>
            <a:ext cx="1924050" cy="120015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650" b="0">
                <a:solidFill>
                  <a:srgbClr val="15232D"/>
                </a:solidFill>
                <a:latin typeface="Arial"/>
                <a:ea typeface="Arial"/>
                <a:cs typeface="Arial"/>
              </a:defRPr>
            </a:defPPr>
            <a:lvl1pPr algn="ctr">
              <a:defRPr sz="1650" b="0">
                <a:solidFill>
                  <a:srgbClr val="15232D"/>
                </a:solidFill>
                <a:latin typeface="Arial"/>
                <a:ea typeface="Arial"/>
                <a:cs typeface="Arial"/>
              </a:defRPr>
            </a:lvl1pPr>
            <a:lvl2pPr algn="ctr">
              <a:defRPr sz="1650" b="0">
                <a:solidFill>
                  <a:srgbClr val="15232D"/>
                </a:solidFill>
                <a:latin typeface="Arial"/>
                <a:ea typeface="Arial"/>
                <a:cs typeface="Arial"/>
              </a:defRPr>
            </a:lvl2pPr>
            <a:lvl3pPr algn="ctr">
              <a:defRPr sz="1650" b="0">
                <a:solidFill>
                  <a:srgbClr val="15232D"/>
                </a:solidFill>
                <a:latin typeface="Arial"/>
                <a:ea typeface="Arial"/>
                <a:cs typeface="Arial"/>
              </a:defRPr>
            </a:lvl3pPr>
            <a:lvl4pPr algn="ctr">
              <a:defRPr sz="1650" b="0">
                <a:solidFill>
                  <a:srgbClr val="15232D"/>
                </a:solidFill>
                <a:latin typeface="Arial"/>
                <a:ea typeface="Arial"/>
                <a:cs typeface="Arial"/>
              </a:defRPr>
            </a:lvl4pPr>
            <a:lvl5pPr algn="ctr">
              <a:defRPr sz="1650" b="0">
                <a:solidFill>
                  <a:srgbClr val="15232D"/>
                </a:solidFill>
                <a:latin typeface="Arial"/>
                <a:ea typeface="Arial"/>
                <a:cs typeface="Arial"/>
              </a:defRPr>
            </a:lvl5pPr>
            <a:lvl6pPr algn="ctr">
              <a:defRPr sz="1650" b="0">
                <a:solidFill>
                  <a:srgbClr val="15232D"/>
                </a:solidFill>
                <a:latin typeface="Arial"/>
                <a:ea typeface="Arial"/>
                <a:cs typeface="Arial"/>
              </a:defRPr>
            </a:lvl6pPr>
            <a:lvl7pPr algn="ctr">
              <a:defRPr sz="1650" b="0">
                <a:solidFill>
                  <a:srgbClr val="15232D"/>
                </a:solidFill>
                <a:latin typeface="Arial"/>
                <a:ea typeface="Arial"/>
                <a:cs typeface="Arial"/>
              </a:defRPr>
            </a:lvl7pPr>
            <a:lvl8pPr algn="ctr">
              <a:defRPr sz="1650" b="0">
                <a:solidFill>
                  <a:srgbClr val="15232D"/>
                </a:solidFill>
                <a:latin typeface="Arial"/>
                <a:ea typeface="Arial"/>
                <a:cs typeface="Arial"/>
              </a:defRPr>
            </a:lvl8pPr>
            <a:lvl9pPr algn="ctr">
              <a:defRPr sz="1650" b="0">
                <a:solidFill>
                  <a:srgbClr val="15232D"/>
                </a:solidFill>
                <a:latin typeface="Arial"/>
                <a:ea typeface="Arial"/>
                <a:cs typeface="Arial"/>
              </a:defRPr>
            </a:lvl9pPr>
          </a:lstStyle>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Outer product</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X = u x v^T</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8 x 8</a:t>
            </a:r>
          </a:p>
        </p:txBody>
      </p:sp>
      <p:sp>
        <p:nvSpPr>
          <p:cNvPr id="7" name="project-convolution">
            <a:extLst xmlns:a="http://schemas.openxmlformats.org/drawingml/2006/main">
              <a:ext uri="{FF2B5EF4-FFF2-40B4-BE49-F238E27FC236}">
                <a16:creationId xmlns:a16="http://schemas.microsoft.com/office/drawing/2014/main" id="{793AE00F-0C66-43A7-896E-C2FD2A1EC127}"/>
              </a:ext>
            </a:extLst>
          </p:cNvPr>
          <p:cNvSpPr>
            <a:spLocks xmlns:a="http://schemas.openxmlformats.org/drawingml/2006/main" noGrp="1"/>
          </p:cNvSpPr>
          <p:nvPr/>
        </p:nvSpPr>
        <p:spPr>
          <a:xfrm xmlns:a="http://schemas.openxmlformats.org/drawingml/2006/main">
            <a:off x="5295900" y="1943100"/>
            <a:ext cx="2419350" cy="125730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Implemented local path</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Valid 3x3 convolution</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8 output channels</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6 x 6 x 8</a:t>
            </a:r>
          </a:p>
        </p:txBody>
      </p:sp>
      <p:sp>
        <p:nvSpPr>
          <p:cNvPr id="8" name="project-pooling">
            <a:extLst xmlns:a="http://schemas.openxmlformats.org/drawingml/2006/main">
              <a:ext uri="{FF2B5EF4-FFF2-40B4-BE49-F238E27FC236}">
                <a16:creationId xmlns:a16="http://schemas.microsoft.com/office/drawing/2014/main" id="{07EA7B55-4AC7-48BC-AFC7-B8084FF09855}"/>
              </a:ext>
            </a:extLst>
          </p:cNvPr>
          <p:cNvSpPr>
            <a:spLocks xmlns:a="http://schemas.openxmlformats.org/drawingml/2006/main" noGrp="1"/>
          </p:cNvSpPr>
          <p:nvPr/>
        </p:nvSpPr>
        <p:spPr>
          <a:xfrm xmlns:a="http://schemas.openxmlformats.org/drawingml/2006/main">
            <a:off x="5295900" y="3619500"/>
            <a:ext cx="2419350" cy="116205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ReLU, then 2x2 max pool</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3 x 3 x 8</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Flatten to 72 values</a:t>
            </a:r>
          </a:p>
        </p:txBody>
      </p:sp>
      <p:sp>
        <p:nvSpPr>
          <p:cNvPr id="9" name="project-global">
            <a:extLst xmlns:a="http://schemas.openxmlformats.org/drawingml/2006/main">
              <a:ext uri="{FF2B5EF4-FFF2-40B4-BE49-F238E27FC236}">
                <a16:creationId xmlns:a16="http://schemas.microsoft.com/office/drawing/2014/main" id="{E58126C8-D66B-4A3A-B9C6-CF585C558AC1}"/>
              </a:ext>
            </a:extLst>
          </p:cNvPr>
          <p:cNvSpPr>
            <a:spLocks xmlns:a="http://schemas.openxmlformats.org/drawingml/2006/main" noGrp="1"/>
          </p:cNvSpPr>
          <p:nvPr/>
        </p:nvSpPr>
        <p:spPr>
          <a:xfrm xmlns:a="http://schemas.openxmlformats.org/drawingml/2006/main">
            <a:off x="5295900" y="5086350"/>
            <a:ext cx="2419350" cy="85725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00" b="0">
                <a:solidFill>
                  <a:srgbClr val="15232D"/>
                </a:solidFill>
                <a:latin typeface="Arial"/>
                <a:ea typeface="Arial"/>
                <a:cs typeface="Arial"/>
              </a:defRPr>
            </a:defPPr>
            <a:lvl1pPr algn="ctr">
              <a:defRPr sz="1500" b="0">
                <a:solidFill>
                  <a:srgbClr val="15232D"/>
                </a:solidFill>
                <a:latin typeface="Arial"/>
                <a:ea typeface="Arial"/>
                <a:cs typeface="Arial"/>
              </a:defRPr>
            </a:lvl1pPr>
            <a:lvl2pPr algn="ctr">
              <a:defRPr sz="1500" b="0">
                <a:solidFill>
                  <a:srgbClr val="15232D"/>
                </a:solidFill>
                <a:latin typeface="Arial"/>
                <a:ea typeface="Arial"/>
                <a:cs typeface="Arial"/>
              </a:defRPr>
            </a:lvl2pPr>
            <a:lvl3pPr algn="ctr">
              <a:defRPr sz="1500" b="0">
                <a:solidFill>
                  <a:srgbClr val="15232D"/>
                </a:solidFill>
                <a:latin typeface="Arial"/>
                <a:ea typeface="Arial"/>
                <a:cs typeface="Arial"/>
              </a:defRPr>
            </a:lvl3pPr>
            <a:lvl4pPr algn="ctr">
              <a:defRPr sz="1500" b="0">
                <a:solidFill>
                  <a:srgbClr val="15232D"/>
                </a:solidFill>
                <a:latin typeface="Arial"/>
                <a:ea typeface="Arial"/>
                <a:cs typeface="Arial"/>
              </a:defRPr>
            </a:lvl4pPr>
            <a:lvl5pPr algn="ctr">
              <a:defRPr sz="1500" b="0">
                <a:solidFill>
                  <a:srgbClr val="15232D"/>
                </a:solidFill>
                <a:latin typeface="Arial"/>
                <a:ea typeface="Arial"/>
                <a:cs typeface="Arial"/>
              </a:defRPr>
            </a:lvl5pPr>
            <a:lvl6pPr algn="ctr">
              <a:defRPr sz="1500" b="0">
                <a:solidFill>
                  <a:srgbClr val="15232D"/>
                </a:solidFill>
                <a:latin typeface="Arial"/>
                <a:ea typeface="Arial"/>
                <a:cs typeface="Arial"/>
              </a:defRPr>
            </a:lvl6pPr>
            <a:lvl7pPr algn="ctr">
              <a:defRPr sz="1500" b="0">
                <a:solidFill>
                  <a:srgbClr val="15232D"/>
                </a:solidFill>
                <a:latin typeface="Arial"/>
                <a:ea typeface="Arial"/>
                <a:cs typeface="Arial"/>
              </a:defRPr>
            </a:lvl7pPr>
            <a:lvl8pPr algn="ctr">
              <a:defRPr sz="1500" b="0">
                <a:solidFill>
                  <a:srgbClr val="15232D"/>
                </a:solidFill>
                <a:latin typeface="Arial"/>
                <a:ea typeface="Arial"/>
                <a:cs typeface="Arial"/>
              </a:defRPr>
            </a:lvl8pPr>
            <a:lvl9pPr algn="ctr">
              <a:defRPr sz="1500" b="0">
                <a:solidFill>
                  <a:srgbClr val="15232D"/>
                </a:solidFill>
                <a:latin typeface="Arial"/>
                <a:ea typeface="Arial"/>
                <a:cs typeface="Arial"/>
              </a:defRPr>
            </a:lvl9pPr>
          </a:lstStyle>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Global path</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Flatten original X</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8 x 8 = 64 values</a:t>
            </a:r>
          </a:p>
        </p:txBody>
      </p:sp>
      <p:sp>
        <p:nvSpPr>
          <p:cNvPr id="10" name="explicit-representation">
            <a:extLst xmlns:a="http://schemas.openxmlformats.org/drawingml/2006/main">
              <a:ext uri="{FF2B5EF4-FFF2-40B4-BE49-F238E27FC236}">
                <a16:creationId xmlns:a16="http://schemas.microsoft.com/office/drawing/2014/main" id="{97A53243-A5B0-46E4-82D2-849941B1A147}"/>
              </a:ext>
            </a:extLst>
          </p:cNvPr>
          <p:cNvSpPr>
            <a:spLocks xmlns:a="http://schemas.openxmlformats.org/drawingml/2006/main" noGrp="1"/>
          </p:cNvSpPr>
          <p:nvPr/>
        </p:nvSpPr>
        <p:spPr>
          <a:xfrm xmlns:a="http://schemas.openxmlformats.org/drawingml/2006/main">
            <a:off x="8782050" y="3009900"/>
            <a:ext cx="2609850" cy="1466850"/>
          </a:xfrm>
          <a:prstGeom xmlns:a="http://schemas.openxmlformats.org/drawingml/2006/main" prst="rect">
            <a:avLst/>
          </a:prstGeom>
          <a:solidFill xmlns:a="http://schemas.openxmlformats.org/drawingml/2006/main">
            <a:srgbClr val="F3F6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650" b="0">
                <a:solidFill>
                  <a:srgbClr val="15232D"/>
                </a:solidFill>
                <a:latin typeface="Arial"/>
                <a:ea typeface="Arial"/>
                <a:cs typeface="Arial"/>
              </a:defRPr>
            </a:defPPr>
            <a:lvl1pPr algn="ctr">
              <a:defRPr sz="1650" b="0">
                <a:solidFill>
                  <a:srgbClr val="15232D"/>
                </a:solidFill>
                <a:latin typeface="Arial"/>
                <a:ea typeface="Arial"/>
                <a:cs typeface="Arial"/>
              </a:defRPr>
            </a:lvl1pPr>
            <a:lvl2pPr algn="ctr">
              <a:defRPr sz="1650" b="0">
                <a:solidFill>
                  <a:srgbClr val="15232D"/>
                </a:solidFill>
                <a:latin typeface="Arial"/>
                <a:ea typeface="Arial"/>
                <a:cs typeface="Arial"/>
              </a:defRPr>
            </a:lvl2pPr>
            <a:lvl3pPr algn="ctr">
              <a:defRPr sz="1650" b="0">
                <a:solidFill>
                  <a:srgbClr val="15232D"/>
                </a:solidFill>
                <a:latin typeface="Arial"/>
                <a:ea typeface="Arial"/>
                <a:cs typeface="Arial"/>
              </a:defRPr>
            </a:lvl3pPr>
            <a:lvl4pPr algn="ctr">
              <a:defRPr sz="1650" b="0">
                <a:solidFill>
                  <a:srgbClr val="15232D"/>
                </a:solidFill>
                <a:latin typeface="Arial"/>
                <a:ea typeface="Arial"/>
                <a:cs typeface="Arial"/>
              </a:defRPr>
            </a:lvl4pPr>
            <a:lvl5pPr algn="ctr">
              <a:defRPr sz="1650" b="0">
                <a:solidFill>
                  <a:srgbClr val="15232D"/>
                </a:solidFill>
                <a:latin typeface="Arial"/>
                <a:ea typeface="Arial"/>
                <a:cs typeface="Arial"/>
              </a:defRPr>
            </a:lvl5pPr>
            <a:lvl6pPr algn="ctr">
              <a:defRPr sz="1650" b="0">
                <a:solidFill>
                  <a:srgbClr val="15232D"/>
                </a:solidFill>
                <a:latin typeface="Arial"/>
                <a:ea typeface="Arial"/>
                <a:cs typeface="Arial"/>
              </a:defRPr>
            </a:lvl6pPr>
            <a:lvl7pPr algn="ctr">
              <a:defRPr sz="1650" b="0">
                <a:solidFill>
                  <a:srgbClr val="15232D"/>
                </a:solidFill>
                <a:latin typeface="Arial"/>
                <a:ea typeface="Arial"/>
                <a:cs typeface="Arial"/>
              </a:defRPr>
            </a:lvl7pPr>
            <a:lvl8pPr algn="ctr">
              <a:defRPr sz="1650" b="0">
                <a:solidFill>
                  <a:srgbClr val="15232D"/>
                </a:solidFill>
                <a:latin typeface="Arial"/>
                <a:ea typeface="Arial"/>
                <a:cs typeface="Arial"/>
              </a:defRPr>
            </a:lvl8pPr>
            <a:lvl9pPr algn="ctr">
              <a:defRPr sz="1650" b="0">
                <a:solidFill>
                  <a:srgbClr val="15232D"/>
                </a:solidFill>
                <a:latin typeface="Arial"/>
                <a:ea typeface="Arial"/>
                <a:cs typeface="Arial"/>
              </a:defRPr>
            </a:lvl9pPr>
          </a:lstStyle>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Explicit representation</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72 local + 64 global</a:t>
            </a:r>
          </a:p>
          <a:p xmlns:a="http://schemas.openxmlformats.org/drawingml/2006/main">
            <a:pPr algn="ctr">
              <a:defRPr sz="1650" b="0">
                <a:solidFill>
                  <a:srgbClr val="15232D"/>
                </a:solidFill>
                <a:latin typeface="Arial"/>
                <a:ea typeface="Arial"/>
                <a:cs typeface="Arial"/>
              </a:defRPr>
            </a:pPr>
            <a:r>
              <a:rPr sz="1650" b="0">
                <a:solidFill>
                  <a:srgbClr val="15232D"/>
                </a:solidFill>
                <a:latin typeface="Arial"/>
                <a:ea typeface="Arial"/>
                <a:cs typeface="Arial"/>
              </a:rPr>
              <a:t>= 136 values</a:t>
            </a:r>
          </a:p>
        </p:txBody>
      </p:sp>
      <p:sp>
        <p:nvSpPr>
          <p:cNvPr id="18" name="cnn-depth-disclosure">
            <a:extLst xmlns:a="http://schemas.openxmlformats.org/drawingml/2006/main">
              <a:ext uri="{FF2B5EF4-FFF2-40B4-BE49-F238E27FC236}">
                <a16:creationId xmlns:a16="http://schemas.microsoft.com/office/drawing/2014/main" id="{1DD5664A-2706-4C03-A60B-81E55FECE97D}"/>
              </a:ext>
            </a:extLst>
          </p:cNvPr>
          <p:cNvSpPr>
            <a:spLocks xmlns:a="http://schemas.openxmlformats.org/drawingml/2006/main" noGrp="1"/>
          </p:cNvSpPr>
          <p:nvPr/>
        </p:nvSpPr>
        <p:spPr>
          <a:xfrm xmlns:a="http://schemas.openxmlformats.org/drawingml/2006/main">
            <a:off x="2724150" y="6000750"/>
            <a:ext cx="866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C51"/>
                </a:solidFill>
                <a:latin typeface="Arial"/>
                <a:ea typeface="Arial"/>
                <a:cs typeface="Arial"/>
              </a:defRPr>
            </a:defPPr>
            <a:lvl1pPr algn="l">
              <a:defRPr sz="1350" b="1">
                <a:solidFill>
                  <a:srgbClr val="9B4C51"/>
                </a:solidFill>
                <a:latin typeface="Arial"/>
                <a:ea typeface="Arial"/>
                <a:cs typeface="Arial"/>
              </a:defRPr>
            </a:lvl1pPr>
            <a:lvl2pPr algn="l">
              <a:defRPr sz="1350" b="1">
                <a:solidFill>
                  <a:srgbClr val="9B4C51"/>
                </a:solidFill>
                <a:latin typeface="Arial"/>
                <a:ea typeface="Arial"/>
                <a:cs typeface="Arial"/>
              </a:defRPr>
            </a:lvl2pPr>
            <a:lvl3pPr algn="l">
              <a:defRPr sz="1350" b="1">
                <a:solidFill>
                  <a:srgbClr val="9B4C51"/>
                </a:solidFill>
                <a:latin typeface="Arial"/>
                <a:ea typeface="Arial"/>
                <a:cs typeface="Arial"/>
              </a:defRPr>
            </a:lvl3pPr>
            <a:lvl4pPr algn="l">
              <a:defRPr sz="1350" b="1">
                <a:solidFill>
                  <a:srgbClr val="9B4C51"/>
                </a:solidFill>
                <a:latin typeface="Arial"/>
                <a:ea typeface="Arial"/>
                <a:cs typeface="Arial"/>
              </a:defRPr>
            </a:lvl4pPr>
            <a:lvl5pPr algn="l">
              <a:defRPr sz="1350" b="1">
                <a:solidFill>
                  <a:srgbClr val="9B4C51"/>
                </a:solidFill>
                <a:latin typeface="Arial"/>
                <a:ea typeface="Arial"/>
                <a:cs typeface="Arial"/>
              </a:defRPr>
            </a:lvl5pPr>
            <a:lvl6pPr algn="l">
              <a:defRPr sz="1350" b="1">
                <a:solidFill>
                  <a:srgbClr val="9B4C51"/>
                </a:solidFill>
                <a:latin typeface="Arial"/>
                <a:ea typeface="Arial"/>
                <a:cs typeface="Arial"/>
              </a:defRPr>
            </a:lvl6pPr>
            <a:lvl7pPr algn="l">
              <a:defRPr sz="1350" b="1">
                <a:solidFill>
                  <a:srgbClr val="9B4C51"/>
                </a:solidFill>
                <a:latin typeface="Arial"/>
                <a:ea typeface="Arial"/>
                <a:cs typeface="Arial"/>
              </a:defRPr>
            </a:lvl7pPr>
            <a:lvl8pPr algn="l">
              <a:defRPr sz="1350" b="1">
                <a:solidFill>
                  <a:srgbClr val="9B4C51"/>
                </a:solidFill>
                <a:latin typeface="Arial"/>
                <a:ea typeface="Arial"/>
                <a:cs typeface="Arial"/>
              </a:defRPr>
            </a:lvl8pPr>
            <a:lvl9pPr algn="l">
              <a:defRPr sz="1350" b="1">
                <a:solidFill>
                  <a:srgbClr val="9B4C51"/>
                </a:solidFill>
                <a:latin typeface="Arial"/>
                <a:ea typeface="Arial"/>
                <a:cs typeface="Arial"/>
              </a:defRPr>
            </a:lvl9pPr>
          </a:lstStyle>
          <a:p xmlns:a="http://schemas.openxmlformats.org/drawingml/2006/main">
            <a:pPr algn="l">
              <a:defRPr sz="1350" b="1">
                <a:solidFill>
                  <a:srgbClr val="9B4C51"/>
                </a:solidFill>
                <a:latin typeface="Arial"/>
                <a:ea typeface="Arial"/>
                <a:cs typeface="Arial"/>
              </a:defRPr>
            </a:pPr>
            <a:r>
              <a:rPr sz="1350" b="1">
                <a:solidFill>
                  <a:srgbClr val="9B4C51"/>
                </a:solidFill>
                <a:latin typeface="Arial"/>
                <a:ea typeface="Arial"/>
                <a:cs typeface="Arial"/>
              </a:rPr>
              <a:t>Paper ML-1M settings specify two CNN layers. The bounded project model uses one convolution and max pooling, a disclosed computational adaptation.</a:t>
            </a:r>
          </a:p>
        </p:txBody>
      </p:sp>
    </p:spTree>
    <p:extLst>
      <p:ext uri="{BB962C8B-B14F-4D97-AF65-F5344CB8AC3E}">
        <p14:creationId xmlns:p14="http://schemas.microsoft.com/office/powerpoint/2010/main" val="15583899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33CDAA1A-D430-4FD3-AFD7-7A67A8E82158}"/>
              </a:ext>
            </a:extLst>
          </p:cNvPr>
          <p:cNvCxnSpPr>
            <a:stCxn xmlns:a="http://schemas.openxmlformats.org/drawingml/2006/main" id="12" idx="3"/>
            <a:endCxn xmlns:a="http://schemas.openxmlformats.org/drawingml/2006/main" id="13" idx="1"/>
          </p:cNvCxnSpPr>
          <p:nvPr/>
        </p:nvCxnSpPr>
        <p:spPr>
          <a:xfrm xmlns:a="http://schemas.openxmlformats.org/drawingml/2006/main">
            <a:off x="10077450" y="4933950"/>
            <a:ext cx="438150" cy="0"/>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22" name="">
            <a:extLst xmlns:a="http://schemas.openxmlformats.org/drawingml/2006/main">
              <a:ext uri="{FF2B5EF4-FFF2-40B4-BE49-F238E27FC236}">
                <a16:creationId xmlns:a16="http://schemas.microsoft.com/office/drawing/2014/main" id="{4F447A5D-9402-4E1F-BC33-1AD798DD0B66}"/>
              </a:ext>
            </a:extLst>
          </p:cNvPr>
          <p:cNvCxnSpPr>
            <a:stCxn xmlns:a="http://schemas.openxmlformats.org/drawingml/2006/main" id="11" idx="2"/>
            <a:endCxn xmlns:a="http://schemas.openxmlformats.org/drawingml/2006/main" id="12" idx="0"/>
          </p:cNvCxnSpPr>
          <p:nvPr/>
        </p:nvCxnSpPr>
        <p:spPr>
          <a:xfrm xmlns:a="http://schemas.openxmlformats.org/drawingml/2006/main">
            <a:off x="9353550" y="3448050"/>
            <a:ext cx="0" cy="971550"/>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21" name="">
            <a:extLst xmlns:a="http://schemas.openxmlformats.org/drawingml/2006/main">
              <a:ext uri="{FF2B5EF4-FFF2-40B4-BE49-F238E27FC236}">
                <a16:creationId xmlns:a16="http://schemas.microsoft.com/office/drawing/2014/main" id="{286F3A82-5ECA-45BA-BBCC-46F4EA16F283}"/>
              </a:ext>
            </a:extLst>
          </p:cNvPr>
          <p:cNvCxnSpPr>
            <a:stCxn xmlns:a="http://schemas.openxmlformats.org/drawingml/2006/main" id="8" idx="3"/>
            <a:endCxn xmlns:a="http://schemas.openxmlformats.org/drawingml/2006/main" id="11" idx="0"/>
          </p:cNvCxnSpPr>
          <p:nvPr/>
        </p:nvCxnSpPr>
        <p:spPr>
          <a:xfrm xmlns:a="http://schemas.openxmlformats.org/drawingml/2006/main" flipV="1">
            <a:off x="4457700" y="2057400"/>
            <a:ext cx="4895850" cy="3143250"/>
          </a:xfrm>
          <a:prstGeom xmlns:a="http://schemas.openxmlformats.org/drawingml/2006/main" prst="bentConnector4">
            <a:avLst/>
          </a:prstGeom>
          <a:ln xmlns:a="http://schemas.openxmlformats.org/drawingml/2006/main" w="19050">
            <a:solidFill>
              <a:srgbClr val="5F6D76"/>
            </a:solidFill>
            <a:prstDash val="solid"/>
            <a:headEnd type="none" w="med" len="med"/>
            <a:tailEnd type="triangle" w="sm" len="sm"/>
          </a:ln>
        </p:spPr>
      </p:cxnSp>
      <p:cxnSp>
        <p:nvCxnSpPr>
          <p:cNvPr id="20" name="">
            <a:extLst xmlns:a="http://schemas.openxmlformats.org/drawingml/2006/main">
              <a:ext uri="{FF2B5EF4-FFF2-40B4-BE49-F238E27FC236}">
                <a16:creationId xmlns:a16="http://schemas.microsoft.com/office/drawing/2014/main" id="{BD02F616-A9BB-4828-8177-799718397CBA}"/>
              </a:ext>
            </a:extLst>
          </p:cNvPr>
          <p:cNvCxnSpPr>
            <a:stCxn xmlns:a="http://schemas.openxmlformats.org/drawingml/2006/main" id="10" idx="3"/>
            <a:endCxn xmlns:a="http://schemas.openxmlformats.org/drawingml/2006/main" id="11" idx="1"/>
          </p:cNvCxnSpPr>
          <p:nvPr/>
        </p:nvCxnSpPr>
        <p:spPr>
          <a:xfrm xmlns:a="http://schemas.openxmlformats.org/drawingml/2006/main">
            <a:off x="8191500" y="2857500"/>
            <a:ext cx="438150" cy="9525"/>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19" name="">
            <a:extLst xmlns:a="http://schemas.openxmlformats.org/drawingml/2006/main">
              <a:ext uri="{FF2B5EF4-FFF2-40B4-BE49-F238E27FC236}">
                <a16:creationId xmlns:a16="http://schemas.microsoft.com/office/drawing/2014/main" id="{E3E1333D-C9F5-454C-8147-13E6D7218B4B}"/>
              </a:ext>
            </a:extLst>
          </p:cNvPr>
          <p:cNvCxnSpPr>
            <a:stCxn xmlns:a="http://schemas.openxmlformats.org/drawingml/2006/main" id="9" idx="3"/>
            <a:endCxn xmlns:a="http://schemas.openxmlformats.org/drawingml/2006/main" id="10" idx="1"/>
          </p:cNvCxnSpPr>
          <p:nvPr/>
        </p:nvCxnSpPr>
        <p:spPr>
          <a:xfrm xmlns:a="http://schemas.openxmlformats.org/drawingml/2006/main" flipV="1">
            <a:off x="6362700" y="2857500"/>
            <a:ext cx="400050" cy="9525"/>
          </a:xfrm>
          <a:prstGeom xmlns:a="http://schemas.openxmlformats.org/drawingml/2006/main" prst="straightConnector1">
            <a:avLst/>
          </a:prstGeom>
          <a:ln xmlns:a="http://schemas.openxmlformats.org/drawingml/2006/main" w="19050">
            <a:solidFill>
              <a:srgbClr val="5F6D76"/>
            </a:solidFill>
            <a:prstDash val="solid"/>
            <a:headEnd type="none" w="med" len="med"/>
            <a:tailEnd type="triangle" w="sm" len="sm"/>
          </a:ln>
        </p:spPr>
      </p:cxnSp>
      <p:cxnSp>
        <p:nvCxnSpPr>
          <p:cNvPr id="18" name="">
            <a:extLst xmlns:a="http://schemas.openxmlformats.org/drawingml/2006/main">
              <a:ext uri="{FF2B5EF4-FFF2-40B4-BE49-F238E27FC236}">
                <a16:creationId xmlns:a16="http://schemas.microsoft.com/office/drawing/2014/main" id="{EC9854F0-D701-4287-9524-10FE65D9D994}"/>
              </a:ext>
            </a:extLst>
          </p:cNvPr>
          <p:cNvCxnSpPr>
            <a:stCxn xmlns:a="http://schemas.openxmlformats.org/drawingml/2006/main" id="7" idx="3"/>
            <a:endCxn xmlns:a="http://schemas.openxmlformats.org/drawingml/2006/main" id="9" idx="1"/>
          </p:cNvCxnSpPr>
          <p:nvPr/>
        </p:nvCxnSpPr>
        <p:spPr>
          <a:xfrm xmlns:a="http://schemas.openxmlformats.org/drawingml/2006/main" flipV="1">
            <a:off x="4229100" y="2867025"/>
            <a:ext cx="514350" cy="60007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7" name="">
            <a:extLst xmlns:a="http://schemas.openxmlformats.org/drawingml/2006/main">
              <a:ext uri="{FF2B5EF4-FFF2-40B4-BE49-F238E27FC236}">
                <a16:creationId xmlns:a16="http://schemas.microsoft.com/office/drawing/2014/main" id="{D2F99617-E865-43B1-BA8A-A4DAC95E6D1B}"/>
              </a:ext>
            </a:extLst>
          </p:cNvPr>
          <p:cNvCxnSpPr>
            <a:stCxn xmlns:a="http://schemas.openxmlformats.org/drawingml/2006/main" id="6" idx="3"/>
            <a:endCxn xmlns:a="http://schemas.openxmlformats.org/drawingml/2006/main" id="9" idx="1"/>
          </p:cNvCxnSpPr>
          <p:nvPr/>
        </p:nvCxnSpPr>
        <p:spPr>
          <a:xfrm xmlns:a="http://schemas.openxmlformats.org/drawingml/2006/main">
            <a:off x="4229100" y="2247900"/>
            <a:ext cx="514350" cy="6191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C7846CD3-1D23-41E5-A677-6BE8946BDEA3}"/>
              </a:ext>
            </a:extLst>
          </p:cNvPr>
          <p:cNvCxnSpPr>
            <a:stCxn xmlns:a="http://schemas.openxmlformats.org/drawingml/2006/main" id="5" idx="3"/>
            <a:endCxn xmlns:a="http://schemas.openxmlformats.org/drawingml/2006/main" id="8" idx="1"/>
          </p:cNvCxnSpPr>
          <p:nvPr/>
        </p:nvCxnSpPr>
        <p:spPr>
          <a:xfrm xmlns:a="http://schemas.openxmlformats.org/drawingml/2006/main">
            <a:off x="2190750" y="5181600"/>
            <a:ext cx="381000" cy="19050"/>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5" name="">
            <a:extLst xmlns:a="http://schemas.openxmlformats.org/drawingml/2006/main">
              <a:ext uri="{FF2B5EF4-FFF2-40B4-BE49-F238E27FC236}">
                <a16:creationId xmlns:a16="http://schemas.microsoft.com/office/drawing/2014/main" id="{35033477-8F19-478F-8AE5-653F48F42CD7}"/>
              </a:ext>
            </a:extLst>
          </p:cNvPr>
          <p:cNvCxnSpPr>
            <a:stCxn xmlns:a="http://schemas.openxmlformats.org/drawingml/2006/main" id="4" idx="3"/>
            <a:endCxn xmlns:a="http://schemas.openxmlformats.org/drawingml/2006/main" id="7" idx="1"/>
          </p:cNvCxnSpPr>
          <p:nvPr/>
        </p:nvCxnSpPr>
        <p:spPr>
          <a:xfrm xmlns:a="http://schemas.openxmlformats.org/drawingml/2006/main">
            <a:off x="2190750" y="2886075"/>
            <a:ext cx="381000" cy="58102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cxnSp>
        <p:nvCxnSpPr>
          <p:cNvPr id="14" name="">
            <a:extLst xmlns:a="http://schemas.openxmlformats.org/drawingml/2006/main">
              <a:ext uri="{FF2B5EF4-FFF2-40B4-BE49-F238E27FC236}">
                <a16:creationId xmlns:a16="http://schemas.microsoft.com/office/drawing/2014/main" id="{19863004-D4BB-4D18-B960-28AFD831026A}"/>
              </a:ext>
            </a:extLst>
          </p:cNvPr>
          <p:cNvCxnSpPr>
            <a:stCxn xmlns:a="http://schemas.openxmlformats.org/drawingml/2006/main" id="4" idx="3"/>
            <a:endCxn xmlns:a="http://schemas.openxmlformats.org/drawingml/2006/main" id="6" idx="1"/>
          </p:cNvCxnSpPr>
          <p:nvPr/>
        </p:nvCxnSpPr>
        <p:spPr>
          <a:xfrm xmlns:a="http://schemas.openxmlformats.org/drawingml/2006/main" flipV="1">
            <a:off x="2190750" y="2247900"/>
            <a:ext cx="381000" cy="638175"/>
          </a:xfrm>
          <a:prstGeom xmlns:a="http://schemas.openxmlformats.org/drawingml/2006/main" prst="bentConnector3">
            <a:avLst>
              <a:gd name="adj1" fmla="val 50000"/>
            </a:avLst>
          </a:prstGeom>
          <a:ln xmlns:a="http://schemas.openxmlformats.org/drawingml/2006/main" w="19050">
            <a:solidFill>
              <a:srgbClr val="5F6D76"/>
            </a:solidFill>
            <a:prstDash val="solid"/>
            <a:headEnd type="none" w="med" len="med"/>
            <a:tailEnd type="triangle" w="sm" len="sm"/>
          </a:ln>
        </p:spPr>
      </p:cxnSp>
      <p:sp>
        <p:nvSpPr>
          <p:cNvPr id="26" name="slide-title">
            <a:extLst xmlns:a="http://schemas.openxmlformats.org/drawingml/2006/main">
              <a:ext uri="{FF2B5EF4-FFF2-40B4-BE49-F238E27FC236}">
                <a16:creationId xmlns:a16="http://schemas.microsoft.com/office/drawing/2014/main" id="{80FE678A-FB2E-40B7-B4EF-E97F5121CA14}"/>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The implemented CoupledCF scorer</a:t>
            </a:r>
          </a:p>
        </p:txBody>
      </p:sp>
      <p:sp>
        <p:nvSpPr>
          <p:cNvPr id="2" name="divider">
            <a:extLst xmlns:a="http://schemas.openxmlformats.org/drawingml/2006/main">
              <a:ext uri="{FF2B5EF4-FFF2-40B4-BE49-F238E27FC236}">
                <a16:creationId xmlns:a16="http://schemas.microsoft.com/office/drawing/2014/main" id="{78F4A995-6742-45E4-89F9-C645DB105735}"/>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F5E123FA-DF65-4139-9741-0BC3080423B4}"/>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The project compresses each branch before joint fusion</a:t>
            </a:r>
          </a:p>
        </p:txBody>
      </p:sp>
      <p:sp>
        <p:nvSpPr>
          <p:cNvPr id="4" name="implemented-side-input">
            <a:extLst xmlns:a="http://schemas.openxmlformats.org/drawingml/2006/main">
              <a:ext uri="{FF2B5EF4-FFF2-40B4-BE49-F238E27FC236}">
                <a16:creationId xmlns:a16="http://schemas.microsoft.com/office/drawing/2014/main" id="{FA077987-9162-4B91-9C1A-FC1D0ED4D22A}"/>
              </a:ext>
            </a:extLst>
          </p:cNvPr>
          <p:cNvSpPr>
            <a:spLocks xmlns:a="http://schemas.openxmlformats.org/drawingml/2006/main" noGrp="1"/>
          </p:cNvSpPr>
          <p:nvPr/>
        </p:nvSpPr>
        <p:spPr>
          <a:xfrm xmlns:a="http://schemas.openxmlformats.org/drawingml/2006/main">
            <a:off x="514350" y="2324100"/>
            <a:ext cx="1676400" cy="112395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00" b="0">
                <a:solidFill>
                  <a:srgbClr val="15232D"/>
                </a:solidFill>
                <a:latin typeface="Arial"/>
                <a:ea typeface="Arial"/>
                <a:cs typeface="Arial"/>
              </a:defRPr>
            </a:defPPr>
            <a:lvl1pPr algn="ctr">
              <a:defRPr sz="1500" b="0">
                <a:solidFill>
                  <a:srgbClr val="15232D"/>
                </a:solidFill>
                <a:latin typeface="Arial"/>
                <a:ea typeface="Arial"/>
                <a:cs typeface="Arial"/>
              </a:defRPr>
            </a:lvl1pPr>
            <a:lvl2pPr algn="ctr">
              <a:defRPr sz="1500" b="0">
                <a:solidFill>
                  <a:srgbClr val="15232D"/>
                </a:solidFill>
                <a:latin typeface="Arial"/>
                <a:ea typeface="Arial"/>
                <a:cs typeface="Arial"/>
              </a:defRPr>
            </a:lvl2pPr>
            <a:lvl3pPr algn="ctr">
              <a:defRPr sz="1500" b="0">
                <a:solidFill>
                  <a:srgbClr val="15232D"/>
                </a:solidFill>
                <a:latin typeface="Arial"/>
                <a:ea typeface="Arial"/>
                <a:cs typeface="Arial"/>
              </a:defRPr>
            </a:lvl3pPr>
            <a:lvl4pPr algn="ctr">
              <a:defRPr sz="1500" b="0">
                <a:solidFill>
                  <a:srgbClr val="15232D"/>
                </a:solidFill>
                <a:latin typeface="Arial"/>
                <a:ea typeface="Arial"/>
                <a:cs typeface="Arial"/>
              </a:defRPr>
            </a:lvl4pPr>
            <a:lvl5pPr algn="ctr">
              <a:defRPr sz="1500" b="0">
                <a:solidFill>
                  <a:srgbClr val="15232D"/>
                </a:solidFill>
                <a:latin typeface="Arial"/>
                <a:ea typeface="Arial"/>
                <a:cs typeface="Arial"/>
              </a:defRPr>
            </a:lvl5pPr>
            <a:lvl6pPr algn="ctr">
              <a:defRPr sz="1500" b="0">
                <a:solidFill>
                  <a:srgbClr val="15232D"/>
                </a:solidFill>
                <a:latin typeface="Arial"/>
                <a:ea typeface="Arial"/>
                <a:cs typeface="Arial"/>
              </a:defRPr>
            </a:lvl6pPr>
            <a:lvl7pPr algn="ctr">
              <a:defRPr sz="1500" b="0">
                <a:solidFill>
                  <a:srgbClr val="15232D"/>
                </a:solidFill>
                <a:latin typeface="Arial"/>
                <a:ea typeface="Arial"/>
                <a:cs typeface="Arial"/>
              </a:defRPr>
            </a:lvl7pPr>
            <a:lvl8pPr algn="ctr">
              <a:defRPr sz="1500" b="0">
                <a:solidFill>
                  <a:srgbClr val="15232D"/>
                </a:solidFill>
                <a:latin typeface="Arial"/>
                <a:ea typeface="Arial"/>
                <a:cs typeface="Arial"/>
              </a:defRPr>
            </a:lvl8pPr>
            <a:lvl9pPr algn="ctr">
              <a:defRPr sz="1500" b="0">
                <a:solidFill>
                  <a:srgbClr val="15232D"/>
                </a:solidFill>
                <a:latin typeface="Arial"/>
                <a:ea typeface="Arial"/>
                <a:cs typeface="Arial"/>
              </a:defRPr>
            </a:lvl9pPr>
          </a:lstStyle>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Attribute pair</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8D user vector</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8D item vector</a:t>
            </a:r>
          </a:p>
        </p:txBody>
      </p:sp>
      <p:sp>
        <p:nvSpPr>
          <p:cNvPr id="5" name="implemented-id-input">
            <a:extLst xmlns:a="http://schemas.openxmlformats.org/drawingml/2006/main">
              <a:ext uri="{FF2B5EF4-FFF2-40B4-BE49-F238E27FC236}">
                <a16:creationId xmlns:a16="http://schemas.microsoft.com/office/drawing/2014/main" id="{00A273FE-F999-4C84-A40A-72712AD38260}"/>
              </a:ext>
            </a:extLst>
          </p:cNvPr>
          <p:cNvSpPr>
            <a:spLocks xmlns:a="http://schemas.openxmlformats.org/drawingml/2006/main" noGrp="1"/>
          </p:cNvSpPr>
          <p:nvPr/>
        </p:nvSpPr>
        <p:spPr>
          <a:xfrm xmlns:a="http://schemas.openxmlformats.org/drawingml/2006/main">
            <a:off x="514350" y="4762500"/>
            <a:ext cx="1676400" cy="8382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User ID and</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item ID</a:t>
            </a:r>
          </a:p>
        </p:txBody>
      </p:sp>
      <p:sp>
        <p:nvSpPr>
          <p:cNvPr id="6" name="local-72">
            <a:extLst xmlns:a="http://schemas.openxmlformats.org/drawingml/2006/main">
              <a:ext uri="{FF2B5EF4-FFF2-40B4-BE49-F238E27FC236}">
                <a16:creationId xmlns:a16="http://schemas.microsoft.com/office/drawing/2014/main" id="{3A287743-115C-4210-9696-994A67DE62E7}"/>
              </a:ext>
            </a:extLst>
          </p:cNvPr>
          <p:cNvSpPr>
            <a:spLocks xmlns:a="http://schemas.openxmlformats.org/drawingml/2006/main" noGrp="1"/>
          </p:cNvSpPr>
          <p:nvPr/>
        </p:nvSpPr>
        <p:spPr>
          <a:xfrm xmlns:a="http://schemas.openxmlformats.org/drawingml/2006/main">
            <a:off x="2571750" y="1809750"/>
            <a:ext cx="1657350" cy="87630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Local branch</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72 values</a:t>
            </a:r>
          </a:p>
        </p:txBody>
      </p:sp>
      <p:sp>
        <p:nvSpPr>
          <p:cNvPr id="7" name="global-64">
            <a:extLst xmlns:a="http://schemas.openxmlformats.org/drawingml/2006/main">
              <a:ext uri="{FF2B5EF4-FFF2-40B4-BE49-F238E27FC236}">
                <a16:creationId xmlns:a16="http://schemas.microsoft.com/office/drawing/2014/main" id="{C8D43243-BECB-4FD8-93A7-D2BB6B2EC937}"/>
              </a:ext>
            </a:extLst>
          </p:cNvPr>
          <p:cNvSpPr>
            <a:spLocks xmlns:a="http://schemas.openxmlformats.org/drawingml/2006/main" noGrp="1"/>
          </p:cNvSpPr>
          <p:nvPr/>
        </p:nvSpPr>
        <p:spPr>
          <a:xfrm xmlns:a="http://schemas.openxmlformats.org/drawingml/2006/main">
            <a:off x="2571750" y="3028950"/>
            <a:ext cx="1657350" cy="8763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Global branch</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64 values</a:t>
            </a:r>
          </a:p>
        </p:txBody>
      </p:sp>
      <p:sp>
        <p:nvSpPr>
          <p:cNvPr id="8" name="implicit-64">
            <a:extLst xmlns:a="http://schemas.openxmlformats.org/drawingml/2006/main">
              <a:ext uri="{FF2B5EF4-FFF2-40B4-BE49-F238E27FC236}">
                <a16:creationId xmlns:a16="http://schemas.microsoft.com/office/drawing/2014/main" id="{C4ABE314-C2BB-491B-A2BB-C7742D97E63D}"/>
              </a:ext>
            </a:extLst>
          </p:cNvPr>
          <p:cNvSpPr>
            <a:spLocks xmlns:a="http://schemas.openxmlformats.org/drawingml/2006/main" noGrp="1"/>
          </p:cNvSpPr>
          <p:nvPr/>
        </p:nvSpPr>
        <p:spPr>
          <a:xfrm xmlns:a="http://schemas.openxmlformats.org/drawingml/2006/main">
            <a:off x="2571750" y="4667250"/>
            <a:ext cx="1885950" cy="1066800"/>
          </a:xfrm>
          <a:prstGeom xmlns:a="http://schemas.openxmlformats.org/drawingml/2006/main" prst="rect">
            <a:avLst/>
          </a:prstGeom>
          <a:solidFill xmlns:a="http://schemas.openxmlformats.org/drawingml/2006/main">
            <a:srgbClr val="FBF0E2"/>
          </a:solidFill>
          <a:ln xmlns:a="http://schemas.openxmlformats.org/drawingml/2006/main" w="14288">
            <a:solidFill>
              <a:srgbClr val="C97725"/>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425" b="0">
                <a:solidFill>
                  <a:srgbClr val="15232D"/>
                </a:solidFill>
                <a:latin typeface="Arial"/>
                <a:ea typeface="Arial"/>
                <a:cs typeface="Arial"/>
              </a:defRPr>
            </a:defPPr>
            <a:lvl1pPr algn="ctr">
              <a:defRPr sz="1425" b="0">
                <a:solidFill>
                  <a:srgbClr val="15232D"/>
                </a:solidFill>
                <a:latin typeface="Arial"/>
                <a:ea typeface="Arial"/>
                <a:cs typeface="Arial"/>
              </a:defRPr>
            </a:lvl1pPr>
            <a:lvl2pPr algn="ctr">
              <a:defRPr sz="1425" b="0">
                <a:solidFill>
                  <a:srgbClr val="15232D"/>
                </a:solidFill>
                <a:latin typeface="Arial"/>
                <a:ea typeface="Arial"/>
                <a:cs typeface="Arial"/>
              </a:defRPr>
            </a:lvl2pPr>
            <a:lvl3pPr algn="ctr">
              <a:defRPr sz="1425" b="0">
                <a:solidFill>
                  <a:srgbClr val="15232D"/>
                </a:solidFill>
                <a:latin typeface="Arial"/>
                <a:ea typeface="Arial"/>
                <a:cs typeface="Arial"/>
              </a:defRPr>
            </a:lvl3pPr>
            <a:lvl4pPr algn="ctr">
              <a:defRPr sz="1425" b="0">
                <a:solidFill>
                  <a:srgbClr val="15232D"/>
                </a:solidFill>
                <a:latin typeface="Arial"/>
                <a:ea typeface="Arial"/>
                <a:cs typeface="Arial"/>
              </a:defRPr>
            </a:lvl4pPr>
            <a:lvl5pPr algn="ctr">
              <a:defRPr sz="1425" b="0">
                <a:solidFill>
                  <a:srgbClr val="15232D"/>
                </a:solidFill>
                <a:latin typeface="Arial"/>
                <a:ea typeface="Arial"/>
                <a:cs typeface="Arial"/>
              </a:defRPr>
            </a:lvl5pPr>
            <a:lvl6pPr algn="ctr">
              <a:defRPr sz="1425" b="0">
                <a:solidFill>
                  <a:srgbClr val="15232D"/>
                </a:solidFill>
                <a:latin typeface="Arial"/>
                <a:ea typeface="Arial"/>
                <a:cs typeface="Arial"/>
              </a:defRPr>
            </a:lvl6pPr>
            <a:lvl7pPr algn="ctr">
              <a:defRPr sz="1425" b="0">
                <a:solidFill>
                  <a:srgbClr val="15232D"/>
                </a:solidFill>
                <a:latin typeface="Arial"/>
                <a:ea typeface="Arial"/>
                <a:cs typeface="Arial"/>
              </a:defRPr>
            </a:lvl7pPr>
            <a:lvl8pPr algn="ctr">
              <a:defRPr sz="1425" b="0">
                <a:solidFill>
                  <a:srgbClr val="15232D"/>
                </a:solidFill>
                <a:latin typeface="Arial"/>
                <a:ea typeface="Arial"/>
                <a:cs typeface="Arial"/>
              </a:defRPr>
            </a:lvl8pPr>
            <a:lvl9pPr algn="ctr">
              <a:defRPr sz="1425" b="0">
                <a:solidFill>
                  <a:srgbClr val="15232D"/>
                </a:solidFill>
                <a:latin typeface="Arial"/>
                <a:ea typeface="Arial"/>
                <a:cs typeface="Arial"/>
              </a:defRPr>
            </a:lvl9pPr>
          </a:lstStyle>
          <a:p xmlns:a="http://schemas.openxmlformats.org/drawingml/2006/main">
            <a:pPr algn="ctr">
              <a:defRPr sz="1425" b="0">
                <a:solidFill>
                  <a:srgbClr val="15232D"/>
                </a:solidFill>
                <a:latin typeface="Arial"/>
                <a:ea typeface="Arial"/>
                <a:cs typeface="Arial"/>
              </a:defRPr>
            </a:pPr>
            <a:r>
              <a:rPr sz="1425" b="0">
                <a:solidFill>
                  <a:srgbClr val="15232D"/>
                </a:solidFill>
                <a:latin typeface="Arial"/>
                <a:ea typeface="Arial"/>
                <a:cs typeface="Arial"/>
              </a:rPr>
              <a:t>32D ID embeddings</a:t>
            </a:r>
          </a:p>
          <a:p xmlns:a="http://schemas.openxmlformats.org/drawingml/2006/main">
            <a:pPr algn="ctr">
              <a:defRPr sz="1425" b="0">
                <a:solidFill>
                  <a:srgbClr val="15232D"/>
                </a:solidFill>
                <a:latin typeface="Arial"/>
                <a:ea typeface="Arial"/>
                <a:cs typeface="Arial"/>
              </a:defRPr>
            </a:pPr>
            <a:r>
              <a:rPr sz="1425" b="0">
                <a:solidFill>
                  <a:srgbClr val="15232D"/>
                </a:solidFill>
                <a:latin typeface="Arial"/>
                <a:ea typeface="Arial"/>
                <a:cs typeface="Arial"/>
              </a:rPr>
              <a:t>Element product</a:t>
            </a:r>
          </a:p>
          <a:p xmlns:a="http://schemas.openxmlformats.org/drawingml/2006/main">
            <a:pPr algn="ctr">
              <a:defRPr sz="1425" b="0">
                <a:solidFill>
                  <a:srgbClr val="15232D"/>
                </a:solidFill>
                <a:latin typeface="Arial"/>
                <a:ea typeface="Arial"/>
                <a:cs typeface="Arial"/>
              </a:defRPr>
            </a:pPr>
            <a:r>
              <a:rPr sz="1425" b="0">
                <a:solidFill>
                  <a:srgbClr val="15232D"/>
                </a:solidFill>
                <a:latin typeface="Arial"/>
                <a:ea typeface="Arial"/>
                <a:cs typeface="Arial"/>
              </a:rPr>
              <a:t>DeepCF output 64</a:t>
            </a:r>
          </a:p>
        </p:txBody>
      </p:sp>
      <p:sp>
        <p:nvSpPr>
          <p:cNvPr id="9" name="explicit-concat-136">
            <a:extLst xmlns:a="http://schemas.openxmlformats.org/drawingml/2006/main">
              <a:ext uri="{FF2B5EF4-FFF2-40B4-BE49-F238E27FC236}">
                <a16:creationId xmlns:a16="http://schemas.microsoft.com/office/drawing/2014/main" id="{B05BCD18-A3B6-499A-8302-11EED2014F6C}"/>
              </a:ext>
            </a:extLst>
          </p:cNvPr>
          <p:cNvSpPr>
            <a:spLocks xmlns:a="http://schemas.openxmlformats.org/drawingml/2006/main" noGrp="1"/>
          </p:cNvSpPr>
          <p:nvPr/>
        </p:nvSpPr>
        <p:spPr>
          <a:xfrm xmlns:a="http://schemas.openxmlformats.org/drawingml/2006/main">
            <a:off x="4743450" y="2286000"/>
            <a:ext cx="1619250" cy="1162050"/>
          </a:xfrm>
          <a:prstGeom xmlns:a="http://schemas.openxmlformats.org/drawingml/2006/main" prst="rect">
            <a:avLst/>
          </a:prstGeom>
          <a:solidFill xmlns:a="http://schemas.openxmlformats.org/drawingml/2006/main">
            <a:srgbClr val="F3F6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00" b="0">
                <a:solidFill>
                  <a:srgbClr val="15232D"/>
                </a:solidFill>
                <a:latin typeface="Arial"/>
                <a:ea typeface="Arial"/>
                <a:cs typeface="Arial"/>
              </a:defRPr>
            </a:defPPr>
            <a:lvl1pPr algn="ctr">
              <a:defRPr sz="1500" b="0">
                <a:solidFill>
                  <a:srgbClr val="15232D"/>
                </a:solidFill>
                <a:latin typeface="Arial"/>
                <a:ea typeface="Arial"/>
                <a:cs typeface="Arial"/>
              </a:defRPr>
            </a:lvl1pPr>
            <a:lvl2pPr algn="ctr">
              <a:defRPr sz="1500" b="0">
                <a:solidFill>
                  <a:srgbClr val="15232D"/>
                </a:solidFill>
                <a:latin typeface="Arial"/>
                <a:ea typeface="Arial"/>
                <a:cs typeface="Arial"/>
              </a:defRPr>
            </a:lvl2pPr>
            <a:lvl3pPr algn="ctr">
              <a:defRPr sz="1500" b="0">
                <a:solidFill>
                  <a:srgbClr val="15232D"/>
                </a:solidFill>
                <a:latin typeface="Arial"/>
                <a:ea typeface="Arial"/>
                <a:cs typeface="Arial"/>
              </a:defRPr>
            </a:lvl3pPr>
            <a:lvl4pPr algn="ctr">
              <a:defRPr sz="1500" b="0">
                <a:solidFill>
                  <a:srgbClr val="15232D"/>
                </a:solidFill>
                <a:latin typeface="Arial"/>
                <a:ea typeface="Arial"/>
                <a:cs typeface="Arial"/>
              </a:defRPr>
            </a:lvl4pPr>
            <a:lvl5pPr algn="ctr">
              <a:defRPr sz="1500" b="0">
                <a:solidFill>
                  <a:srgbClr val="15232D"/>
                </a:solidFill>
                <a:latin typeface="Arial"/>
                <a:ea typeface="Arial"/>
                <a:cs typeface="Arial"/>
              </a:defRPr>
            </a:lvl5pPr>
            <a:lvl6pPr algn="ctr">
              <a:defRPr sz="1500" b="0">
                <a:solidFill>
                  <a:srgbClr val="15232D"/>
                </a:solidFill>
                <a:latin typeface="Arial"/>
                <a:ea typeface="Arial"/>
                <a:cs typeface="Arial"/>
              </a:defRPr>
            </a:lvl6pPr>
            <a:lvl7pPr algn="ctr">
              <a:defRPr sz="1500" b="0">
                <a:solidFill>
                  <a:srgbClr val="15232D"/>
                </a:solidFill>
                <a:latin typeface="Arial"/>
                <a:ea typeface="Arial"/>
                <a:cs typeface="Arial"/>
              </a:defRPr>
            </a:lvl7pPr>
            <a:lvl8pPr algn="ctr">
              <a:defRPr sz="1500" b="0">
                <a:solidFill>
                  <a:srgbClr val="15232D"/>
                </a:solidFill>
                <a:latin typeface="Arial"/>
                <a:ea typeface="Arial"/>
                <a:cs typeface="Arial"/>
              </a:defRPr>
            </a:lvl8pPr>
            <a:lvl9pPr algn="ctr">
              <a:defRPr sz="1500" b="0">
                <a:solidFill>
                  <a:srgbClr val="15232D"/>
                </a:solidFill>
                <a:latin typeface="Arial"/>
                <a:ea typeface="Arial"/>
                <a:cs typeface="Arial"/>
              </a:defRPr>
            </a:lvl9pPr>
          </a:lstStyle>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Explicit concat</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72 + 64</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 136 values</a:t>
            </a:r>
          </a:p>
        </p:txBody>
      </p:sp>
      <p:sp>
        <p:nvSpPr>
          <p:cNvPr id="10" name="explicit-fusion-64">
            <a:extLst xmlns:a="http://schemas.openxmlformats.org/drawingml/2006/main">
              <a:ext uri="{FF2B5EF4-FFF2-40B4-BE49-F238E27FC236}">
                <a16:creationId xmlns:a16="http://schemas.microsoft.com/office/drawing/2014/main" id="{B6229971-5E02-4825-867C-6B42D5B6C170}"/>
              </a:ext>
            </a:extLst>
          </p:cNvPr>
          <p:cNvSpPr>
            <a:spLocks xmlns:a="http://schemas.openxmlformats.org/drawingml/2006/main" noGrp="1"/>
          </p:cNvSpPr>
          <p:nvPr/>
        </p:nvSpPr>
        <p:spPr>
          <a:xfrm xmlns:a="http://schemas.openxmlformats.org/drawingml/2006/main">
            <a:off x="6762750" y="2324100"/>
            <a:ext cx="1428750" cy="106680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Explicit MLP</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136 to 64</a:t>
            </a:r>
          </a:p>
        </p:txBody>
      </p:sp>
      <p:sp>
        <p:nvSpPr>
          <p:cNvPr id="11" name="joint-concat-128">
            <a:extLst xmlns:a="http://schemas.openxmlformats.org/drawingml/2006/main">
              <a:ext uri="{FF2B5EF4-FFF2-40B4-BE49-F238E27FC236}">
                <a16:creationId xmlns:a16="http://schemas.microsoft.com/office/drawing/2014/main" id="{AF592F3E-C89C-4222-B2E4-46529EA50851}"/>
              </a:ext>
            </a:extLst>
          </p:cNvPr>
          <p:cNvSpPr>
            <a:spLocks xmlns:a="http://schemas.openxmlformats.org/drawingml/2006/main" noGrp="1"/>
          </p:cNvSpPr>
          <p:nvPr/>
        </p:nvSpPr>
        <p:spPr>
          <a:xfrm xmlns:a="http://schemas.openxmlformats.org/drawingml/2006/main">
            <a:off x="8629650" y="2286000"/>
            <a:ext cx="1447800" cy="1162050"/>
          </a:xfrm>
          <a:prstGeom xmlns:a="http://schemas.openxmlformats.org/drawingml/2006/main" prst="rect">
            <a:avLst/>
          </a:prstGeom>
          <a:solidFill xmlns:a="http://schemas.openxmlformats.org/drawingml/2006/main">
            <a:srgbClr val="F3F6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00" b="0">
                <a:solidFill>
                  <a:srgbClr val="15232D"/>
                </a:solidFill>
                <a:latin typeface="Arial"/>
                <a:ea typeface="Arial"/>
                <a:cs typeface="Arial"/>
              </a:defRPr>
            </a:defPPr>
            <a:lvl1pPr algn="ctr">
              <a:defRPr sz="1500" b="0">
                <a:solidFill>
                  <a:srgbClr val="15232D"/>
                </a:solidFill>
                <a:latin typeface="Arial"/>
                <a:ea typeface="Arial"/>
                <a:cs typeface="Arial"/>
              </a:defRPr>
            </a:lvl1pPr>
            <a:lvl2pPr algn="ctr">
              <a:defRPr sz="1500" b="0">
                <a:solidFill>
                  <a:srgbClr val="15232D"/>
                </a:solidFill>
                <a:latin typeface="Arial"/>
                <a:ea typeface="Arial"/>
                <a:cs typeface="Arial"/>
              </a:defRPr>
            </a:lvl2pPr>
            <a:lvl3pPr algn="ctr">
              <a:defRPr sz="1500" b="0">
                <a:solidFill>
                  <a:srgbClr val="15232D"/>
                </a:solidFill>
                <a:latin typeface="Arial"/>
                <a:ea typeface="Arial"/>
                <a:cs typeface="Arial"/>
              </a:defRPr>
            </a:lvl3pPr>
            <a:lvl4pPr algn="ctr">
              <a:defRPr sz="1500" b="0">
                <a:solidFill>
                  <a:srgbClr val="15232D"/>
                </a:solidFill>
                <a:latin typeface="Arial"/>
                <a:ea typeface="Arial"/>
                <a:cs typeface="Arial"/>
              </a:defRPr>
            </a:lvl4pPr>
            <a:lvl5pPr algn="ctr">
              <a:defRPr sz="1500" b="0">
                <a:solidFill>
                  <a:srgbClr val="15232D"/>
                </a:solidFill>
                <a:latin typeface="Arial"/>
                <a:ea typeface="Arial"/>
                <a:cs typeface="Arial"/>
              </a:defRPr>
            </a:lvl5pPr>
            <a:lvl6pPr algn="ctr">
              <a:defRPr sz="1500" b="0">
                <a:solidFill>
                  <a:srgbClr val="15232D"/>
                </a:solidFill>
                <a:latin typeface="Arial"/>
                <a:ea typeface="Arial"/>
                <a:cs typeface="Arial"/>
              </a:defRPr>
            </a:lvl6pPr>
            <a:lvl7pPr algn="ctr">
              <a:defRPr sz="1500" b="0">
                <a:solidFill>
                  <a:srgbClr val="15232D"/>
                </a:solidFill>
                <a:latin typeface="Arial"/>
                <a:ea typeface="Arial"/>
                <a:cs typeface="Arial"/>
              </a:defRPr>
            </a:lvl7pPr>
            <a:lvl8pPr algn="ctr">
              <a:defRPr sz="1500" b="0">
                <a:solidFill>
                  <a:srgbClr val="15232D"/>
                </a:solidFill>
                <a:latin typeface="Arial"/>
                <a:ea typeface="Arial"/>
                <a:cs typeface="Arial"/>
              </a:defRPr>
            </a:lvl8pPr>
            <a:lvl9pPr algn="ctr">
              <a:defRPr sz="1500" b="0">
                <a:solidFill>
                  <a:srgbClr val="15232D"/>
                </a:solidFill>
                <a:latin typeface="Arial"/>
                <a:ea typeface="Arial"/>
                <a:cs typeface="Arial"/>
              </a:defRPr>
            </a:lvl9pPr>
          </a:lstStyle>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Joint concat</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64 + 64</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 128 values</a:t>
            </a:r>
          </a:p>
        </p:txBody>
      </p:sp>
      <p:sp>
        <p:nvSpPr>
          <p:cNvPr id="12" name="joint-fusion-64">
            <a:extLst xmlns:a="http://schemas.openxmlformats.org/drawingml/2006/main">
              <a:ext uri="{FF2B5EF4-FFF2-40B4-BE49-F238E27FC236}">
                <a16:creationId xmlns:a16="http://schemas.microsoft.com/office/drawing/2014/main" id="{F4E75DAB-6958-44E8-B8DC-EE34AC1BE13D}"/>
              </a:ext>
            </a:extLst>
          </p:cNvPr>
          <p:cNvSpPr>
            <a:spLocks xmlns:a="http://schemas.openxmlformats.org/drawingml/2006/main" noGrp="1"/>
          </p:cNvSpPr>
          <p:nvPr/>
        </p:nvSpPr>
        <p:spPr>
          <a:xfrm xmlns:a="http://schemas.openxmlformats.org/drawingml/2006/main">
            <a:off x="8629650" y="4419600"/>
            <a:ext cx="1447800" cy="1028700"/>
          </a:xfrm>
          <a:prstGeom xmlns:a="http://schemas.openxmlformats.org/drawingml/2006/main" prst="rect">
            <a:avLst/>
          </a:prstGeom>
          <a:solidFill xmlns:a="http://schemas.openxmlformats.org/drawingml/2006/main">
            <a:srgbClr val="EAF2F7"/>
          </a:solidFill>
          <a:ln xmlns:a="http://schemas.openxmlformats.org/drawingml/2006/main" w="14288">
            <a:solidFill>
              <a:srgbClr val="19689A"/>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75" b="0">
                <a:solidFill>
                  <a:srgbClr val="15232D"/>
                </a:solidFill>
                <a:latin typeface="Arial"/>
                <a:ea typeface="Arial"/>
                <a:cs typeface="Arial"/>
              </a:defRPr>
            </a:defPPr>
            <a:lvl1pPr algn="ctr">
              <a:defRPr sz="1575" b="0">
                <a:solidFill>
                  <a:srgbClr val="15232D"/>
                </a:solidFill>
                <a:latin typeface="Arial"/>
                <a:ea typeface="Arial"/>
                <a:cs typeface="Arial"/>
              </a:defRPr>
            </a:lvl1pPr>
            <a:lvl2pPr algn="ctr">
              <a:defRPr sz="1575" b="0">
                <a:solidFill>
                  <a:srgbClr val="15232D"/>
                </a:solidFill>
                <a:latin typeface="Arial"/>
                <a:ea typeface="Arial"/>
                <a:cs typeface="Arial"/>
              </a:defRPr>
            </a:lvl2pPr>
            <a:lvl3pPr algn="ctr">
              <a:defRPr sz="1575" b="0">
                <a:solidFill>
                  <a:srgbClr val="15232D"/>
                </a:solidFill>
                <a:latin typeface="Arial"/>
                <a:ea typeface="Arial"/>
                <a:cs typeface="Arial"/>
              </a:defRPr>
            </a:lvl3pPr>
            <a:lvl4pPr algn="ctr">
              <a:defRPr sz="1575" b="0">
                <a:solidFill>
                  <a:srgbClr val="15232D"/>
                </a:solidFill>
                <a:latin typeface="Arial"/>
                <a:ea typeface="Arial"/>
                <a:cs typeface="Arial"/>
              </a:defRPr>
            </a:lvl4pPr>
            <a:lvl5pPr algn="ctr">
              <a:defRPr sz="1575" b="0">
                <a:solidFill>
                  <a:srgbClr val="15232D"/>
                </a:solidFill>
                <a:latin typeface="Arial"/>
                <a:ea typeface="Arial"/>
                <a:cs typeface="Arial"/>
              </a:defRPr>
            </a:lvl5pPr>
            <a:lvl6pPr algn="ctr">
              <a:defRPr sz="1575" b="0">
                <a:solidFill>
                  <a:srgbClr val="15232D"/>
                </a:solidFill>
                <a:latin typeface="Arial"/>
                <a:ea typeface="Arial"/>
                <a:cs typeface="Arial"/>
              </a:defRPr>
            </a:lvl6pPr>
            <a:lvl7pPr algn="ctr">
              <a:defRPr sz="1575" b="0">
                <a:solidFill>
                  <a:srgbClr val="15232D"/>
                </a:solidFill>
                <a:latin typeface="Arial"/>
                <a:ea typeface="Arial"/>
                <a:cs typeface="Arial"/>
              </a:defRPr>
            </a:lvl7pPr>
            <a:lvl8pPr algn="ctr">
              <a:defRPr sz="1575" b="0">
                <a:solidFill>
                  <a:srgbClr val="15232D"/>
                </a:solidFill>
                <a:latin typeface="Arial"/>
                <a:ea typeface="Arial"/>
                <a:cs typeface="Arial"/>
              </a:defRPr>
            </a:lvl8pPr>
            <a:lvl9pPr algn="ctr">
              <a:defRPr sz="1575" b="0">
                <a:solidFill>
                  <a:srgbClr val="15232D"/>
                </a:solidFill>
                <a:latin typeface="Arial"/>
                <a:ea typeface="Arial"/>
                <a:cs typeface="Arial"/>
              </a:defRPr>
            </a:lvl9pPr>
          </a:lstStyle>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Joint MLP</a:t>
            </a:r>
          </a:p>
          <a:p xmlns:a="http://schemas.openxmlformats.org/drawingml/2006/main">
            <a:pPr algn="ctr">
              <a:defRPr sz="1575" b="0">
                <a:solidFill>
                  <a:srgbClr val="15232D"/>
                </a:solidFill>
                <a:latin typeface="Arial"/>
                <a:ea typeface="Arial"/>
                <a:cs typeface="Arial"/>
              </a:defRPr>
            </a:pPr>
            <a:r>
              <a:rPr sz="1575" b="0">
                <a:solidFill>
                  <a:srgbClr val="15232D"/>
                </a:solidFill>
                <a:latin typeface="Arial"/>
                <a:ea typeface="Arial"/>
                <a:cs typeface="Arial"/>
              </a:rPr>
              <a:t>128 to 64</a:t>
            </a:r>
          </a:p>
        </p:txBody>
      </p:sp>
      <p:sp>
        <p:nvSpPr>
          <p:cNvPr id="13" name="score-output">
            <a:extLst xmlns:a="http://schemas.openxmlformats.org/drawingml/2006/main">
              <a:ext uri="{FF2B5EF4-FFF2-40B4-BE49-F238E27FC236}">
                <a16:creationId xmlns:a16="http://schemas.microsoft.com/office/drawing/2014/main" id="{6541D3D4-06E9-46D6-BD4F-053B80063565}"/>
              </a:ext>
            </a:extLst>
          </p:cNvPr>
          <p:cNvSpPr>
            <a:spLocks xmlns:a="http://schemas.openxmlformats.org/drawingml/2006/main" noGrp="1"/>
          </p:cNvSpPr>
          <p:nvPr/>
        </p:nvSpPr>
        <p:spPr>
          <a:xfrm xmlns:a="http://schemas.openxmlformats.org/drawingml/2006/main">
            <a:off x="10515600" y="4419600"/>
            <a:ext cx="1295400" cy="1028700"/>
          </a:xfrm>
          <a:prstGeom xmlns:a="http://schemas.openxmlformats.org/drawingml/2006/main" prst="rect">
            <a:avLst/>
          </a:prstGeom>
          <a:solidFill xmlns:a="http://schemas.openxmlformats.org/drawingml/2006/main">
            <a:srgbClr val="E7F3F0"/>
          </a:solidFill>
          <a:ln xmlns:a="http://schemas.openxmlformats.org/drawingml/2006/main" w="14288">
            <a:solidFill>
              <a:srgbClr val="147C74"/>
            </a:solidFill>
            <a:prstDash val="solid"/>
          </a:ln>
        </p:spPr>
        <p:txBody>
          <a:bodyPr xmlns:a="http://schemas.openxmlformats.org/drawingml/2006/main" wrap="square" lIns="95250" tIns="76200" rIns="95250" bIns="76200" anchor="ctr">
            <a:normAutofit fontScale="100000"/>
          </a:bodyPr>
          <a:lstStyle xmlns:a="http://schemas.openxmlformats.org/drawingml/2006/main">
            <a:defPPr algn="ctr">
              <a:defRPr sz="1500" b="0">
                <a:solidFill>
                  <a:srgbClr val="15232D"/>
                </a:solidFill>
                <a:latin typeface="Arial"/>
                <a:ea typeface="Arial"/>
                <a:cs typeface="Arial"/>
              </a:defRPr>
            </a:defPPr>
            <a:lvl1pPr algn="ctr">
              <a:defRPr sz="1500" b="0">
                <a:solidFill>
                  <a:srgbClr val="15232D"/>
                </a:solidFill>
                <a:latin typeface="Arial"/>
                <a:ea typeface="Arial"/>
                <a:cs typeface="Arial"/>
              </a:defRPr>
            </a:lvl1pPr>
            <a:lvl2pPr algn="ctr">
              <a:defRPr sz="1500" b="0">
                <a:solidFill>
                  <a:srgbClr val="15232D"/>
                </a:solidFill>
                <a:latin typeface="Arial"/>
                <a:ea typeface="Arial"/>
                <a:cs typeface="Arial"/>
              </a:defRPr>
            </a:lvl2pPr>
            <a:lvl3pPr algn="ctr">
              <a:defRPr sz="1500" b="0">
                <a:solidFill>
                  <a:srgbClr val="15232D"/>
                </a:solidFill>
                <a:latin typeface="Arial"/>
                <a:ea typeface="Arial"/>
                <a:cs typeface="Arial"/>
              </a:defRPr>
            </a:lvl3pPr>
            <a:lvl4pPr algn="ctr">
              <a:defRPr sz="1500" b="0">
                <a:solidFill>
                  <a:srgbClr val="15232D"/>
                </a:solidFill>
                <a:latin typeface="Arial"/>
                <a:ea typeface="Arial"/>
                <a:cs typeface="Arial"/>
              </a:defRPr>
            </a:lvl4pPr>
            <a:lvl5pPr algn="ctr">
              <a:defRPr sz="1500" b="0">
                <a:solidFill>
                  <a:srgbClr val="15232D"/>
                </a:solidFill>
                <a:latin typeface="Arial"/>
                <a:ea typeface="Arial"/>
                <a:cs typeface="Arial"/>
              </a:defRPr>
            </a:lvl5pPr>
            <a:lvl6pPr algn="ctr">
              <a:defRPr sz="1500" b="0">
                <a:solidFill>
                  <a:srgbClr val="15232D"/>
                </a:solidFill>
                <a:latin typeface="Arial"/>
                <a:ea typeface="Arial"/>
                <a:cs typeface="Arial"/>
              </a:defRPr>
            </a:lvl6pPr>
            <a:lvl7pPr algn="ctr">
              <a:defRPr sz="1500" b="0">
                <a:solidFill>
                  <a:srgbClr val="15232D"/>
                </a:solidFill>
                <a:latin typeface="Arial"/>
                <a:ea typeface="Arial"/>
                <a:cs typeface="Arial"/>
              </a:defRPr>
            </a:lvl7pPr>
            <a:lvl8pPr algn="ctr">
              <a:defRPr sz="1500" b="0">
                <a:solidFill>
                  <a:srgbClr val="15232D"/>
                </a:solidFill>
                <a:latin typeface="Arial"/>
                <a:ea typeface="Arial"/>
                <a:cs typeface="Arial"/>
              </a:defRPr>
            </a:lvl8pPr>
            <a:lvl9pPr algn="ctr">
              <a:defRPr sz="1500" b="0">
                <a:solidFill>
                  <a:srgbClr val="15232D"/>
                </a:solidFill>
                <a:latin typeface="Arial"/>
                <a:ea typeface="Arial"/>
                <a:cs typeface="Arial"/>
              </a:defRPr>
            </a:lvl9pPr>
          </a:lstStyle>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Scalar logit</a:t>
            </a:r>
          </a:p>
          <a:p xmlns:a="http://schemas.openxmlformats.org/drawingml/2006/main">
            <a:pPr algn="ctr">
              <a:defRPr sz="1500" b="0">
                <a:solidFill>
                  <a:srgbClr val="15232D"/>
                </a:solidFill>
                <a:latin typeface="Arial"/>
                <a:ea typeface="Arial"/>
                <a:cs typeface="Arial"/>
              </a:defRPr>
            </a:pPr>
            <a:r>
              <a:rPr sz="1500" b="0">
                <a:solidFill>
                  <a:srgbClr val="15232D"/>
                </a:solidFill>
                <a:latin typeface="Arial"/>
                <a:ea typeface="Arial"/>
                <a:cs typeface="Arial"/>
              </a:rPr>
              <a:t>ranking score</a:t>
            </a:r>
          </a:p>
        </p:txBody>
      </p:sp>
      <p:sp>
        <p:nvSpPr>
          <p:cNvPr id="24" name="coupled-local-shape">
            <a:extLst xmlns:a="http://schemas.openxmlformats.org/drawingml/2006/main">
              <a:ext uri="{FF2B5EF4-FFF2-40B4-BE49-F238E27FC236}">
                <a16:creationId xmlns:a16="http://schemas.microsoft.com/office/drawing/2014/main" id="{3B33A6A4-1619-47CE-969D-D358299BC60F}"/>
              </a:ext>
            </a:extLst>
          </p:cNvPr>
          <p:cNvSpPr>
            <a:spLocks xmlns:a="http://schemas.openxmlformats.org/drawingml/2006/main" noGrp="1"/>
          </p:cNvSpPr>
          <p:nvPr/>
        </p:nvSpPr>
        <p:spPr>
          <a:xfrm xmlns:a="http://schemas.openxmlformats.org/drawingml/2006/main">
            <a:off x="2571750" y="5905500"/>
            <a:ext cx="586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F6D76"/>
                </a:solidFill>
                <a:latin typeface="Arial"/>
                <a:ea typeface="Arial"/>
                <a:cs typeface="Arial"/>
              </a:defRPr>
            </a:defPPr>
            <a:lvl1pPr algn="l">
              <a:defRPr sz="1350">
                <a:solidFill>
                  <a:srgbClr val="5F6D76"/>
                </a:solidFill>
                <a:latin typeface="Arial"/>
                <a:ea typeface="Arial"/>
                <a:cs typeface="Arial"/>
              </a:defRPr>
            </a:lvl1pPr>
            <a:lvl2pPr algn="l">
              <a:defRPr sz="1350">
                <a:solidFill>
                  <a:srgbClr val="5F6D76"/>
                </a:solidFill>
                <a:latin typeface="Arial"/>
                <a:ea typeface="Arial"/>
                <a:cs typeface="Arial"/>
              </a:defRPr>
            </a:lvl2pPr>
            <a:lvl3pPr algn="l">
              <a:defRPr sz="1350">
                <a:solidFill>
                  <a:srgbClr val="5F6D76"/>
                </a:solidFill>
                <a:latin typeface="Arial"/>
                <a:ea typeface="Arial"/>
                <a:cs typeface="Arial"/>
              </a:defRPr>
            </a:lvl3pPr>
            <a:lvl4pPr algn="l">
              <a:defRPr sz="1350">
                <a:solidFill>
                  <a:srgbClr val="5F6D76"/>
                </a:solidFill>
                <a:latin typeface="Arial"/>
                <a:ea typeface="Arial"/>
                <a:cs typeface="Arial"/>
              </a:defRPr>
            </a:lvl4pPr>
            <a:lvl5pPr algn="l">
              <a:defRPr sz="1350">
                <a:solidFill>
                  <a:srgbClr val="5F6D76"/>
                </a:solidFill>
                <a:latin typeface="Arial"/>
                <a:ea typeface="Arial"/>
                <a:cs typeface="Arial"/>
              </a:defRPr>
            </a:lvl5pPr>
            <a:lvl6pPr algn="l">
              <a:defRPr sz="1350">
                <a:solidFill>
                  <a:srgbClr val="5F6D76"/>
                </a:solidFill>
                <a:latin typeface="Arial"/>
                <a:ea typeface="Arial"/>
                <a:cs typeface="Arial"/>
              </a:defRPr>
            </a:lvl6pPr>
            <a:lvl7pPr algn="l">
              <a:defRPr sz="1350">
                <a:solidFill>
                  <a:srgbClr val="5F6D76"/>
                </a:solidFill>
                <a:latin typeface="Arial"/>
                <a:ea typeface="Arial"/>
                <a:cs typeface="Arial"/>
              </a:defRPr>
            </a:lvl7pPr>
            <a:lvl8pPr algn="l">
              <a:defRPr sz="1350">
                <a:solidFill>
                  <a:srgbClr val="5F6D76"/>
                </a:solidFill>
                <a:latin typeface="Arial"/>
                <a:ea typeface="Arial"/>
                <a:cs typeface="Arial"/>
              </a:defRPr>
            </a:lvl8pPr>
            <a:lvl9pPr algn="l">
              <a:defRPr sz="1350">
                <a:solidFill>
                  <a:srgbClr val="5F6D76"/>
                </a:solidFill>
                <a:latin typeface="Arial"/>
                <a:ea typeface="Arial"/>
                <a:cs typeface="Arial"/>
              </a:defRPr>
            </a:lvl9pPr>
          </a:lstStyle>
          <a:p xmlns:a="http://schemas.openxmlformats.org/drawingml/2006/main">
            <a:pPr algn="l">
              <a:defRPr sz="1350">
                <a:solidFill>
                  <a:srgbClr val="5F6D76"/>
                </a:solidFill>
                <a:latin typeface="Arial"/>
                <a:ea typeface="Arial"/>
                <a:cs typeface="Arial"/>
              </a:defRPr>
            </a:pPr>
            <a:r>
              <a:rPr sz="1350">
                <a:solidFill>
                  <a:srgbClr val="5F6D76"/>
                </a:solidFill>
                <a:latin typeface="Arial"/>
                <a:ea typeface="Arial"/>
                <a:cs typeface="Arial"/>
              </a:rPr>
              <a:t>Coupled-local compresses 72 local values to 64, then fuses them with DeepCF's 64 values at width 128.</a:t>
            </a:r>
          </a:p>
        </p:txBody>
      </p:sp>
      <p:sp>
        <p:nvSpPr>
          <p:cNvPr id="25" name="scorer-loss">
            <a:extLst xmlns:a="http://schemas.openxmlformats.org/drawingml/2006/main">
              <a:ext uri="{FF2B5EF4-FFF2-40B4-BE49-F238E27FC236}">
                <a16:creationId xmlns:a16="http://schemas.microsoft.com/office/drawing/2014/main" id="{CEA37FC9-59C7-4D23-86B4-B52B95365C6C}"/>
              </a:ext>
            </a:extLst>
          </p:cNvPr>
          <p:cNvSpPr>
            <a:spLocks xmlns:a="http://schemas.openxmlformats.org/drawingml/2006/main" noGrp="1"/>
          </p:cNvSpPr>
          <p:nvPr/>
        </p:nvSpPr>
        <p:spPr>
          <a:xfrm xmlns:a="http://schemas.openxmlformats.org/drawingml/2006/main">
            <a:off x="8591550" y="5734050"/>
            <a:ext cx="320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71"/>
          </a:bodyPr>
          <a:lstStyle xmlns:a="http://schemas.openxmlformats.org/drawingml/2006/main">
            <a:defPPr algn="l">
              <a:defRPr sz="1275">
                <a:solidFill>
                  <a:srgbClr val="5F6D76"/>
                </a:solidFill>
                <a:latin typeface="Arial"/>
                <a:ea typeface="Arial"/>
                <a:cs typeface="Arial"/>
              </a:defRPr>
            </a:defPPr>
            <a:lvl1pPr algn="l">
              <a:defRPr sz="1275">
                <a:solidFill>
                  <a:srgbClr val="5F6D76"/>
                </a:solidFill>
                <a:latin typeface="Arial"/>
                <a:ea typeface="Arial"/>
                <a:cs typeface="Arial"/>
              </a:defRPr>
            </a:lvl1pPr>
            <a:lvl2pPr algn="l">
              <a:defRPr sz="1275">
                <a:solidFill>
                  <a:srgbClr val="5F6D76"/>
                </a:solidFill>
                <a:latin typeface="Arial"/>
                <a:ea typeface="Arial"/>
                <a:cs typeface="Arial"/>
              </a:defRPr>
            </a:lvl2pPr>
            <a:lvl3pPr algn="l">
              <a:defRPr sz="1275">
                <a:solidFill>
                  <a:srgbClr val="5F6D76"/>
                </a:solidFill>
                <a:latin typeface="Arial"/>
                <a:ea typeface="Arial"/>
                <a:cs typeface="Arial"/>
              </a:defRPr>
            </a:lvl3pPr>
            <a:lvl4pPr algn="l">
              <a:defRPr sz="1275">
                <a:solidFill>
                  <a:srgbClr val="5F6D76"/>
                </a:solidFill>
                <a:latin typeface="Arial"/>
                <a:ea typeface="Arial"/>
                <a:cs typeface="Arial"/>
              </a:defRPr>
            </a:lvl4pPr>
            <a:lvl5pPr algn="l">
              <a:defRPr sz="1275">
                <a:solidFill>
                  <a:srgbClr val="5F6D76"/>
                </a:solidFill>
                <a:latin typeface="Arial"/>
                <a:ea typeface="Arial"/>
                <a:cs typeface="Arial"/>
              </a:defRPr>
            </a:lvl5pPr>
            <a:lvl6pPr algn="l">
              <a:defRPr sz="1275">
                <a:solidFill>
                  <a:srgbClr val="5F6D76"/>
                </a:solidFill>
                <a:latin typeface="Arial"/>
                <a:ea typeface="Arial"/>
                <a:cs typeface="Arial"/>
              </a:defRPr>
            </a:lvl6pPr>
            <a:lvl7pPr algn="l">
              <a:defRPr sz="1275">
                <a:solidFill>
                  <a:srgbClr val="5F6D76"/>
                </a:solidFill>
                <a:latin typeface="Arial"/>
                <a:ea typeface="Arial"/>
                <a:cs typeface="Arial"/>
              </a:defRPr>
            </a:lvl7pPr>
            <a:lvl8pPr algn="l">
              <a:defRPr sz="1275">
                <a:solidFill>
                  <a:srgbClr val="5F6D76"/>
                </a:solidFill>
                <a:latin typeface="Arial"/>
                <a:ea typeface="Arial"/>
                <a:cs typeface="Arial"/>
              </a:defRPr>
            </a:lvl8pPr>
            <a:lvl9pPr algn="l">
              <a:defRPr sz="1275">
                <a:solidFill>
                  <a:srgbClr val="5F6D76"/>
                </a:solidFill>
                <a:latin typeface="Arial"/>
                <a:ea typeface="Arial"/>
                <a:cs typeface="Arial"/>
              </a:defRPr>
            </a:lvl9pPr>
          </a:lstStyle>
          <a:p xmlns:a="http://schemas.openxmlformats.org/drawingml/2006/main">
            <a:pPr algn="l">
              <a:defRPr sz="1275">
                <a:solidFill>
                  <a:srgbClr val="5F6D76"/>
                </a:solidFill>
                <a:latin typeface="Arial"/>
                <a:ea typeface="Arial"/>
                <a:cs typeface="Arial"/>
              </a:defRPr>
            </a:pPr>
            <a:r>
              <a:rPr sz="1275">
                <a:solidFill>
                  <a:srgbClr val="5F6D76"/>
                </a:solidFill>
                <a:latin typeface="Arial"/>
                <a:ea typeface="Arial"/>
                <a:cs typeface="Arial"/>
              </a:rPr>
              <a:t>Binary cross entropy with logits learns the score from observed interactions and sampled unobserved pairs.</a:t>
            </a:r>
          </a:p>
        </p:txBody>
      </p:sp>
    </p:spTree>
    <p:extLst>
      <p:ext uri="{BB962C8B-B14F-4D97-AF65-F5344CB8AC3E}">
        <p14:creationId xmlns:p14="http://schemas.microsoft.com/office/powerpoint/2010/main" val="8690356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98A509C0-50BD-42D2-B933-FB653D835640}"/>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MovieLens 1M and evaluation protocol</a:t>
            </a:r>
          </a:p>
        </p:txBody>
      </p:sp>
      <p:sp>
        <p:nvSpPr>
          <p:cNvPr id="2" name="divider">
            <a:extLst xmlns:a="http://schemas.openxmlformats.org/drawingml/2006/main">
              <a:ext uri="{FF2B5EF4-FFF2-40B4-BE49-F238E27FC236}">
                <a16:creationId xmlns:a16="http://schemas.microsoft.com/office/drawing/2014/main" id="{94709ABF-7557-416C-9787-6B93C2BA2A2A}"/>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46DA6B1C-1FBB-4278-AF60-597DA52063A3}"/>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Fixed user-level ranking candidates support matched model comparisons</a:t>
            </a:r>
          </a:p>
        </p:txBody>
      </p:sp>
      <p:sp>
        <p:nvSpPr>
          <p:cNvPr id="4" name="dataset-stat">
            <a:extLst xmlns:a="http://schemas.openxmlformats.org/drawingml/2006/main">
              <a:ext uri="{FF2B5EF4-FFF2-40B4-BE49-F238E27FC236}">
                <a16:creationId xmlns:a16="http://schemas.microsoft.com/office/drawing/2014/main" id="{113E0F62-96E4-4E7B-9083-364B1DD5FF51}"/>
              </a:ext>
            </a:extLst>
          </p:cNvPr>
          <p:cNvSpPr>
            <a:spLocks xmlns:a="http://schemas.openxmlformats.org/drawingml/2006/main" noGrp="1"/>
          </p:cNvSpPr>
          <p:nvPr/>
        </p:nvSpPr>
        <p:spPr>
          <a:xfrm xmlns:a="http://schemas.openxmlformats.org/drawingml/2006/main">
            <a:off x="685800" y="20002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9689A"/>
                </a:solidFill>
                <a:latin typeface="Arial"/>
                <a:ea typeface="Arial"/>
                <a:cs typeface="Arial"/>
              </a:defRPr>
            </a:defPPr>
            <a:lvl1pPr algn="l">
              <a:defRPr sz="3000" b="1">
                <a:solidFill>
                  <a:srgbClr val="19689A"/>
                </a:solidFill>
                <a:latin typeface="Arial"/>
                <a:ea typeface="Arial"/>
                <a:cs typeface="Arial"/>
              </a:defRPr>
            </a:lvl1pPr>
            <a:lvl2pPr algn="l">
              <a:defRPr sz="3000" b="1">
                <a:solidFill>
                  <a:srgbClr val="19689A"/>
                </a:solidFill>
                <a:latin typeface="Arial"/>
                <a:ea typeface="Arial"/>
                <a:cs typeface="Arial"/>
              </a:defRPr>
            </a:lvl2pPr>
            <a:lvl3pPr algn="l">
              <a:defRPr sz="3000" b="1">
                <a:solidFill>
                  <a:srgbClr val="19689A"/>
                </a:solidFill>
                <a:latin typeface="Arial"/>
                <a:ea typeface="Arial"/>
                <a:cs typeface="Arial"/>
              </a:defRPr>
            </a:lvl3pPr>
            <a:lvl4pPr algn="l">
              <a:defRPr sz="3000" b="1">
                <a:solidFill>
                  <a:srgbClr val="19689A"/>
                </a:solidFill>
                <a:latin typeface="Arial"/>
                <a:ea typeface="Arial"/>
                <a:cs typeface="Arial"/>
              </a:defRPr>
            </a:lvl4pPr>
            <a:lvl5pPr algn="l">
              <a:defRPr sz="3000" b="1">
                <a:solidFill>
                  <a:srgbClr val="19689A"/>
                </a:solidFill>
                <a:latin typeface="Arial"/>
                <a:ea typeface="Arial"/>
                <a:cs typeface="Arial"/>
              </a:defRPr>
            </a:lvl5pPr>
            <a:lvl6pPr algn="l">
              <a:defRPr sz="3000" b="1">
                <a:solidFill>
                  <a:srgbClr val="19689A"/>
                </a:solidFill>
                <a:latin typeface="Arial"/>
                <a:ea typeface="Arial"/>
                <a:cs typeface="Arial"/>
              </a:defRPr>
            </a:lvl6pPr>
            <a:lvl7pPr algn="l">
              <a:defRPr sz="3000" b="1">
                <a:solidFill>
                  <a:srgbClr val="19689A"/>
                </a:solidFill>
                <a:latin typeface="Arial"/>
                <a:ea typeface="Arial"/>
                <a:cs typeface="Arial"/>
              </a:defRPr>
            </a:lvl7pPr>
            <a:lvl8pPr algn="l">
              <a:defRPr sz="3000" b="1">
                <a:solidFill>
                  <a:srgbClr val="19689A"/>
                </a:solidFill>
                <a:latin typeface="Arial"/>
                <a:ea typeface="Arial"/>
                <a:cs typeface="Arial"/>
              </a:defRPr>
            </a:lvl8pPr>
            <a:lvl9pPr algn="l">
              <a:defRPr sz="3000" b="1">
                <a:solidFill>
                  <a:srgbClr val="19689A"/>
                </a:solidFill>
                <a:latin typeface="Arial"/>
                <a:ea typeface="Arial"/>
                <a:cs typeface="Arial"/>
              </a:defRPr>
            </a:lvl9pPr>
          </a:lstStyle>
          <a:p xmlns:a="http://schemas.openxmlformats.org/drawingml/2006/main">
            <a:pPr algn="l">
              <a:defRPr sz="3000" b="1">
                <a:solidFill>
                  <a:srgbClr val="19689A"/>
                </a:solidFill>
                <a:latin typeface="Arial"/>
                <a:ea typeface="Arial"/>
                <a:cs typeface="Arial"/>
              </a:defRPr>
            </a:pPr>
            <a:r>
              <a:rPr sz="3000" b="1">
                <a:solidFill>
                  <a:srgbClr val="19689A"/>
                </a:solidFill>
                <a:latin typeface="Arial"/>
                <a:ea typeface="Arial"/>
                <a:cs typeface="Arial"/>
              </a:rPr>
              <a:t>6,040</a:t>
            </a:r>
          </a:p>
        </p:txBody>
      </p:sp>
      <p:sp>
        <p:nvSpPr>
          <p:cNvPr id="5" name="dataset-stat-label">
            <a:extLst xmlns:a="http://schemas.openxmlformats.org/drawingml/2006/main">
              <a:ext uri="{FF2B5EF4-FFF2-40B4-BE49-F238E27FC236}">
                <a16:creationId xmlns:a16="http://schemas.microsoft.com/office/drawing/2014/main" id="{2ED11148-22B4-4438-8DA9-64517E1DB6F4}"/>
              </a:ext>
            </a:extLst>
          </p:cNvPr>
          <p:cNvSpPr>
            <a:spLocks xmlns:a="http://schemas.openxmlformats.org/drawingml/2006/main" noGrp="1"/>
          </p:cNvSpPr>
          <p:nvPr/>
        </p:nvSpPr>
        <p:spPr>
          <a:xfrm xmlns:a="http://schemas.openxmlformats.org/drawingml/2006/main">
            <a:off x="685800" y="2705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5F6D76"/>
                </a:solidFill>
                <a:latin typeface="Arial"/>
                <a:ea typeface="Arial"/>
                <a:cs typeface="Arial"/>
              </a:defRPr>
            </a:defPPr>
            <a:lvl1pPr algn="l">
              <a:defRPr sz="1650">
                <a:solidFill>
                  <a:srgbClr val="5F6D76"/>
                </a:solidFill>
                <a:latin typeface="Arial"/>
                <a:ea typeface="Arial"/>
                <a:cs typeface="Arial"/>
              </a:defRPr>
            </a:lvl1pPr>
            <a:lvl2pPr algn="l">
              <a:defRPr sz="1650">
                <a:solidFill>
                  <a:srgbClr val="5F6D76"/>
                </a:solidFill>
                <a:latin typeface="Arial"/>
                <a:ea typeface="Arial"/>
                <a:cs typeface="Arial"/>
              </a:defRPr>
            </a:lvl2pPr>
            <a:lvl3pPr algn="l">
              <a:defRPr sz="1650">
                <a:solidFill>
                  <a:srgbClr val="5F6D76"/>
                </a:solidFill>
                <a:latin typeface="Arial"/>
                <a:ea typeface="Arial"/>
                <a:cs typeface="Arial"/>
              </a:defRPr>
            </a:lvl3pPr>
            <a:lvl4pPr algn="l">
              <a:defRPr sz="1650">
                <a:solidFill>
                  <a:srgbClr val="5F6D76"/>
                </a:solidFill>
                <a:latin typeface="Arial"/>
                <a:ea typeface="Arial"/>
                <a:cs typeface="Arial"/>
              </a:defRPr>
            </a:lvl4pPr>
            <a:lvl5pPr algn="l">
              <a:defRPr sz="1650">
                <a:solidFill>
                  <a:srgbClr val="5F6D76"/>
                </a:solidFill>
                <a:latin typeface="Arial"/>
                <a:ea typeface="Arial"/>
                <a:cs typeface="Arial"/>
              </a:defRPr>
            </a:lvl5pPr>
            <a:lvl6pPr algn="l">
              <a:defRPr sz="1650">
                <a:solidFill>
                  <a:srgbClr val="5F6D76"/>
                </a:solidFill>
                <a:latin typeface="Arial"/>
                <a:ea typeface="Arial"/>
                <a:cs typeface="Arial"/>
              </a:defRPr>
            </a:lvl6pPr>
            <a:lvl7pPr algn="l">
              <a:defRPr sz="1650">
                <a:solidFill>
                  <a:srgbClr val="5F6D76"/>
                </a:solidFill>
                <a:latin typeface="Arial"/>
                <a:ea typeface="Arial"/>
                <a:cs typeface="Arial"/>
              </a:defRPr>
            </a:lvl7pPr>
            <a:lvl8pPr algn="l">
              <a:defRPr sz="1650">
                <a:solidFill>
                  <a:srgbClr val="5F6D76"/>
                </a:solidFill>
                <a:latin typeface="Arial"/>
                <a:ea typeface="Arial"/>
                <a:cs typeface="Arial"/>
              </a:defRPr>
            </a:lvl8pPr>
            <a:lvl9pPr algn="l">
              <a:defRPr sz="1650">
                <a:solidFill>
                  <a:srgbClr val="5F6D76"/>
                </a:solidFill>
                <a:latin typeface="Arial"/>
                <a:ea typeface="Arial"/>
                <a:cs typeface="Arial"/>
              </a:defRPr>
            </a:lvl9pPr>
          </a:lstStyle>
          <a:p xmlns:a="http://schemas.openxmlformats.org/drawingml/2006/main">
            <a:pPr algn="l">
              <a:defRPr sz="1650">
                <a:solidFill>
                  <a:srgbClr val="5F6D76"/>
                </a:solidFill>
                <a:latin typeface="Arial"/>
                <a:ea typeface="Arial"/>
                <a:cs typeface="Arial"/>
              </a:defRPr>
            </a:pPr>
            <a:r>
              <a:rPr sz="1650">
                <a:solidFill>
                  <a:srgbClr val="5F6D76"/>
                </a:solidFill>
                <a:latin typeface="Arial"/>
                <a:ea typeface="Arial"/>
                <a:cs typeface="Arial"/>
              </a:rPr>
              <a:t>users</a:t>
            </a:r>
          </a:p>
        </p:txBody>
      </p:sp>
      <p:sp>
        <p:nvSpPr>
          <p:cNvPr id="6" name="dataset-stat">
            <a:extLst xmlns:a="http://schemas.openxmlformats.org/drawingml/2006/main">
              <a:ext uri="{FF2B5EF4-FFF2-40B4-BE49-F238E27FC236}">
                <a16:creationId xmlns:a16="http://schemas.microsoft.com/office/drawing/2014/main" id="{0E7D6D1D-41E5-40AB-A8E4-567B281230A6}"/>
              </a:ext>
            </a:extLst>
          </p:cNvPr>
          <p:cNvSpPr>
            <a:spLocks xmlns:a="http://schemas.openxmlformats.org/drawingml/2006/main" noGrp="1"/>
          </p:cNvSpPr>
          <p:nvPr/>
        </p:nvSpPr>
        <p:spPr>
          <a:xfrm xmlns:a="http://schemas.openxmlformats.org/drawingml/2006/main">
            <a:off x="4267200" y="20002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47C74"/>
                </a:solidFill>
                <a:latin typeface="Arial"/>
                <a:ea typeface="Arial"/>
                <a:cs typeface="Arial"/>
              </a:defRPr>
            </a:defPPr>
            <a:lvl1pPr algn="l">
              <a:defRPr sz="3000" b="1">
                <a:solidFill>
                  <a:srgbClr val="147C74"/>
                </a:solidFill>
                <a:latin typeface="Arial"/>
                <a:ea typeface="Arial"/>
                <a:cs typeface="Arial"/>
              </a:defRPr>
            </a:lvl1pPr>
            <a:lvl2pPr algn="l">
              <a:defRPr sz="3000" b="1">
                <a:solidFill>
                  <a:srgbClr val="147C74"/>
                </a:solidFill>
                <a:latin typeface="Arial"/>
                <a:ea typeface="Arial"/>
                <a:cs typeface="Arial"/>
              </a:defRPr>
            </a:lvl2pPr>
            <a:lvl3pPr algn="l">
              <a:defRPr sz="3000" b="1">
                <a:solidFill>
                  <a:srgbClr val="147C74"/>
                </a:solidFill>
                <a:latin typeface="Arial"/>
                <a:ea typeface="Arial"/>
                <a:cs typeface="Arial"/>
              </a:defRPr>
            </a:lvl3pPr>
            <a:lvl4pPr algn="l">
              <a:defRPr sz="3000" b="1">
                <a:solidFill>
                  <a:srgbClr val="147C74"/>
                </a:solidFill>
                <a:latin typeface="Arial"/>
                <a:ea typeface="Arial"/>
                <a:cs typeface="Arial"/>
              </a:defRPr>
            </a:lvl4pPr>
            <a:lvl5pPr algn="l">
              <a:defRPr sz="3000" b="1">
                <a:solidFill>
                  <a:srgbClr val="147C74"/>
                </a:solidFill>
                <a:latin typeface="Arial"/>
                <a:ea typeface="Arial"/>
                <a:cs typeface="Arial"/>
              </a:defRPr>
            </a:lvl5pPr>
            <a:lvl6pPr algn="l">
              <a:defRPr sz="3000" b="1">
                <a:solidFill>
                  <a:srgbClr val="147C74"/>
                </a:solidFill>
                <a:latin typeface="Arial"/>
                <a:ea typeface="Arial"/>
                <a:cs typeface="Arial"/>
              </a:defRPr>
            </a:lvl6pPr>
            <a:lvl7pPr algn="l">
              <a:defRPr sz="3000" b="1">
                <a:solidFill>
                  <a:srgbClr val="147C74"/>
                </a:solidFill>
                <a:latin typeface="Arial"/>
                <a:ea typeface="Arial"/>
                <a:cs typeface="Arial"/>
              </a:defRPr>
            </a:lvl7pPr>
            <a:lvl8pPr algn="l">
              <a:defRPr sz="3000" b="1">
                <a:solidFill>
                  <a:srgbClr val="147C74"/>
                </a:solidFill>
                <a:latin typeface="Arial"/>
                <a:ea typeface="Arial"/>
                <a:cs typeface="Arial"/>
              </a:defRPr>
            </a:lvl8pPr>
            <a:lvl9pPr algn="l">
              <a:defRPr sz="3000" b="1">
                <a:solidFill>
                  <a:srgbClr val="147C74"/>
                </a:solidFill>
                <a:latin typeface="Arial"/>
                <a:ea typeface="Arial"/>
                <a:cs typeface="Arial"/>
              </a:defRPr>
            </a:lvl9pPr>
          </a:lstStyle>
          <a:p xmlns:a="http://schemas.openxmlformats.org/drawingml/2006/main">
            <a:pPr algn="l">
              <a:defRPr sz="3000" b="1">
                <a:solidFill>
                  <a:srgbClr val="147C74"/>
                </a:solidFill>
                <a:latin typeface="Arial"/>
                <a:ea typeface="Arial"/>
                <a:cs typeface="Arial"/>
              </a:defRPr>
            </a:pPr>
            <a:r>
              <a:rPr sz="3000" b="1">
                <a:solidFill>
                  <a:srgbClr val="147C74"/>
                </a:solidFill>
                <a:latin typeface="Arial"/>
                <a:ea typeface="Arial"/>
                <a:cs typeface="Arial"/>
              </a:rPr>
              <a:t>1,000,209</a:t>
            </a:r>
          </a:p>
        </p:txBody>
      </p:sp>
      <p:sp>
        <p:nvSpPr>
          <p:cNvPr id="7" name="dataset-stat-label">
            <a:extLst xmlns:a="http://schemas.openxmlformats.org/drawingml/2006/main">
              <a:ext uri="{FF2B5EF4-FFF2-40B4-BE49-F238E27FC236}">
                <a16:creationId xmlns:a16="http://schemas.microsoft.com/office/drawing/2014/main" id="{330ADB33-D9A9-40C5-A6EC-D733680BC9F8}"/>
              </a:ext>
            </a:extLst>
          </p:cNvPr>
          <p:cNvSpPr>
            <a:spLocks xmlns:a="http://schemas.openxmlformats.org/drawingml/2006/main" noGrp="1"/>
          </p:cNvSpPr>
          <p:nvPr/>
        </p:nvSpPr>
        <p:spPr>
          <a:xfrm xmlns:a="http://schemas.openxmlformats.org/drawingml/2006/main">
            <a:off x="4267200" y="2705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5F6D76"/>
                </a:solidFill>
                <a:latin typeface="Arial"/>
                <a:ea typeface="Arial"/>
                <a:cs typeface="Arial"/>
              </a:defRPr>
            </a:defPPr>
            <a:lvl1pPr algn="l">
              <a:defRPr sz="1650">
                <a:solidFill>
                  <a:srgbClr val="5F6D76"/>
                </a:solidFill>
                <a:latin typeface="Arial"/>
                <a:ea typeface="Arial"/>
                <a:cs typeface="Arial"/>
              </a:defRPr>
            </a:lvl1pPr>
            <a:lvl2pPr algn="l">
              <a:defRPr sz="1650">
                <a:solidFill>
                  <a:srgbClr val="5F6D76"/>
                </a:solidFill>
                <a:latin typeface="Arial"/>
                <a:ea typeface="Arial"/>
                <a:cs typeface="Arial"/>
              </a:defRPr>
            </a:lvl2pPr>
            <a:lvl3pPr algn="l">
              <a:defRPr sz="1650">
                <a:solidFill>
                  <a:srgbClr val="5F6D76"/>
                </a:solidFill>
                <a:latin typeface="Arial"/>
                <a:ea typeface="Arial"/>
                <a:cs typeface="Arial"/>
              </a:defRPr>
            </a:lvl3pPr>
            <a:lvl4pPr algn="l">
              <a:defRPr sz="1650">
                <a:solidFill>
                  <a:srgbClr val="5F6D76"/>
                </a:solidFill>
                <a:latin typeface="Arial"/>
                <a:ea typeface="Arial"/>
                <a:cs typeface="Arial"/>
              </a:defRPr>
            </a:lvl4pPr>
            <a:lvl5pPr algn="l">
              <a:defRPr sz="1650">
                <a:solidFill>
                  <a:srgbClr val="5F6D76"/>
                </a:solidFill>
                <a:latin typeface="Arial"/>
                <a:ea typeface="Arial"/>
                <a:cs typeface="Arial"/>
              </a:defRPr>
            </a:lvl5pPr>
            <a:lvl6pPr algn="l">
              <a:defRPr sz="1650">
                <a:solidFill>
                  <a:srgbClr val="5F6D76"/>
                </a:solidFill>
                <a:latin typeface="Arial"/>
                <a:ea typeface="Arial"/>
                <a:cs typeface="Arial"/>
              </a:defRPr>
            </a:lvl6pPr>
            <a:lvl7pPr algn="l">
              <a:defRPr sz="1650">
                <a:solidFill>
                  <a:srgbClr val="5F6D76"/>
                </a:solidFill>
                <a:latin typeface="Arial"/>
                <a:ea typeface="Arial"/>
                <a:cs typeface="Arial"/>
              </a:defRPr>
            </a:lvl7pPr>
            <a:lvl8pPr algn="l">
              <a:defRPr sz="1650">
                <a:solidFill>
                  <a:srgbClr val="5F6D76"/>
                </a:solidFill>
                <a:latin typeface="Arial"/>
                <a:ea typeface="Arial"/>
                <a:cs typeface="Arial"/>
              </a:defRPr>
            </a:lvl8pPr>
            <a:lvl9pPr algn="l">
              <a:defRPr sz="1650">
                <a:solidFill>
                  <a:srgbClr val="5F6D76"/>
                </a:solidFill>
                <a:latin typeface="Arial"/>
                <a:ea typeface="Arial"/>
                <a:cs typeface="Arial"/>
              </a:defRPr>
            </a:lvl9pPr>
          </a:lstStyle>
          <a:p xmlns:a="http://schemas.openxmlformats.org/drawingml/2006/main">
            <a:pPr algn="l">
              <a:defRPr sz="1650">
                <a:solidFill>
                  <a:srgbClr val="5F6D76"/>
                </a:solidFill>
                <a:latin typeface="Arial"/>
                <a:ea typeface="Arial"/>
                <a:cs typeface="Arial"/>
              </a:defRPr>
            </a:pPr>
            <a:r>
              <a:rPr sz="1650">
                <a:solidFill>
                  <a:srgbClr val="5F6D76"/>
                </a:solidFill>
                <a:latin typeface="Arial"/>
                <a:ea typeface="Arial"/>
                <a:cs typeface="Arial"/>
              </a:rPr>
              <a:t>observed ratings</a:t>
            </a:r>
          </a:p>
        </p:txBody>
      </p:sp>
      <p:sp>
        <p:nvSpPr>
          <p:cNvPr id="8" name="dataset-stat">
            <a:extLst xmlns:a="http://schemas.openxmlformats.org/drawingml/2006/main">
              <a:ext uri="{FF2B5EF4-FFF2-40B4-BE49-F238E27FC236}">
                <a16:creationId xmlns:a16="http://schemas.microsoft.com/office/drawing/2014/main" id="{A3497474-56B7-468C-A3B5-B041C88F93D9}"/>
              </a:ext>
            </a:extLst>
          </p:cNvPr>
          <p:cNvSpPr>
            <a:spLocks xmlns:a="http://schemas.openxmlformats.org/drawingml/2006/main" noGrp="1"/>
          </p:cNvSpPr>
          <p:nvPr/>
        </p:nvSpPr>
        <p:spPr>
          <a:xfrm xmlns:a="http://schemas.openxmlformats.org/drawingml/2006/main">
            <a:off x="7848600" y="20002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C97725"/>
                </a:solidFill>
                <a:latin typeface="Arial"/>
                <a:ea typeface="Arial"/>
                <a:cs typeface="Arial"/>
              </a:defRPr>
            </a:defPPr>
            <a:lvl1pPr algn="l">
              <a:defRPr sz="3000" b="1">
                <a:solidFill>
                  <a:srgbClr val="C97725"/>
                </a:solidFill>
                <a:latin typeface="Arial"/>
                <a:ea typeface="Arial"/>
                <a:cs typeface="Arial"/>
              </a:defRPr>
            </a:lvl1pPr>
            <a:lvl2pPr algn="l">
              <a:defRPr sz="3000" b="1">
                <a:solidFill>
                  <a:srgbClr val="C97725"/>
                </a:solidFill>
                <a:latin typeface="Arial"/>
                <a:ea typeface="Arial"/>
                <a:cs typeface="Arial"/>
              </a:defRPr>
            </a:lvl2pPr>
            <a:lvl3pPr algn="l">
              <a:defRPr sz="3000" b="1">
                <a:solidFill>
                  <a:srgbClr val="C97725"/>
                </a:solidFill>
                <a:latin typeface="Arial"/>
                <a:ea typeface="Arial"/>
                <a:cs typeface="Arial"/>
              </a:defRPr>
            </a:lvl3pPr>
            <a:lvl4pPr algn="l">
              <a:defRPr sz="3000" b="1">
                <a:solidFill>
                  <a:srgbClr val="C97725"/>
                </a:solidFill>
                <a:latin typeface="Arial"/>
                <a:ea typeface="Arial"/>
                <a:cs typeface="Arial"/>
              </a:defRPr>
            </a:lvl4pPr>
            <a:lvl5pPr algn="l">
              <a:defRPr sz="3000" b="1">
                <a:solidFill>
                  <a:srgbClr val="C97725"/>
                </a:solidFill>
                <a:latin typeface="Arial"/>
                <a:ea typeface="Arial"/>
                <a:cs typeface="Arial"/>
              </a:defRPr>
            </a:lvl5pPr>
            <a:lvl6pPr algn="l">
              <a:defRPr sz="3000" b="1">
                <a:solidFill>
                  <a:srgbClr val="C97725"/>
                </a:solidFill>
                <a:latin typeface="Arial"/>
                <a:ea typeface="Arial"/>
                <a:cs typeface="Arial"/>
              </a:defRPr>
            </a:lvl6pPr>
            <a:lvl7pPr algn="l">
              <a:defRPr sz="3000" b="1">
                <a:solidFill>
                  <a:srgbClr val="C97725"/>
                </a:solidFill>
                <a:latin typeface="Arial"/>
                <a:ea typeface="Arial"/>
                <a:cs typeface="Arial"/>
              </a:defRPr>
            </a:lvl7pPr>
            <a:lvl8pPr algn="l">
              <a:defRPr sz="3000" b="1">
                <a:solidFill>
                  <a:srgbClr val="C97725"/>
                </a:solidFill>
                <a:latin typeface="Arial"/>
                <a:ea typeface="Arial"/>
                <a:cs typeface="Arial"/>
              </a:defRPr>
            </a:lvl8pPr>
            <a:lvl9pPr algn="l">
              <a:defRPr sz="3000" b="1">
                <a:solidFill>
                  <a:srgbClr val="C97725"/>
                </a:solidFill>
                <a:latin typeface="Arial"/>
                <a:ea typeface="Arial"/>
                <a:cs typeface="Arial"/>
              </a:defRPr>
            </a:lvl9pPr>
          </a:lstStyle>
          <a:p xmlns:a="http://schemas.openxmlformats.org/drawingml/2006/main">
            <a:pPr algn="l">
              <a:defRPr sz="3000" b="1">
                <a:solidFill>
                  <a:srgbClr val="C97725"/>
                </a:solidFill>
                <a:latin typeface="Arial"/>
                <a:ea typeface="Arial"/>
                <a:cs typeface="Arial"/>
              </a:defRPr>
            </a:pPr>
            <a:r>
              <a:rPr sz="3000" b="1">
                <a:solidFill>
                  <a:srgbClr val="C97725"/>
                </a:solidFill>
                <a:latin typeface="Arial"/>
                <a:ea typeface="Arial"/>
                <a:cs typeface="Arial"/>
              </a:rPr>
              <a:t>3,883 / 3,706</a:t>
            </a:r>
          </a:p>
        </p:txBody>
      </p:sp>
      <p:sp>
        <p:nvSpPr>
          <p:cNvPr id="9" name="dataset-stat-label">
            <a:extLst xmlns:a="http://schemas.openxmlformats.org/drawingml/2006/main">
              <a:ext uri="{FF2B5EF4-FFF2-40B4-BE49-F238E27FC236}">
                <a16:creationId xmlns:a16="http://schemas.microsoft.com/office/drawing/2014/main" id="{991D6131-62A1-411F-8AE1-B531B6029312}"/>
              </a:ext>
            </a:extLst>
          </p:cNvPr>
          <p:cNvSpPr>
            <a:spLocks xmlns:a="http://schemas.openxmlformats.org/drawingml/2006/main" noGrp="1"/>
          </p:cNvSpPr>
          <p:nvPr/>
        </p:nvSpPr>
        <p:spPr>
          <a:xfrm xmlns:a="http://schemas.openxmlformats.org/drawingml/2006/main">
            <a:off x="7848600" y="27051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5F6D76"/>
                </a:solidFill>
                <a:latin typeface="Arial"/>
                <a:ea typeface="Arial"/>
                <a:cs typeface="Arial"/>
              </a:defRPr>
            </a:defPPr>
            <a:lvl1pPr algn="l">
              <a:defRPr sz="1650">
                <a:solidFill>
                  <a:srgbClr val="5F6D76"/>
                </a:solidFill>
                <a:latin typeface="Arial"/>
                <a:ea typeface="Arial"/>
                <a:cs typeface="Arial"/>
              </a:defRPr>
            </a:lvl1pPr>
            <a:lvl2pPr algn="l">
              <a:defRPr sz="1650">
                <a:solidFill>
                  <a:srgbClr val="5F6D76"/>
                </a:solidFill>
                <a:latin typeface="Arial"/>
                <a:ea typeface="Arial"/>
                <a:cs typeface="Arial"/>
              </a:defRPr>
            </a:lvl2pPr>
            <a:lvl3pPr algn="l">
              <a:defRPr sz="1650">
                <a:solidFill>
                  <a:srgbClr val="5F6D76"/>
                </a:solidFill>
                <a:latin typeface="Arial"/>
                <a:ea typeface="Arial"/>
                <a:cs typeface="Arial"/>
              </a:defRPr>
            </a:lvl3pPr>
            <a:lvl4pPr algn="l">
              <a:defRPr sz="1650">
                <a:solidFill>
                  <a:srgbClr val="5F6D76"/>
                </a:solidFill>
                <a:latin typeface="Arial"/>
                <a:ea typeface="Arial"/>
                <a:cs typeface="Arial"/>
              </a:defRPr>
            </a:lvl4pPr>
            <a:lvl5pPr algn="l">
              <a:defRPr sz="1650">
                <a:solidFill>
                  <a:srgbClr val="5F6D76"/>
                </a:solidFill>
                <a:latin typeface="Arial"/>
                <a:ea typeface="Arial"/>
                <a:cs typeface="Arial"/>
              </a:defRPr>
            </a:lvl5pPr>
            <a:lvl6pPr algn="l">
              <a:defRPr sz="1650">
                <a:solidFill>
                  <a:srgbClr val="5F6D76"/>
                </a:solidFill>
                <a:latin typeface="Arial"/>
                <a:ea typeface="Arial"/>
                <a:cs typeface="Arial"/>
              </a:defRPr>
            </a:lvl6pPr>
            <a:lvl7pPr algn="l">
              <a:defRPr sz="1650">
                <a:solidFill>
                  <a:srgbClr val="5F6D76"/>
                </a:solidFill>
                <a:latin typeface="Arial"/>
                <a:ea typeface="Arial"/>
                <a:cs typeface="Arial"/>
              </a:defRPr>
            </a:lvl7pPr>
            <a:lvl8pPr algn="l">
              <a:defRPr sz="1650">
                <a:solidFill>
                  <a:srgbClr val="5F6D76"/>
                </a:solidFill>
                <a:latin typeface="Arial"/>
                <a:ea typeface="Arial"/>
                <a:cs typeface="Arial"/>
              </a:defRPr>
            </a:lvl8pPr>
            <a:lvl9pPr algn="l">
              <a:defRPr sz="1650">
                <a:solidFill>
                  <a:srgbClr val="5F6D76"/>
                </a:solidFill>
                <a:latin typeface="Arial"/>
                <a:ea typeface="Arial"/>
                <a:cs typeface="Arial"/>
              </a:defRPr>
            </a:lvl9pPr>
          </a:lstStyle>
          <a:p xmlns:a="http://schemas.openxmlformats.org/drawingml/2006/main">
            <a:pPr algn="l">
              <a:defRPr sz="1650">
                <a:solidFill>
                  <a:srgbClr val="5F6D76"/>
                </a:solidFill>
                <a:latin typeface="Arial"/>
                <a:ea typeface="Arial"/>
                <a:cs typeface="Arial"/>
              </a:defRPr>
            </a:pPr>
            <a:r>
              <a:rPr sz="1650">
                <a:solidFill>
                  <a:srgbClr val="5F6D76"/>
                </a:solidFill>
                <a:latin typeface="Arial"/>
                <a:ea typeface="Arial"/>
                <a:cs typeface="Arial"/>
              </a:rPr>
              <a:t>metadata titles / rated titles</a:t>
            </a:r>
          </a:p>
        </p:txBody>
      </p:sp>
      <p:sp>
        <p:nvSpPr>
          <p:cNvPr id="10" name="divider">
            <a:extLst xmlns:a="http://schemas.openxmlformats.org/drawingml/2006/main">
              <a:ext uri="{FF2B5EF4-FFF2-40B4-BE49-F238E27FC236}">
                <a16:creationId xmlns:a16="http://schemas.microsoft.com/office/drawing/2014/main" id="{21EA06FE-B366-4697-8219-B787C75A81CA}"/>
              </a:ext>
            </a:extLst>
          </p:cNvPr>
          <p:cNvSpPr>
            <a:spLocks xmlns:a="http://schemas.openxmlformats.org/drawingml/2006/main" noGrp="1"/>
          </p:cNvSpPr>
          <p:nvPr/>
        </p:nvSpPr>
        <p:spPr>
          <a:xfrm xmlns:a="http://schemas.openxmlformats.org/drawingml/2006/main">
            <a:off x="685800" y="3371850"/>
            <a:ext cx="10439400" cy="9525"/>
          </a:xfrm>
          <a:prstGeom xmlns:a="http://schemas.openxmlformats.org/drawingml/2006/main" prst="rect">
            <a:avLst/>
          </a:prstGeom>
          <a:solidFill xmlns:a="http://schemas.openxmlformats.org/drawingml/2006/main">
            <a:srgbClr val="D5DEE3"/>
          </a:solidFill>
          <a:ln xmlns:a="http://schemas.openxmlformats.org/drawingml/2006/main" w="0">
            <a:solidFill>
              <a:srgbClr val="D5DEE3"/>
            </a:solidFill>
            <a:prstDash val="solid"/>
          </a:ln>
        </p:spPr>
      </p:sp>
      <p:sp>
        <p:nvSpPr>
          <p:cNvPr id="11" name="section-heading">
            <a:extLst xmlns:a="http://schemas.openxmlformats.org/drawingml/2006/main">
              <a:ext uri="{FF2B5EF4-FFF2-40B4-BE49-F238E27FC236}">
                <a16:creationId xmlns:a16="http://schemas.microsoft.com/office/drawing/2014/main" id="{BB7B48AF-345D-4591-93AE-A63ADCB5A5EF}"/>
              </a:ext>
            </a:extLst>
          </p:cNvPr>
          <p:cNvSpPr>
            <a:spLocks xmlns:a="http://schemas.openxmlformats.org/drawingml/2006/main" noGrp="1"/>
          </p:cNvSpPr>
          <p:nvPr/>
        </p:nvSpPr>
        <p:spPr>
          <a:xfrm xmlns:a="http://schemas.openxmlformats.org/drawingml/2006/main">
            <a:off x="685800" y="3657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9689A"/>
                </a:solidFill>
                <a:latin typeface="Arial"/>
                <a:ea typeface="Arial"/>
                <a:cs typeface="Arial"/>
              </a:defRPr>
            </a:defPPr>
            <a:lvl1pPr algn="l">
              <a:defRPr sz="1725" b="1">
                <a:solidFill>
                  <a:srgbClr val="19689A"/>
                </a:solidFill>
                <a:latin typeface="Arial"/>
                <a:ea typeface="Arial"/>
                <a:cs typeface="Arial"/>
              </a:defRPr>
            </a:lvl1pPr>
            <a:lvl2pPr algn="l">
              <a:defRPr sz="1725" b="1">
                <a:solidFill>
                  <a:srgbClr val="19689A"/>
                </a:solidFill>
                <a:latin typeface="Arial"/>
                <a:ea typeface="Arial"/>
                <a:cs typeface="Arial"/>
              </a:defRPr>
            </a:lvl2pPr>
            <a:lvl3pPr algn="l">
              <a:defRPr sz="1725" b="1">
                <a:solidFill>
                  <a:srgbClr val="19689A"/>
                </a:solidFill>
                <a:latin typeface="Arial"/>
                <a:ea typeface="Arial"/>
                <a:cs typeface="Arial"/>
              </a:defRPr>
            </a:lvl3pPr>
            <a:lvl4pPr algn="l">
              <a:defRPr sz="1725" b="1">
                <a:solidFill>
                  <a:srgbClr val="19689A"/>
                </a:solidFill>
                <a:latin typeface="Arial"/>
                <a:ea typeface="Arial"/>
                <a:cs typeface="Arial"/>
              </a:defRPr>
            </a:lvl4pPr>
            <a:lvl5pPr algn="l">
              <a:defRPr sz="1725" b="1">
                <a:solidFill>
                  <a:srgbClr val="19689A"/>
                </a:solidFill>
                <a:latin typeface="Arial"/>
                <a:ea typeface="Arial"/>
                <a:cs typeface="Arial"/>
              </a:defRPr>
            </a:lvl5pPr>
            <a:lvl6pPr algn="l">
              <a:defRPr sz="1725" b="1">
                <a:solidFill>
                  <a:srgbClr val="19689A"/>
                </a:solidFill>
                <a:latin typeface="Arial"/>
                <a:ea typeface="Arial"/>
                <a:cs typeface="Arial"/>
              </a:defRPr>
            </a:lvl6pPr>
            <a:lvl7pPr algn="l">
              <a:defRPr sz="1725" b="1">
                <a:solidFill>
                  <a:srgbClr val="19689A"/>
                </a:solidFill>
                <a:latin typeface="Arial"/>
                <a:ea typeface="Arial"/>
                <a:cs typeface="Arial"/>
              </a:defRPr>
            </a:lvl7pPr>
            <a:lvl8pPr algn="l">
              <a:defRPr sz="1725" b="1">
                <a:solidFill>
                  <a:srgbClr val="19689A"/>
                </a:solidFill>
                <a:latin typeface="Arial"/>
                <a:ea typeface="Arial"/>
                <a:cs typeface="Arial"/>
              </a:defRPr>
            </a:lvl8pPr>
            <a:lvl9pPr algn="l">
              <a:defRPr sz="1725" b="1">
                <a:solidFill>
                  <a:srgbClr val="19689A"/>
                </a:solidFill>
                <a:latin typeface="Arial"/>
                <a:ea typeface="Arial"/>
                <a:cs typeface="Arial"/>
              </a:defRPr>
            </a:lvl9pPr>
          </a:lstStyle>
          <a:p xmlns:a="http://schemas.openxmlformats.org/drawingml/2006/main">
            <a:pPr algn="l">
              <a:defRPr sz="1725" b="1">
                <a:solidFill>
                  <a:srgbClr val="19689A"/>
                </a:solidFill>
                <a:latin typeface="Arial"/>
                <a:ea typeface="Arial"/>
                <a:cs typeface="Arial"/>
              </a:defRPr>
            </a:pPr>
            <a:r>
              <a:rPr sz="1725" b="1">
                <a:solidFill>
                  <a:srgbClr val="19689A"/>
                </a:solidFill>
                <a:latin typeface="Arial"/>
                <a:ea typeface="Arial"/>
                <a:cs typeface="Arial"/>
              </a:rPr>
              <a:t>Training and held-out positives</a:t>
            </a:r>
          </a:p>
        </p:txBody>
      </p:sp>
      <p:sp>
        <p:nvSpPr>
          <p:cNvPr id="12" name="train-count">
            <a:extLst xmlns:a="http://schemas.openxmlformats.org/drawingml/2006/main">
              <a:ext uri="{FF2B5EF4-FFF2-40B4-BE49-F238E27FC236}">
                <a16:creationId xmlns:a16="http://schemas.microsoft.com/office/drawing/2014/main" id="{7C1B1824-93CE-495B-90FD-E071B5B72F93}"/>
              </a:ext>
            </a:extLst>
          </p:cNvPr>
          <p:cNvSpPr>
            <a:spLocks xmlns:a="http://schemas.openxmlformats.org/drawingml/2006/main" noGrp="1"/>
          </p:cNvSpPr>
          <p:nvPr/>
        </p:nvSpPr>
        <p:spPr>
          <a:xfrm xmlns:a="http://schemas.openxmlformats.org/drawingml/2006/main">
            <a:off x="685800" y="40767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5232D"/>
                </a:solidFill>
                <a:latin typeface="Arial"/>
                <a:ea typeface="Arial"/>
                <a:cs typeface="Arial"/>
              </a:defRPr>
            </a:defPPr>
            <a:lvl1pPr algn="l">
              <a:defRPr sz="1875" b="1">
                <a:solidFill>
                  <a:srgbClr val="15232D"/>
                </a:solidFill>
                <a:latin typeface="Arial"/>
                <a:ea typeface="Arial"/>
                <a:cs typeface="Arial"/>
              </a:defRPr>
            </a:lvl1pPr>
            <a:lvl2pPr algn="l">
              <a:defRPr sz="1875" b="1">
                <a:solidFill>
                  <a:srgbClr val="15232D"/>
                </a:solidFill>
                <a:latin typeface="Arial"/>
                <a:ea typeface="Arial"/>
                <a:cs typeface="Arial"/>
              </a:defRPr>
            </a:lvl2pPr>
            <a:lvl3pPr algn="l">
              <a:defRPr sz="1875" b="1">
                <a:solidFill>
                  <a:srgbClr val="15232D"/>
                </a:solidFill>
                <a:latin typeface="Arial"/>
                <a:ea typeface="Arial"/>
                <a:cs typeface="Arial"/>
              </a:defRPr>
            </a:lvl3pPr>
            <a:lvl4pPr algn="l">
              <a:defRPr sz="1875" b="1">
                <a:solidFill>
                  <a:srgbClr val="15232D"/>
                </a:solidFill>
                <a:latin typeface="Arial"/>
                <a:ea typeface="Arial"/>
                <a:cs typeface="Arial"/>
              </a:defRPr>
            </a:lvl4pPr>
            <a:lvl5pPr algn="l">
              <a:defRPr sz="1875" b="1">
                <a:solidFill>
                  <a:srgbClr val="15232D"/>
                </a:solidFill>
                <a:latin typeface="Arial"/>
                <a:ea typeface="Arial"/>
                <a:cs typeface="Arial"/>
              </a:defRPr>
            </a:lvl5pPr>
            <a:lvl6pPr algn="l">
              <a:defRPr sz="1875" b="1">
                <a:solidFill>
                  <a:srgbClr val="15232D"/>
                </a:solidFill>
                <a:latin typeface="Arial"/>
                <a:ea typeface="Arial"/>
                <a:cs typeface="Arial"/>
              </a:defRPr>
            </a:lvl6pPr>
            <a:lvl7pPr algn="l">
              <a:defRPr sz="1875" b="1">
                <a:solidFill>
                  <a:srgbClr val="15232D"/>
                </a:solidFill>
                <a:latin typeface="Arial"/>
                <a:ea typeface="Arial"/>
                <a:cs typeface="Arial"/>
              </a:defRPr>
            </a:lvl7pPr>
            <a:lvl8pPr algn="l">
              <a:defRPr sz="1875" b="1">
                <a:solidFill>
                  <a:srgbClr val="15232D"/>
                </a:solidFill>
                <a:latin typeface="Arial"/>
                <a:ea typeface="Arial"/>
                <a:cs typeface="Arial"/>
              </a:defRPr>
            </a:lvl8pPr>
            <a:lvl9pPr algn="l">
              <a:defRPr sz="1875" b="1">
                <a:solidFill>
                  <a:srgbClr val="15232D"/>
                </a:solidFill>
                <a:latin typeface="Arial"/>
                <a:ea typeface="Arial"/>
                <a:cs typeface="Arial"/>
              </a:defRPr>
            </a:lvl9pPr>
          </a:lstStyle>
          <a:p xmlns:a="http://schemas.openxmlformats.org/drawingml/2006/main">
            <a:pPr algn="l">
              <a:defRPr sz="1875" b="1">
                <a:solidFill>
                  <a:srgbClr val="15232D"/>
                </a:solidFill>
                <a:latin typeface="Arial"/>
                <a:ea typeface="Arial"/>
                <a:cs typeface="Arial"/>
              </a:defRPr>
            </a:pPr>
            <a:r>
              <a:rPr sz="1875" b="1">
                <a:solidFill>
                  <a:srgbClr val="15232D"/>
                </a:solidFill>
                <a:latin typeface="Arial"/>
                <a:ea typeface="Arial"/>
                <a:cs typeface="Arial"/>
              </a:rPr>
              <a:t>988,129 train positives</a:t>
            </a:r>
          </a:p>
        </p:txBody>
      </p:sp>
      <p:sp>
        <p:nvSpPr>
          <p:cNvPr id="13" name="heldout-count">
            <a:extLst xmlns:a="http://schemas.openxmlformats.org/drawingml/2006/main">
              <a:ext uri="{FF2B5EF4-FFF2-40B4-BE49-F238E27FC236}">
                <a16:creationId xmlns:a16="http://schemas.microsoft.com/office/drawing/2014/main" id="{EBBE9C34-AAE6-4F7F-8772-F0ADC1435BD5}"/>
              </a:ext>
            </a:extLst>
          </p:cNvPr>
          <p:cNvSpPr>
            <a:spLocks xmlns:a="http://schemas.openxmlformats.org/drawingml/2006/main" noGrp="1"/>
          </p:cNvSpPr>
          <p:nvPr/>
        </p:nvSpPr>
        <p:spPr>
          <a:xfrm xmlns:a="http://schemas.openxmlformats.org/drawingml/2006/main">
            <a:off x="685800" y="4533900"/>
            <a:ext cx="490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a:solidFill>
                  <a:srgbClr val="293A45"/>
                </a:solidFill>
                <a:latin typeface="Arial"/>
                <a:ea typeface="Arial"/>
                <a:cs typeface="Arial"/>
              </a:defRPr>
            </a:defPPr>
            <a:lvl1pPr algn="l">
              <a:defRPr sz="1650">
                <a:solidFill>
                  <a:srgbClr val="293A45"/>
                </a:solidFill>
                <a:latin typeface="Arial"/>
                <a:ea typeface="Arial"/>
                <a:cs typeface="Arial"/>
              </a:defRPr>
            </a:lvl1pPr>
            <a:lvl2pPr algn="l">
              <a:defRPr sz="1650">
                <a:solidFill>
                  <a:srgbClr val="293A45"/>
                </a:solidFill>
                <a:latin typeface="Arial"/>
                <a:ea typeface="Arial"/>
                <a:cs typeface="Arial"/>
              </a:defRPr>
            </a:lvl2pPr>
            <a:lvl3pPr algn="l">
              <a:defRPr sz="1650">
                <a:solidFill>
                  <a:srgbClr val="293A45"/>
                </a:solidFill>
                <a:latin typeface="Arial"/>
                <a:ea typeface="Arial"/>
                <a:cs typeface="Arial"/>
              </a:defRPr>
            </a:lvl3pPr>
            <a:lvl4pPr algn="l">
              <a:defRPr sz="1650">
                <a:solidFill>
                  <a:srgbClr val="293A45"/>
                </a:solidFill>
                <a:latin typeface="Arial"/>
                <a:ea typeface="Arial"/>
                <a:cs typeface="Arial"/>
              </a:defRPr>
            </a:lvl4pPr>
            <a:lvl5pPr algn="l">
              <a:defRPr sz="1650">
                <a:solidFill>
                  <a:srgbClr val="293A45"/>
                </a:solidFill>
                <a:latin typeface="Arial"/>
                <a:ea typeface="Arial"/>
                <a:cs typeface="Arial"/>
              </a:defRPr>
            </a:lvl5pPr>
            <a:lvl6pPr algn="l">
              <a:defRPr sz="1650">
                <a:solidFill>
                  <a:srgbClr val="293A45"/>
                </a:solidFill>
                <a:latin typeface="Arial"/>
                <a:ea typeface="Arial"/>
                <a:cs typeface="Arial"/>
              </a:defRPr>
            </a:lvl6pPr>
            <a:lvl7pPr algn="l">
              <a:defRPr sz="1650">
                <a:solidFill>
                  <a:srgbClr val="293A45"/>
                </a:solidFill>
                <a:latin typeface="Arial"/>
                <a:ea typeface="Arial"/>
                <a:cs typeface="Arial"/>
              </a:defRPr>
            </a:lvl7pPr>
            <a:lvl8pPr algn="l">
              <a:defRPr sz="1650">
                <a:solidFill>
                  <a:srgbClr val="293A45"/>
                </a:solidFill>
                <a:latin typeface="Arial"/>
                <a:ea typeface="Arial"/>
                <a:cs typeface="Arial"/>
              </a:defRPr>
            </a:lvl8pPr>
            <a:lvl9pPr algn="l">
              <a:defRPr sz="1650">
                <a:solidFill>
                  <a:srgbClr val="293A45"/>
                </a:solidFill>
                <a:latin typeface="Arial"/>
                <a:ea typeface="Arial"/>
                <a:cs typeface="Arial"/>
              </a:defRPr>
            </a:lvl9pPr>
          </a:lstStyle>
          <a:p xmlns:a="http://schemas.openxmlformats.org/drawingml/2006/main">
            <a:pPr algn="l">
              <a:defRPr sz="1650">
                <a:solidFill>
                  <a:srgbClr val="293A45"/>
                </a:solidFill>
                <a:latin typeface="Arial"/>
                <a:ea typeface="Arial"/>
                <a:cs typeface="Arial"/>
              </a:defRPr>
            </a:pPr>
            <a:r>
              <a:rPr sz="1650">
                <a:solidFill>
                  <a:srgbClr val="293A45"/>
                </a:solidFill>
                <a:latin typeface="Arial"/>
                <a:ea typeface="Arial"/>
                <a:cs typeface="Arial"/>
              </a:rPr>
              <a:t>6,040 validation and 6,040 test positives</a:t>
            </a:r>
          </a:p>
        </p:txBody>
      </p:sp>
      <p:sp>
        <p:nvSpPr>
          <p:cNvPr id="14" name="training-sampling">
            <a:extLst xmlns:a="http://schemas.openxmlformats.org/drawingml/2006/main">
              <a:ext uri="{FF2B5EF4-FFF2-40B4-BE49-F238E27FC236}">
                <a16:creationId xmlns:a16="http://schemas.microsoft.com/office/drawing/2014/main" id="{680230DA-0926-42F5-A69D-64B665CBE9C9}"/>
              </a:ext>
            </a:extLst>
          </p:cNvPr>
          <p:cNvSpPr>
            <a:spLocks xmlns:a="http://schemas.openxmlformats.org/drawingml/2006/main" noGrp="1"/>
          </p:cNvSpPr>
          <p:nvPr/>
        </p:nvSpPr>
        <p:spPr>
          <a:xfrm xmlns:a="http://schemas.openxmlformats.org/drawingml/2006/main">
            <a:off x="685800" y="50863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a:solidFill>
                  <a:srgbClr val="293A45"/>
                </a:solidFill>
                <a:latin typeface="Arial"/>
                <a:ea typeface="Arial"/>
                <a:cs typeface="Arial"/>
              </a:defRPr>
            </a:defPPr>
            <a:lvl1pPr algn="l">
              <a:defRPr sz="1575">
                <a:solidFill>
                  <a:srgbClr val="293A45"/>
                </a:solidFill>
                <a:latin typeface="Arial"/>
                <a:ea typeface="Arial"/>
                <a:cs typeface="Arial"/>
              </a:defRPr>
            </a:lvl1pPr>
            <a:lvl2pPr algn="l">
              <a:defRPr sz="1575">
                <a:solidFill>
                  <a:srgbClr val="293A45"/>
                </a:solidFill>
                <a:latin typeface="Arial"/>
                <a:ea typeface="Arial"/>
                <a:cs typeface="Arial"/>
              </a:defRPr>
            </a:lvl2pPr>
            <a:lvl3pPr algn="l">
              <a:defRPr sz="1575">
                <a:solidFill>
                  <a:srgbClr val="293A45"/>
                </a:solidFill>
                <a:latin typeface="Arial"/>
                <a:ea typeface="Arial"/>
                <a:cs typeface="Arial"/>
              </a:defRPr>
            </a:lvl3pPr>
            <a:lvl4pPr algn="l">
              <a:defRPr sz="1575">
                <a:solidFill>
                  <a:srgbClr val="293A45"/>
                </a:solidFill>
                <a:latin typeface="Arial"/>
                <a:ea typeface="Arial"/>
                <a:cs typeface="Arial"/>
              </a:defRPr>
            </a:lvl4pPr>
            <a:lvl5pPr algn="l">
              <a:defRPr sz="1575">
                <a:solidFill>
                  <a:srgbClr val="293A45"/>
                </a:solidFill>
                <a:latin typeface="Arial"/>
                <a:ea typeface="Arial"/>
                <a:cs typeface="Arial"/>
              </a:defRPr>
            </a:lvl5pPr>
            <a:lvl6pPr algn="l">
              <a:defRPr sz="1575">
                <a:solidFill>
                  <a:srgbClr val="293A45"/>
                </a:solidFill>
                <a:latin typeface="Arial"/>
                <a:ea typeface="Arial"/>
                <a:cs typeface="Arial"/>
              </a:defRPr>
            </a:lvl6pPr>
            <a:lvl7pPr algn="l">
              <a:defRPr sz="1575">
                <a:solidFill>
                  <a:srgbClr val="293A45"/>
                </a:solidFill>
                <a:latin typeface="Arial"/>
                <a:ea typeface="Arial"/>
                <a:cs typeface="Arial"/>
              </a:defRPr>
            </a:lvl7pPr>
            <a:lvl8pPr algn="l">
              <a:defRPr sz="1575">
                <a:solidFill>
                  <a:srgbClr val="293A45"/>
                </a:solidFill>
                <a:latin typeface="Arial"/>
                <a:ea typeface="Arial"/>
                <a:cs typeface="Arial"/>
              </a:defRPr>
            </a:lvl8pPr>
            <a:lvl9pPr algn="l">
              <a:defRPr sz="1575">
                <a:solidFill>
                  <a:srgbClr val="293A45"/>
                </a:solidFill>
                <a:latin typeface="Arial"/>
                <a:ea typeface="Arial"/>
                <a:cs typeface="Arial"/>
              </a:defRPr>
            </a:lvl9pPr>
          </a:lstStyle>
          <a:p xmlns:a="http://schemas.openxmlformats.org/drawingml/2006/main">
            <a:pPr algn="l">
              <a:defRPr sz="1575">
                <a:solidFill>
                  <a:srgbClr val="293A45"/>
                </a:solidFill>
                <a:latin typeface="Arial"/>
                <a:ea typeface="Arial"/>
                <a:cs typeface="Arial"/>
              </a:defRPr>
            </a:pPr>
            <a:r>
              <a:rPr sz="1575">
                <a:solidFill>
                  <a:srgbClr val="293A45"/>
                </a:solidFill>
                <a:latin typeface="Arial"/>
                <a:ea typeface="Arial"/>
                <a:cs typeface="Arial"/>
              </a:rPr>
              <a:t>All observed 1-5 ratings count as positives. Four unobserved negatives are sampled per training positive each epoch.</a:t>
            </a:r>
          </a:p>
        </p:txBody>
      </p:sp>
      <p:sp>
        <p:nvSpPr>
          <p:cNvPr id="15" name="section-heading">
            <a:extLst xmlns:a="http://schemas.openxmlformats.org/drawingml/2006/main">
              <a:ext uri="{FF2B5EF4-FFF2-40B4-BE49-F238E27FC236}">
                <a16:creationId xmlns:a16="http://schemas.microsoft.com/office/drawing/2014/main" id="{40680453-FF34-4053-B683-3560D224BC9E}"/>
              </a:ext>
            </a:extLst>
          </p:cNvPr>
          <p:cNvSpPr>
            <a:spLocks xmlns:a="http://schemas.openxmlformats.org/drawingml/2006/main" noGrp="1"/>
          </p:cNvSpPr>
          <p:nvPr/>
        </p:nvSpPr>
        <p:spPr>
          <a:xfrm xmlns:a="http://schemas.openxmlformats.org/drawingml/2006/main">
            <a:off x="6381750" y="3657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9689A"/>
                </a:solidFill>
                <a:latin typeface="Arial"/>
                <a:ea typeface="Arial"/>
                <a:cs typeface="Arial"/>
              </a:defRPr>
            </a:defPPr>
            <a:lvl1pPr algn="l">
              <a:defRPr sz="1725" b="1">
                <a:solidFill>
                  <a:srgbClr val="19689A"/>
                </a:solidFill>
                <a:latin typeface="Arial"/>
                <a:ea typeface="Arial"/>
                <a:cs typeface="Arial"/>
              </a:defRPr>
            </a:lvl1pPr>
            <a:lvl2pPr algn="l">
              <a:defRPr sz="1725" b="1">
                <a:solidFill>
                  <a:srgbClr val="19689A"/>
                </a:solidFill>
                <a:latin typeface="Arial"/>
                <a:ea typeface="Arial"/>
                <a:cs typeface="Arial"/>
              </a:defRPr>
            </a:lvl2pPr>
            <a:lvl3pPr algn="l">
              <a:defRPr sz="1725" b="1">
                <a:solidFill>
                  <a:srgbClr val="19689A"/>
                </a:solidFill>
                <a:latin typeface="Arial"/>
                <a:ea typeface="Arial"/>
                <a:cs typeface="Arial"/>
              </a:defRPr>
            </a:lvl3pPr>
            <a:lvl4pPr algn="l">
              <a:defRPr sz="1725" b="1">
                <a:solidFill>
                  <a:srgbClr val="19689A"/>
                </a:solidFill>
                <a:latin typeface="Arial"/>
                <a:ea typeface="Arial"/>
                <a:cs typeface="Arial"/>
              </a:defRPr>
            </a:lvl4pPr>
            <a:lvl5pPr algn="l">
              <a:defRPr sz="1725" b="1">
                <a:solidFill>
                  <a:srgbClr val="19689A"/>
                </a:solidFill>
                <a:latin typeface="Arial"/>
                <a:ea typeface="Arial"/>
                <a:cs typeface="Arial"/>
              </a:defRPr>
            </a:lvl5pPr>
            <a:lvl6pPr algn="l">
              <a:defRPr sz="1725" b="1">
                <a:solidFill>
                  <a:srgbClr val="19689A"/>
                </a:solidFill>
                <a:latin typeface="Arial"/>
                <a:ea typeface="Arial"/>
                <a:cs typeface="Arial"/>
              </a:defRPr>
            </a:lvl6pPr>
            <a:lvl7pPr algn="l">
              <a:defRPr sz="1725" b="1">
                <a:solidFill>
                  <a:srgbClr val="19689A"/>
                </a:solidFill>
                <a:latin typeface="Arial"/>
                <a:ea typeface="Arial"/>
                <a:cs typeface="Arial"/>
              </a:defRPr>
            </a:lvl7pPr>
            <a:lvl8pPr algn="l">
              <a:defRPr sz="1725" b="1">
                <a:solidFill>
                  <a:srgbClr val="19689A"/>
                </a:solidFill>
                <a:latin typeface="Arial"/>
                <a:ea typeface="Arial"/>
                <a:cs typeface="Arial"/>
              </a:defRPr>
            </a:lvl8pPr>
            <a:lvl9pPr algn="l">
              <a:defRPr sz="1725" b="1">
                <a:solidFill>
                  <a:srgbClr val="19689A"/>
                </a:solidFill>
                <a:latin typeface="Arial"/>
                <a:ea typeface="Arial"/>
                <a:cs typeface="Arial"/>
              </a:defRPr>
            </a:lvl9pPr>
          </a:lstStyle>
          <a:p xmlns:a="http://schemas.openxmlformats.org/drawingml/2006/main">
            <a:pPr algn="l">
              <a:defRPr sz="1725" b="1">
                <a:solidFill>
                  <a:srgbClr val="19689A"/>
                </a:solidFill>
                <a:latin typeface="Arial"/>
                <a:ea typeface="Arial"/>
                <a:cs typeface="Arial"/>
              </a:defRPr>
            </a:pPr>
            <a:r>
              <a:rPr sz="1725" b="1">
                <a:solidFill>
                  <a:srgbClr val="19689A"/>
                </a:solidFill>
                <a:latin typeface="Arial"/>
                <a:ea typeface="Arial"/>
                <a:cs typeface="Arial"/>
              </a:rPr>
              <a:t>Ranking evaluation</a:t>
            </a:r>
          </a:p>
        </p:txBody>
      </p:sp>
      <p:sp>
        <p:nvSpPr>
          <p:cNvPr id="16" name="candidate-count">
            <a:extLst xmlns:a="http://schemas.openxmlformats.org/drawingml/2006/main">
              <a:ext uri="{FF2B5EF4-FFF2-40B4-BE49-F238E27FC236}">
                <a16:creationId xmlns:a16="http://schemas.microsoft.com/office/drawing/2014/main" id="{FDECB86E-675C-4E09-B558-BAC970F2367C}"/>
              </a:ext>
            </a:extLst>
          </p:cNvPr>
          <p:cNvSpPr>
            <a:spLocks xmlns:a="http://schemas.openxmlformats.org/drawingml/2006/main" noGrp="1"/>
          </p:cNvSpPr>
          <p:nvPr/>
        </p:nvSpPr>
        <p:spPr>
          <a:xfrm xmlns:a="http://schemas.openxmlformats.org/drawingml/2006/main">
            <a:off x="6381750" y="40767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5232D"/>
                </a:solidFill>
                <a:latin typeface="Arial"/>
                <a:ea typeface="Arial"/>
                <a:cs typeface="Arial"/>
              </a:defRPr>
            </a:defPPr>
            <a:lvl1pPr algn="l">
              <a:defRPr sz="1875" b="1">
                <a:solidFill>
                  <a:srgbClr val="15232D"/>
                </a:solidFill>
                <a:latin typeface="Arial"/>
                <a:ea typeface="Arial"/>
                <a:cs typeface="Arial"/>
              </a:defRPr>
            </a:lvl1pPr>
            <a:lvl2pPr algn="l">
              <a:defRPr sz="1875" b="1">
                <a:solidFill>
                  <a:srgbClr val="15232D"/>
                </a:solidFill>
                <a:latin typeface="Arial"/>
                <a:ea typeface="Arial"/>
                <a:cs typeface="Arial"/>
              </a:defRPr>
            </a:lvl2pPr>
            <a:lvl3pPr algn="l">
              <a:defRPr sz="1875" b="1">
                <a:solidFill>
                  <a:srgbClr val="15232D"/>
                </a:solidFill>
                <a:latin typeface="Arial"/>
                <a:ea typeface="Arial"/>
                <a:cs typeface="Arial"/>
              </a:defRPr>
            </a:lvl3pPr>
            <a:lvl4pPr algn="l">
              <a:defRPr sz="1875" b="1">
                <a:solidFill>
                  <a:srgbClr val="15232D"/>
                </a:solidFill>
                <a:latin typeface="Arial"/>
                <a:ea typeface="Arial"/>
                <a:cs typeface="Arial"/>
              </a:defRPr>
            </a:lvl4pPr>
            <a:lvl5pPr algn="l">
              <a:defRPr sz="1875" b="1">
                <a:solidFill>
                  <a:srgbClr val="15232D"/>
                </a:solidFill>
                <a:latin typeface="Arial"/>
                <a:ea typeface="Arial"/>
                <a:cs typeface="Arial"/>
              </a:defRPr>
            </a:lvl5pPr>
            <a:lvl6pPr algn="l">
              <a:defRPr sz="1875" b="1">
                <a:solidFill>
                  <a:srgbClr val="15232D"/>
                </a:solidFill>
                <a:latin typeface="Arial"/>
                <a:ea typeface="Arial"/>
                <a:cs typeface="Arial"/>
              </a:defRPr>
            </a:lvl6pPr>
            <a:lvl7pPr algn="l">
              <a:defRPr sz="1875" b="1">
                <a:solidFill>
                  <a:srgbClr val="15232D"/>
                </a:solidFill>
                <a:latin typeface="Arial"/>
                <a:ea typeface="Arial"/>
                <a:cs typeface="Arial"/>
              </a:defRPr>
            </a:lvl7pPr>
            <a:lvl8pPr algn="l">
              <a:defRPr sz="1875" b="1">
                <a:solidFill>
                  <a:srgbClr val="15232D"/>
                </a:solidFill>
                <a:latin typeface="Arial"/>
                <a:ea typeface="Arial"/>
                <a:cs typeface="Arial"/>
              </a:defRPr>
            </a:lvl8pPr>
            <a:lvl9pPr algn="l">
              <a:defRPr sz="1875" b="1">
                <a:solidFill>
                  <a:srgbClr val="15232D"/>
                </a:solidFill>
                <a:latin typeface="Arial"/>
                <a:ea typeface="Arial"/>
                <a:cs typeface="Arial"/>
              </a:defRPr>
            </a:lvl9pPr>
          </a:lstStyle>
          <a:p xmlns:a="http://schemas.openxmlformats.org/drawingml/2006/main">
            <a:pPr algn="l">
              <a:defRPr sz="1875" b="1">
                <a:solidFill>
                  <a:srgbClr val="15232D"/>
                </a:solidFill>
                <a:latin typeface="Arial"/>
                <a:ea typeface="Arial"/>
                <a:cs typeface="Arial"/>
              </a:defRPr>
            </a:pPr>
            <a:r>
              <a:rPr sz="1875" b="1">
                <a:solidFill>
                  <a:srgbClr val="15232D"/>
                </a:solidFill>
                <a:latin typeface="Arial"/>
                <a:ea typeface="Arial"/>
                <a:cs typeface="Arial"/>
              </a:rPr>
              <a:t>100 candidates per user</a:t>
            </a:r>
          </a:p>
        </p:txBody>
      </p:sp>
      <p:sp>
        <p:nvSpPr>
          <p:cNvPr id="17" name="ranking-protocol">
            <a:extLst xmlns:a="http://schemas.openxmlformats.org/drawingml/2006/main">
              <a:ext uri="{FF2B5EF4-FFF2-40B4-BE49-F238E27FC236}">
                <a16:creationId xmlns:a16="http://schemas.microsoft.com/office/drawing/2014/main" id="{D5DDE17C-CE9B-47B0-AB83-094175CC324F}"/>
              </a:ext>
            </a:extLst>
          </p:cNvPr>
          <p:cNvSpPr>
            <a:spLocks xmlns:a="http://schemas.openxmlformats.org/drawingml/2006/main" noGrp="1"/>
          </p:cNvSpPr>
          <p:nvPr/>
        </p:nvSpPr>
        <p:spPr>
          <a:xfrm xmlns:a="http://schemas.openxmlformats.org/drawingml/2006/main">
            <a:off x="6381750" y="453390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a:solidFill>
                  <a:srgbClr val="293A45"/>
                </a:solidFill>
                <a:latin typeface="Arial"/>
                <a:ea typeface="Arial"/>
                <a:cs typeface="Arial"/>
              </a:defRPr>
            </a:defPPr>
            <a:lvl1pPr algn="l">
              <a:defRPr sz="1575">
                <a:solidFill>
                  <a:srgbClr val="293A45"/>
                </a:solidFill>
                <a:latin typeface="Arial"/>
                <a:ea typeface="Arial"/>
                <a:cs typeface="Arial"/>
              </a:defRPr>
            </a:lvl1pPr>
            <a:lvl2pPr algn="l">
              <a:defRPr sz="1575">
                <a:solidFill>
                  <a:srgbClr val="293A45"/>
                </a:solidFill>
                <a:latin typeface="Arial"/>
                <a:ea typeface="Arial"/>
                <a:cs typeface="Arial"/>
              </a:defRPr>
            </a:lvl2pPr>
            <a:lvl3pPr algn="l">
              <a:defRPr sz="1575">
                <a:solidFill>
                  <a:srgbClr val="293A45"/>
                </a:solidFill>
                <a:latin typeface="Arial"/>
                <a:ea typeface="Arial"/>
                <a:cs typeface="Arial"/>
              </a:defRPr>
            </a:lvl3pPr>
            <a:lvl4pPr algn="l">
              <a:defRPr sz="1575">
                <a:solidFill>
                  <a:srgbClr val="293A45"/>
                </a:solidFill>
                <a:latin typeface="Arial"/>
                <a:ea typeface="Arial"/>
                <a:cs typeface="Arial"/>
              </a:defRPr>
            </a:lvl4pPr>
            <a:lvl5pPr algn="l">
              <a:defRPr sz="1575">
                <a:solidFill>
                  <a:srgbClr val="293A45"/>
                </a:solidFill>
                <a:latin typeface="Arial"/>
                <a:ea typeface="Arial"/>
                <a:cs typeface="Arial"/>
              </a:defRPr>
            </a:lvl5pPr>
            <a:lvl6pPr algn="l">
              <a:defRPr sz="1575">
                <a:solidFill>
                  <a:srgbClr val="293A45"/>
                </a:solidFill>
                <a:latin typeface="Arial"/>
                <a:ea typeface="Arial"/>
                <a:cs typeface="Arial"/>
              </a:defRPr>
            </a:lvl6pPr>
            <a:lvl7pPr algn="l">
              <a:defRPr sz="1575">
                <a:solidFill>
                  <a:srgbClr val="293A45"/>
                </a:solidFill>
                <a:latin typeface="Arial"/>
                <a:ea typeface="Arial"/>
                <a:cs typeface="Arial"/>
              </a:defRPr>
            </a:lvl7pPr>
            <a:lvl8pPr algn="l">
              <a:defRPr sz="1575">
                <a:solidFill>
                  <a:srgbClr val="293A45"/>
                </a:solidFill>
                <a:latin typeface="Arial"/>
                <a:ea typeface="Arial"/>
                <a:cs typeface="Arial"/>
              </a:defRPr>
            </a:lvl8pPr>
            <a:lvl9pPr algn="l">
              <a:defRPr sz="1575">
                <a:solidFill>
                  <a:srgbClr val="293A45"/>
                </a:solidFill>
                <a:latin typeface="Arial"/>
                <a:ea typeface="Arial"/>
                <a:cs typeface="Arial"/>
              </a:defRPr>
            </a:lvl9pPr>
          </a:lstStyle>
          <a:p xmlns:a="http://schemas.openxmlformats.org/drawingml/2006/main">
            <a:pPr algn="l">
              <a:defRPr sz="1575">
                <a:solidFill>
                  <a:srgbClr val="293A45"/>
                </a:solidFill>
                <a:latin typeface="Arial"/>
                <a:ea typeface="Arial"/>
                <a:cs typeface="Arial"/>
              </a:defRPr>
            </a:pPr>
            <a:r>
              <a:rPr sz="1575">
                <a:solidFill>
                  <a:srgbClr val="293A45"/>
                </a:solidFill>
                <a:latin typeface="Arial"/>
                <a:ea typeface="Arial"/>
                <a:cs typeface="Arial"/>
              </a:rPr>
              <a:t>One held-out positive and 99 items outside the user's observed set. HR@10 and NDCG@10 are primary.</a:t>
            </a:r>
          </a:p>
        </p:txBody>
      </p:sp>
      <p:sp>
        <p:nvSpPr>
          <p:cNvPr id="18" name="seed-protocol">
            <a:extLst xmlns:a="http://schemas.openxmlformats.org/drawingml/2006/main">
              <a:ext uri="{FF2B5EF4-FFF2-40B4-BE49-F238E27FC236}">
                <a16:creationId xmlns:a16="http://schemas.microsoft.com/office/drawing/2014/main" id="{AC0BD86B-6558-43FF-8A78-6EAE8A9DDEDC}"/>
              </a:ext>
            </a:extLst>
          </p:cNvPr>
          <p:cNvSpPr>
            <a:spLocks xmlns:a="http://schemas.openxmlformats.org/drawingml/2006/main" noGrp="1"/>
          </p:cNvSpPr>
          <p:nvPr/>
        </p:nvSpPr>
        <p:spPr>
          <a:xfrm xmlns:a="http://schemas.openxmlformats.org/drawingml/2006/main">
            <a:off x="6381750" y="54483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a:solidFill>
                  <a:srgbClr val="5F6D76"/>
                </a:solidFill>
                <a:latin typeface="Arial"/>
                <a:ea typeface="Arial"/>
                <a:cs typeface="Arial"/>
              </a:defRPr>
            </a:defPPr>
            <a:lvl1pPr algn="l">
              <a:defRPr sz="1425">
                <a:solidFill>
                  <a:srgbClr val="5F6D76"/>
                </a:solidFill>
                <a:latin typeface="Arial"/>
                <a:ea typeface="Arial"/>
                <a:cs typeface="Arial"/>
              </a:defRPr>
            </a:lvl1pPr>
            <a:lvl2pPr algn="l">
              <a:defRPr sz="1425">
                <a:solidFill>
                  <a:srgbClr val="5F6D76"/>
                </a:solidFill>
                <a:latin typeface="Arial"/>
                <a:ea typeface="Arial"/>
                <a:cs typeface="Arial"/>
              </a:defRPr>
            </a:lvl2pPr>
            <a:lvl3pPr algn="l">
              <a:defRPr sz="1425">
                <a:solidFill>
                  <a:srgbClr val="5F6D76"/>
                </a:solidFill>
                <a:latin typeface="Arial"/>
                <a:ea typeface="Arial"/>
                <a:cs typeface="Arial"/>
              </a:defRPr>
            </a:lvl3pPr>
            <a:lvl4pPr algn="l">
              <a:defRPr sz="1425">
                <a:solidFill>
                  <a:srgbClr val="5F6D76"/>
                </a:solidFill>
                <a:latin typeface="Arial"/>
                <a:ea typeface="Arial"/>
                <a:cs typeface="Arial"/>
              </a:defRPr>
            </a:lvl4pPr>
            <a:lvl5pPr algn="l">
              <a:defRPr sz="1425">
                <a:solidFill>
                  <a:srgbClr val="5F6D76"/>
                </a:solidFill>
                <a:latin typeface="Arial"/>
                <a:ea typeface="Arial"/>
                <a:cs typeface="Arial"/>
              </a:defRPr>
            </a:lvl5pPr>
            <a:lvl6pPr algn="l">
              <a:defRPr sz="1425">
                <a:solidFill>
                  <a:srgbClr val="5F6D76"/>
                </a:solidFill>
                <a:latin typeface="Arial"/>
                <a:ea typeface="Arial"/>
                <a:cs typeface="Arial"/>
              </a:defRPr>
            </a:lvl6pPr>
            <a:lvl7pPr algn="l">
              <a:defRPr sz="1425">
                <a:solidFill>
                  <a:srgbClr val="5F6D76"/>
                </a:solidFill>
                <a:latin typeface="Arial"/>
                <a:ea typeface="Arial"/>
                <a:cs typeface="Arial"/>
              </a:defRPr>
            </a:lvl7pPr>
            <a:lvl8pPr algn="l">
              <a:defRPr sz="1425">
                <a:solidFill>
                  <a:srgbClr val="5F6D76"/>
                </a:solidFill>
                <a:latin typeface="Arial"/>
                <a:ea typeface="Arial"/>
                <a:cs typeface="Arial"/>
              </a:defRPr>
            </a:lvl8pPr>
            <a:lvl9pPr algn="l">
              <a:defRPr sz="1425">
                <a:solidFill>
                  <a:srgbClr val="5F6D76"/>
                </a:solidFill>
                <a:latin typeface="Arial"/>
                <a:ea typeface="Arial"/>
                <a:cs typeface="Arial"/>
              </a:defRPr>
            </a:lvl9pPr>
          </a:lstStyle>
          <a:p xmlns:a="http://schemas.openxmlformats.org/drawingml/2006/main">
            <a:pPr algn="l">
              <a:defRPr sz="1425">
                <a:solidFill>
                  <a:srgbClr val="5F6D76"/>
                </a:solidFill>
                <a:latin typeface="Arial"/>
                <a:ea typeface="Arial"/>
                <a:cs typeface="Arial"/>
              </a:defRPr>
            </a:pPr>
            <a:r>
              <a:rPr sz="1425">
                <a:solidFill>
                  <a:srgbClr val="5F6D76"/>
                </a:solidFill>
                <a:latin typeface="Arial"/>
                <a:ea typeface="Arial"/>
                <a:cs typeface="Arial"/>
              </a:rPr>
              <a:t>Validation is separate from test. Split seed 2026. Model seeds 42, 43, 44.</a:t>
            </a:r>
          </a:p>
        </p:txBody>
      </p:sp>
    </p:spTree>
    <p:extLst>
      <p:ext uri="{BB962C8B-B14F-4D97-AF65-F5344CB8AC3E}">
        <p14:creationId xmlns:p14="http://schemas.microsoft.com/office/powerpoint/2010/main" val="10336644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45672B8-9181-4C0D-901D-CF7F3B9D69F9}"/>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Experimental variants and controls</a:t>
            </a:r>
          </a:p>
        </p:txBody>
      </p:sp>
      <p:sp>
        <p:nvSpPr>
          <p:cNvPr id="2" name="divider">
            <a:extLst xmlns:a="http://schemas.openxmlformats.org/drawingml/2006/main">
              <a:ext uri="{FF2B5EF4-FFF2-40B4-BE49-F238E27FC236}">
                <a16:creationId xmlns:a16="http://schemas.microsoft.com/office/drawing/2014/main" id="{7A67A334-FF16-491A-B2B3-F3338F50553E}"/>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428E59D5-50D8-4552-BC38-3BCE1781F687}"/>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Every model shares the same split, candidate arrays, seed list and training budget</a:t>
            </a:r>
          </a:p>
        </p:txBody>
      </p:sp>
      <p:graphicFrame>
        <p:nvGraphicFramePr>
          <p:cNvPr id="4" name="">
            <a:extLst xmlns:a="http://schemas.openxmlformats.org/drawingml/2006/main">
              <a:ext uri="{FF2B5EF4-FFF2-40B4-BE49-F238E27FC236}">
                <a16:creationId xmlns:a16="http://schemas.microsoft.com/office/drawing/2014/main" id="{A74B2BDD-7338-4614-A123-22EE9262D4F0}"/>
              </a:ext>
            </a:extLst>
          </p:cNvPr>
          <p:cNvGraphicFramePr/>
          <p:nvPr/>
        </p:nvGraphicFramePr>
        <p:xfrm>
          <a:off xmlns:a="http://schemas.openxmlformats.org/drawingml/2006/main" x="685800" y="1962150"/>
          <a:ext xmlns:a="http://schemas.openxmlformats.org/drawingml/2006/main" cx="10439400" cy="2895600"/>
        </p:xfrm>
        <a:graphic xmlns:a="http://schemas.openxmlformats.org/drawingml/2006/main">
          <a:graphicData uri="http://schemas.openxmlformats.org/drawingml/2006/table">
            <a:tbl>
              <a:tblPr firstRow="0" firstCol="0" bandRow="0" bandCol="0"/>
              <a:tblGrid>
                <a:gridCol w="2095500"/>
                <a:gridCol w="3333750"/>
                <a:gridCol w="2381250"/>
                <a:gridCol w="3105150"/>
              </a:tblGrid>
              <a:tr h="495300">
                <a:tc>
                  <a:txBody>
                    <a:bodyPr wrap="square" lIns="76200" tIns="47625" rIns="57150" bIns="47625">
                      <a:normAutofit/>
                    </a:bodyPr>
                    <a:lstStyle/>
                    <a:p>
                      <a:pPr algn="l"/>
                      <a:r>
                        <a:rPr sz="1275" b="1">
                          <a:solidFill>
                            <a:srgbClr val="FFFFFF"/>
                          </a:solidFill>
                          <a:latin typeface="Arial"/>
                          <a:ea typeface="Arial"/>
                          <a:cs typeface="Arial"/>
                        </a:rPr>
                        <a:t>Variant</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75" b="1">
                          <a:solidFill>
                            <a:srgbClr val="FFFFFF"/>
                          </a:solidFill>
                          <a:latin typeface="Arial"/>
                          <a:ea typeface="Arial"/>
                          <a:cs typeface="Arial"/>
                        </a:rPr>
                        <a:t>Explicit branch</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75" b="1">
                          <a:solidFill>
                            <a:srgbClr val="FFFFFF"/>
                          </a:solidFill>
                          <a:latin typeface="Arial"/>
                          <a:ea typeface="Arial"/>
                          <a:cs typeface="Arial"/>
                        </a:rPr>
                        <a:t>Global path</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75" b="1">
                          <a:solidFill>
                            <a:srgbClr val="FFFFFF"/>
                          </a:solidFill>
                          <a:latin typeface="Arial"/>
                          <a:ea typeface="Arial"/>
                          <a:cs typeface="Arial"/>
                        </a:rPr>
                        <a:t>Final joint stage</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476250">
                <a:tc>
                  <a:txBody>
                    <a:bodyPr wrap="square" lIns="76200" tIns="47625" rIns="57150" bIns="47625">
                      <a:normAutofit/>
                    </a:bodyPr>
                    <a:lstStyle/>
                    <a:p>
                      <a:pPr algn="l"/>
                      <a:r>
                        <a:rPr sz="1275" b="1">
                          <a:solidFill>
                            <a:srgbClr val="293A45"/>
                          </a:solidFill>
                          <a:latin typeface="Arial"/>
                          <a:ea typeface="Arial"/>
                          <a:cs typeface="Arial"/>
                        </a:rPr>
                        <a:t>DeepCF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ID product 32 to 64</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476250">
                <a:tc>
                  <a:txBody>
                    <a:bodyPr wrap="square" lIns="76200" tIns="47625" rIns="57150" bIns="47625">
                      <a:normAutofit/>
                    </a:bodyPr>
                    <a:lstStyle/>
                    <a:p>
                      <a:pPr algn="l"/>
                      <a:r>
                        <a:rPr sz="1275" b="1">
                          <a:solidFill>
                            <a:srgbClr val="293A45"/>
                          </a:solidFill>
                          <a:latin typeface="Arial"/>
                          <a:ea typeface="Arial"/>
                          <a:cs typeface="Arial"/>
                        </a:rPr>
                        <a:t>Local CNN</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Local 72 to 64</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64 to score</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476250">
                <a:tc>
                  <a:txBody>
                    <a:bodyPr wrap="square" lIns="76200" tIns="47625" rIns="57150" bIns="47625">
                      <a:normAutofit/>
                    </a:bodyPr>
                    <a:lstStyle/>
                    <a:p>
                      <a:pPr algn="l"/>
                      <a:r>
                        <a:rPr sz="1275" b="1">
                          <a:solidFill>
                            <a:srgbClr val="293A45"/>
                          </a:solidFill>
                          <a:latin typeface="Arial"/>
                          <a:ea typeface="Arial"/>
                          <a:cs typeface="Arial"/>
                        </a:rPr>
                        <a:t>Global</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Global 64 to 64</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64 to score</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476250">
                <a:tc>
                  <a:txBody>
                    <a:bodyPr wrap="square" lIns="76200" tIns="47625" rIns="57150" bIns="47625">
                      <a:normAutofit/>
                    </a:bodyPr>
                    <a:lstStyle/>
                    <a:p>
                      <a:pPr algn="l"/>
                      <a:r>
                        <a:rPr sz="1275" b="1">
                          <a:solidFill>
                            <a:srgbClr val="293A45"/>
                          </a:solidFill>
                          <a:latin typeface="Arial"/>
                          <a:ea typeface="Arial"/>
                          <a:cs typeface="Arial"/>
                        </a:rPr>
                        <a:t>Local + implicit</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Local 72 to 64</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75" b="0">
                          <a:solidFill>
                            <a:srgbClr val="293A45"/>
                          </a:solidFill>
                          <a:latin typeface="Arial"/>
                          <a:ea typeface="Arial"/>
                          <a:cs typeface="Arial"/>
                        </a:rPr>
                        <a:t>Concat 128 to 64</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495300">
                <a:tc>
                  <a:txBody>
                    <a:bodyPr wrap="square" lIns="76200" tIns="47625" rIns="57150" bIns="47625">
                      <a:normAutofit/>
                    </a:bodyPr>
                    <a:lstStyle/>
                    <a:p>
                      <a:pPr algn="l"/>
                      <a:r>
                        <a:rPr sz="1275" b="1">
                          <a:solidFill>
                            <a:srgbClr val="293A45"/>
                          </a:solidFill>
                          <a:latin typeface="Arial"/>
                          <a:ea typeface="Arial"/>
                          <a:cs typeface="Arial"/>
                        </a:rPr>
                        <a:t>CoupledCF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Local 72 + global 64 to 64</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Included at left</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75" b="0">
                          <a:solidFill>
                            <a:srgbClr val="293A45"/>
                          </a:solidFill>
                          <a:latin typeface="Arial"/>
                          <a:ea typeface="Arial"/>
                          <a:cs typeface="Arial"/>
                        </a:rPr>
                        <a:t>Concat 128 to 64</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bl>
          </a:graphicData>
        </a:graphic>
      </p:graphicFrame>
      <p:sp>
        <p:nvSpPr>
          <p:cNvPr id="5" name="training-budget">
            <a:extLst xmlns:a="http://schemas.openxmlformats.org/drawingml/2006/main">
              <a:ext uri="{FF2B5EF4-FFF2-40B4-BE49-F238E27FC236}">
                <a16:creationId xmlns:a16="http://schemas.microsoft.com/office/drawing/2014/main" id="{69054D0E-5C3F-4926-B7BE-B561F2AAE993}"/>
              </a:ext>
            </a:extLst>
          </p:cNvPr>
          <p:cNvSpPr>
            <a:spLocks xmlns:a="http://schemas.openxmlformats.org/drawingml/2006/main" noGrp="1"/>
          </p:cNvSpPr>
          <p:nvPr/>
        </p:nvSpPr>
        <p:spPr>
          <a:xfrm xmlns:a="http://schemas.openxmlformats.org/drawingml/2006/main">
            <a:off x="685800" y="52387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5232D"/>
                </a:solidFill>
                <a:latin typeface="Arial"/>
                <a:ea typeface="Arial"/>
                <a:cs typeface="Arial"/>
              </a:defRPr>
            </a:defPPr>
            <a:lvl1pPr algn="l">
              <a:defRPr sz="1575" b="1">
                <a:solidFill>
                  <a:srgbClr val="15232D"/>
                </a:solidFill>
                <a:latin typeface="Arial"/>
                <a:ea typeface="Arial"/>
                <a:cs typeface="Arial"/>
              </a:defRPr>
            </a:lvl1pPr>
            <a:lvl2pPr algn="l">
              <a:defRPr sz="1575" b="1">
                <a:solidFill>
                  <a:srgbClr val="15232D"/>
                </a:solidFill>
                <a:latin typeface="Arial"/>
                <a:ea typeface="Arial"/>
                <a:cs typeface="Arial"/>
              </a:defRPr>
            </a:lvl2pPr>
            <a:lvl3pPr algn="l">
              <a:defRPr sz="1575" b="1">
                <a:solidFill>
                  <a:srgbClr val="15232D"/>
                </a:solidFill>
                <a:latin typeface="Arial"/>
                <a:ea typeface="Arial"/>
                <a:cs typeface="Arial"/>
              </a:defRPr>
            </a:lvl3pPr>
            <a:lvl4pPr algn="l">
              <a:defRPr sz="1575" b="1">
                <a:solidFill>
                  <a:srgbClr val="15232D"/>
                </a:solidFill>
                <a:latin typeface="Arial"/>
                <a:ea typeface="Arial"/>
                <a:cs typeface="Arial"/>
              </a:defRPr>
            </a:lvl4pPr>
            <a:lvl5pPr algn="l">
              <a:defRPr sz="1575" b="1">
                <a:solidFill>
                  <a:srgbClr val="15232D"/>
                </a:solidFill>
                <a:latin typeface="Arial"/>
                <a:ea typeface="Arial"/>
                <a:cs typeface="Arial"/>
              </a:defRPr>
            </a:lvl5pPr>
            <a:lvl6pPr algn="l">
              <a:defRPr sz="1575" b="1">
                <a:solidFill>
                  <a:srgbClr val="15232D"/>
                </a:solidFill>
                <a:latin typeface="Arial"/>
                <a:ea typeface="Arial"/>
                <a:cs typeface="Arial"/>
              </a:defRPr>
            </a:lvl6pPr>
            <a:lvl7pPr algn="l">
              <a:defRPr sz="1575" b="1">
                <a:solidFill>
                  <a:srgbClr val="15232D"/>
                </a:solidFill>
                <a:latin typeface="Arial"/>
                <a:ea typeface="Arial"/>
                <a:cs typeface="Arial"/>
              </a:defRPr>
            </a:lvl7pPr>
            <a:lvl8pPr algn="l">
              <a:defRPr sz="1575" b="1">
                <a:solidFill>
                  <a:srgbClr val="15232D"/>
                </a:solidFill>
                <a:latin typeface="Arial"/>
                <a:ea typeface="Arial"/>
                <a:cs typeface="Arial"/>
              </a:defRPr>
            </a:lvl8pPr>
            <a:lvl9pPr algn="l">
              <a:defRPr sz="1575" b="1">
                <a:solidFill>
                  <a:srgbClr val="15232D"/>
                </a:solidFill>
                <a:latin typeface="Arial"/>
                <a:ea typeface="Arial"/>
                <a:cs typeface="Arial"/>
              </a:defRPr>
            </a:lvl9pPr>
          </a:lstStyle>
          <a:p xmlns:a="http://schemas.openxmlformats.org/drawingml/2006/main">
            <a:pPr algn="l">
              <a:defRPr sz="1575" b="1">
                <a:solidFill>
                  <a:srgbClr val="15232D"/>
                </a:solidFill>
                <a:latin typeface="Arial"/>
                <a:ea typeface="Arial"/>
                <a:cs typeface="Arial"/>
              </a:defRPr>
            </a:pPr>
            <a:r>
              <a:rPr sz="1575" b="1">
                <a:solidFill>
                  <a:srgbClr val="15232D"/>
                </a:solidFill>
                <a:latin typeface="Arial"/>
                <a:ea typeface="Arial"/>
                <a:cs typeface="Arial"/>
              </a:rPr>
              <a:t>10 epochs | batch 4096 | CPU | 2 threads | lr 0.001 | 4 train negatives</a:t>
            </a:r>
          </a:p>
        </p:txBody>
      </p:sp>
      <p:sp>
        <p:nvSpPr>
          <p:cNvPr id="6" name="checkpoint-selection">
            <a:extLst xmlns:a="http://schemas.openxmlformats.org/drawingml/2006/main">
              <a:ext uri="{FF2B5EF4-FFF2-40B4-BE49-F238E27FC236}">
                <a16:creationId xmlns:a16="http://schemas.microsoft.com/office/drawing/2014/main" id="{A38D8B64-E8D3-4FC9-A624-0D1D96FEFF91}"/>
              </a:ext>
            </a:extLst>
          </p:cNvPr>
          <p:cNvSpPr>
            <a:spLocks xmlns:a="http://schemas.openxmlformats.org/drawingml/2006/main" noGrp="1"/>
          </p:cNvSpPr>
          <p:nvPr/>
        </p:nvSpPr>
        <p:spPr>
          <a:xfrm xmlns:a="http://schemas.openxmlformats.org/drawingml/2006/main">
            <a:off x="685800" y="5715000"/>
            <a:ext cx="1043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64"/>
          </a:bodyPr>
          <a:lstStyle xmlns:a="http://schemas.openxmlformats.org/drawingml/2006/main">
            <a:defPPr algn="l">
              <a:defRPr sz="1350">
                <a:solidFill>
                  <a:srgbClr val="5F6D76"/>
                </a:solidFill>
                <a:latin typeface="Arial"/>
                <a:ea typeface="Arial"/>
                <a:cs typeface="Arial"/>
              </a:defRPr>
            </a:defPPr>
            <a:lvl1pPr algn="l">
              <a:defRPr sz="1350">
                <a:solidFill>
                  <a:srgbClr val="5F6D76"/>
                </a:solidFill>
                <a:latin typeface="Arial"/>
                <a:ea typeface="Arial"/>
                <a:cs typeface="Arial"/>
              </a:defRPr>
            </a:lvl1pPr>
            <a:lvl2pPr algn="l">
              <a:defRPr sz="1350">
                <a:solidFill>
                  <a:srgbClr val="5F6D76"/>
                </a:solidFill>
                <a:latin typeface="Arial"/>
                <a:ea typeface="Arial"/>
                <a:cs typeface="Arial"/>
              </a:defRPr>
            </a:lvl2pPr>
            <a:lvl3pPr algn="l">
              <a:defRPr sz="1350">
                <a:solidFill>
                  <a:srgbClr val="5F6D76"/>
                </a:solidFill>
                <a:latin typeface="Arial"/>
                <a:ea typeface="Arial"/>
                <a:cs typeface="Arial"/>
              </a:defRPr>
            </a:lvl3pPr>
            <a:lvl4pPr algn="l">
              <a:defRPr sz="1350">
                <a:solidFill>
                  <a:srgbClr val="5F6D76"/>
                </a:solidFill>
                <a:latin typeface="Arial"/>
                <a:ea typeface="Arial"/>
                <a:cs typeface="Arial"/>
              </a:defRPr>
            </a:lvl4pPr>
            <a:lvl5pPr algn="l">
              <a:defRPr sz="1350">
                <a:solidFill>
                  <a:srgbClr val="5F6D76"/>
                </a:solidFill>
                <a:latin typeface="Arial"/>
                <a:ea typeface="Arial"/>
                <a:cs typeface="Arial"/>
              </a:defRPr>
            </a:lvl5pPr>
            <a:lvl6pPr algn="l">
              <a:defRPr sz="1350">
                <a:solidFill>
                  <a:srgbClr val="5F6D76"/>
                </a:solidFill>
                <a:latin typeface="Arial"/>
                <a:ea typeface="Arial"/>
                <a:cs typeface="Arial"/>
              </a:defRPr>
            </a:lvl6pPr>
            <a:lvl7pPr algn="l">
              <a:defRPr sz="1350">
                <a:solidFill>
                  <a:srgbClr val="5F6D76"/>
                </a:solidFill>
                <a:latin typeface="Arial"/>
                <a:ea typeface="Arial"/>
                <a:cs typeface="Arial"/>
              </a:defRPr>
            </a:lvl7pPr>
            <a:lvl8pPr algn="l">
              <a:defRPr sz="1350">
                <a:solidFill>
                  <a:srgbClr val="5F6D76"/>
                </a:solidFill>
                <a:latin typeface="Arial"/>
                <a:ea typeface="Arial"/>
                <a:cs typeface="Arial"/>
              </a:defRPr>
            </a:lvl8pPr>
            <a:lvl9pPr algn="l">
              <a:defRPr sz="1350">
                <a:solidFill>
                  <a:srgbClr val="5F6D76"/>
                </a:solidFill>
                <a:latin typeface="Arial"/>
                <a:ea typeface="Arial"/>
                <a:cs typeface="Arial"/>
              </a:defRPr>
            </a:lvl9pPr>
          </a:lstStyle>
          <a:p xmlns:a="http://schemas.openxmlformats.org/drawingml/2006/main">
            <a:pPr algn="l">
              <a:defRPr sz="1350">
                <a:solidFill>
                  <a:srgbClr val="5F6D76"/>
                </a:solidFill>
                <a:latin typeface="Arial"/>
                <a:ea typeface="Arial"/>
                <a:cs typeface="Arial"/>
              </a:defRPr>
            </a:pPr>
            <a:r>
              <a:rPr sz="1350">
                <a:solidFill>
                  <a:srgbClr val="5F6D76"/>
                </a:solidFill>
                <a:latin typeface="Arial"/>
                <a:ea typeface="Arial"/>
                <a:cs typeface="Arial"/>
              </a:rPr>
              <a:t>Local plus implicit compresses 72 local values to 64 before concatenating with DeepCF's 64-value output. Validation NDCG@10 selects the checkpoint.</a:t>
            </a:r>
          </a:p>
        </p:txBody>
      </p:sp>
    </p:spTree>
    <p:extLst>
      <p:ext uri="{BB962C8B-B14F-4D97-AF65-F5344CB8AC3E}">
        <p14:creationId xmlns:p14="http://schemas.microsoft.com/office/powerpoint/2010/main" val="2700516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24653E4-703E-40D1-B9E4-F3F527FAFEF8}"/>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Top-N model comparison</a:t>
            </a:r>
          </a:p>
        </p:txBody>
      </p:sp>
      <p:sp>
        <p:nvSpPr>
          <p:cNvPr id="2" name="divider">
            <a:extLst xmlns:a="http://schemas.openxmlformats.org/drawingml/2006/main">
              <a:ext uri="{FF2B5EF4-FFF2-40B4-BE49-F238E27FC236}">
                <a16:creationId xmlns:a16="http://schemas.microsoft.com/office/drawing/2014/main" id="{7D88FCA2-1F65-444D-8BE9-136C28416C07}"/>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BB753762-B32B-4F28-B34F-DF3F83C158FB}"/>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Measured test performance across configured seeds</a:t>
            </a:r>
          </a:p>
        </p:txBody>
      </p:sp>
      <p:graphicFrame>
        <p:nvGraphicFramePr>
          <p:cNvPr id="4" name="">
            <a:extLst xmlns:a="http://schemas.openxmlformats.org/drawingml/2006/main">
              <a:ext uri="{FF2B5EF4-FFF2-40B4-BE49-F238E27FC236}">
                <a16:creationId xmlns:a16="http://schemas.microsoft.com/office/drawing/2014/main" id="{7FD67B07-36AE-4C4D-A2A4-882497439556}"/>
              </a:ext>
            </a:extLst>
          </p:cNvPr>
          <p:cNvGraphicFramePr/>
          <p:nvPr/>
        </p:nvGraphicFramePr>
        <p:xfrm>
          <a:off xmlns:a="http://schemas.openxmlformats.org/drawingml/2006/main" x="609600" y="1924050"/>
          <a:ext xmlns:a="http://schemas.openxmlformats.org/drawingml/2006/main" cx="6038850" cy="3581400"/>
        </p:xfrm>
        <a:graphic xmlns:a="http://schemas.openxmlformats.org/drawingml/2006/main">
          <a:graphicData uri="http://schemas.openxmlformats.org/drawingml/2006/table">
            <a:tbl>
              <a:tblPr firstRow="0" firstCol="0" bandRow="0" bandCol="0"/>
              <a:tblGrid>
                <a:gridCol w="1676400"/>
                <a:gridCol w="1381125"/>
                <a:gridCol w="1504950"/>
                <a:gridCol w="1476375"/>
              </a:tblGrid>
              <a:tr h="447675">
                <a:tc>
                  <a:txBody>
                    <a:bodyPr wrap="square" lIns="76200" tIns="47625" rIns="57150" bIns="47625">
                      <a:normAutofit/>
                    </a:bodyPr>
                    <a:lstStyle/>
                    <a:p>
                      <a:pPr algn="l"/>
                      <a:r>
                        <a:rPr sz="1200" b="1">
                          <a:solidFill>
                            <a:srgbClr val="FFFFFF"/>
                          </a:solidFill>
                          <a:latin typeface="Arial"/>
                          <a:ea typeface="Arial"/>
                          <a:cs typeface="Arial"/>
                        </a:rPr>
                        <a:t>Model or reference</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HR@10</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NDCG@10</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Parameters</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447675">
                <a:tc>
                  <a:txBody>
                    <a:bodyPr wrap="square" lIns="76200" tIns="47625" rIns="57150" bIns="47625">
                      <a:normAutofit/>
                    </a:bodyPr>
                    <a:lstStyle/>
                    <a:p>
                      <a:pPr algn="l"/>
                      <a:r>
                        <a:rPr sz="1200" b="1">
                          <a:solidFill>
                            <a:srgbClr val="293A45"/>
                          </a:solidFill>
                          <a:latin typeface="Arial"/>
                          <a:ea typeface="Arial"/>
                          <a:cs typeface="Arial"/>
                        </a:rPr>
                        <a:t>DeepCF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0.7825 +/- 0.0022</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0.5022 +/- 0.0031</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319,841</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447675">
                <a:tc>
                  <a:txBody>
                    <a:bodyPr wrap="square" lIns="76200" tIns="47625" rIns="57150" bIns="47625">
                      <a:normAutofit/>
                    </a:bodyPr>
                    <a:lstStyle/>
                    <a:p>
                      <a:pPr algn="l"/>
                      <a:r>
                        <a:rPr sz="1200" b="1">
                          <a:solidFill>
                            <a:srgbClr val="293A45"/>
                          </a:solidFill>
                          <a:latin typeface="Arial"/>
                          <a:ea typeface="Arial"/>
                          <a:cs typeface="Arial"/>
                        </a:rPr>
                        <a:t>Local CNN</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0.3841 +/- 0.0099</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0.2142 +/- 0.0041</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33,113</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447675">
                <a:tc>
                  <a:txBody>
                    <a:bodyPr wrap="square" lIns="76200" tIns="47625" rIns="57150" bIns="47625">
                      <a:normAutofit/>
                    </a:bodyPr>
                    <a:lstStyle/>
                    <a:p>
                      <a:pPr algn="l"/>
                      <a:r>
                        <a:rPr sz="1200" b="1">
                          <a:solidFill>
                            <a:srgbClr val="293A45"/>
                          </a:solidFill>
                          <a:latin typeface="Arial"/>
                          <a:ea typeface="Arial"/>
                          <a:cs typeface="Arial"/>
                        </a:rPr>
                        <a:t>Global</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0.3924 +/- 0.0021</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0.2151 +/- 0.0012</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32,521</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447675">
                <a:tc>
                  <a:txBody>
                    <a:bodyPr wrap="square" lIns="76200" tIns="47625" rIns="57150" bIns="47625">
                      <a:normAutofit/>
                    </a:bodyPr>
                    <a:lstStyle/>
                    <a:p>
                      <a:pPr algn="l"/>
                      <a:r>
                        <a:rPr sz="1200" b="1">
                          <a:solidFill>
                            <a:srgbClr val="293A45"/>
                          </a:solidFill>
                          <a:latin typeface="Arial"/>
                          <a:ea typeface="Arial"/>
                          <a:cs typeface="Arial"/>
                        </a:rPr>
                        <a:t>Local + implicit</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0.7927 +/- 0.0085</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0.5203 +/- 0.0099</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361,273</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447675">
                <a:tc>
                  <a:txBody>
                    <a:bodyPr wrap="square" lIns="76200" tIns="47625" rIns="57150" bIns="47625">
                      <a:normAutofit/>
                    </a:bodyPr>
                    <a:lstStyle/>
                    <a:p>
                      <a:pPr algn="l"/>
                      <a:r>
                        <a:rPr sz="1200" b="1">
                          <a:solidFill>
                            <a:srgbClr val="293A45"/>
                          </a:solidFill>
                          <a:latin typeface="Arial"/>
                          <a:ea typeface="Arial"/>
                          <a:cs typeface="Arial"/>
                        </a:rPr>
                        <a:t>CoupledCF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0.7937 +/- 0.0037</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0.5224 +/- 0.0099</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365,369</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447675">
                <a:tc>
                  <a:txBody>
                    <a:bodyPr wrap="square" lIns="76200" tIns="47625" rIns="57150" bIns="47625">
                      <a:normAutofit/>
                    </a:bodyPr>
                    <a:lstStyle/>
                    <a:p>
                      <a:pPr algn="l"/>
                      <a:r>
                        <a:rPr sz="1200" b="1">
                          <a:solidFill>
                            <a:srgbClr val="293A45"/>
                          </a:solidFill>
                          <a:latin typeface="Arial"/>
                          <a:ea typeface="Arial"/>
                          <a:cs typeface="Arial"/>
                        </a:rPr>
                        <a:t>Train popularity*</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0.5745</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0.3424</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Reference</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447675">
                <a:tc>
                  <a:txBody>
                    <a:bodyPr wrap="square" lIns="76200" tIns="47625" rIns="57150" bIns="47625">
                      <a:normAutofit/>
                    </a:bodyPr>
                    <a:lstStyle/>
                    <a:p>
                      <a:pPr algn="l"/>
                      <a:r>
                        <a:rPr sz="1200" b="1">
                          <a:solidFill>
                            <a:srgbClr val="293A45"/>
                          </a:solidFill>
                          <a:latin typeface="Arial"/>
                          <a:ea typeface="Arial"/>
                          <a:cs typeface="Arial"/>
                        </a:rPr>
                        <a:t>Random rank**</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0.1000</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0.0454</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Expected</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0FF5534-7C7C-417F-9434-7BE238491F3B}"/>
              </a:ext>
            </a:extLst>
          </p:cNvPr>
          <p:cNvGraphicFramePr/>
          <p:nvPr/>
        </p:nvGraphicFramePr>
        <p:xfrm>
          <a:off xmlns:a="http://schemas.openxmlformats.org/drawingml/2006/main" x="6953250" y="1885950"/>
          <a:ext xmlns:a="http://schemas.openxmlformats.org/drawingml/2006/main" cx="4591050" cy="3676650"/>
        </p:xfrm>
        <a:graphic xmlns:a="http://schemas.openxmlformats.org/drawingml/2006/main">
          <a:graphicData uri="http://schemas.openxmlformats.org/drawingml/2006/chart">
            <c:chart xmlns:r="http://schemas.openxmlformats.org/officeDocument/2006/relationships" xmlns:c="http://schemas.openxmlformats.org/drawingml/2006/chart" r:id="Rf60f8f31f03747b9"/>
          </a:graphicData>
        </a:graphic>
      </p:graphicFrame>
      <p:sp>
        <p:nvSpPr>
          <p:cNvPr id="6" name="results-footnote">
            <a:extLst xmlns:a="http://schemas.openxmlformats.org/drawingml/2006/main">
              <a:ext uri="{FF2B5EF4-FFF2-40B4-BE49-F238E27FC236}">
                <a16:creationId xmlns:a16="http://schemas.microsoft.com/office/drawing/2014/main" id="{119BCF22-3EB0-473F-BFB3-47957AF01E8A}"/>
              </a:ext>
            </a:extLst>
          </p:cNvPr>
          <p:cNvSpPr>
            <a:spLocks xmlns:a="http://schemas.openxmlformats.org/drawingml/2006/main" noGrp="1"/>
          </p:cNvSpPr>
          <p:nvPr/>
        </p:nvSpPr>
        <p:spPr>
          <a:xfrm xmlns:a="http://schemas.openxmlformats.org/drawingml/2006/main">
            <a:off x="609600" y="5753100"/>
            <a:ext cx="1089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a:solidFill>
                  <a:srgbClr val="5F6D76"/>
                </a:solidFill>
                <a:latin typeface="Arial"/>
                <a:ea typeface="Arial"/>
                <a:cs typeface="Arial"/>
              </a:defRPr>
            </a:defPPr>
            <a:lvl1pPr algn="l">
              <a:defRPr sz="1275">
                <a:solidFill>
                  <a:srgbClr val="5F6D76"/>
                </a:solidFill>
                <a:latin typeface="Arial"/>
                <a:ea typeface="Arial"/>
                <a:cs typeface="Arial"/>
              </a:defRPr>
            </a:lvl1pPr>
            <a:lvl2pPr algn="l">
              <a:defRPr sz="1275">
                <a:solidFill>
                  <a:srgbClr val="5F6D76"/>
                </a:solidFill>
                <a:latin typeface="Arial"/>
                <a:ea typeface="Arial"/>
                <a:cs typeface="Arial"/>
              </a:defRPr>
            </a:lvl2pPr>
            <a:lvl3pPr algn="l">
              <a:defRPr sz="1275">
                <a:solidFill>
                  <a:srgbClr val="5F6D76"/>
                </a:solidFill>
                <a:latin typeface="Arial"/>
                <a:ea typeface="Arial"/>
                <a:cs typeface="Arial"/>
              </a:defRPr>
            </a:lvl3pPr>
            <a:lvl4pPr algn="l">
              <a:defRPr sz="1275">
                <a:solidFill>
                  <a:srgbClr val="5F6D76"/>
                </a:solidFill>
                <a:latin typeface="Arial"/>
                <a:ea typeface="Arial"/>
                <a:cs typeface="Arial"/>
              </a:defRPr>
            </a:lvl4pPr>
            <a:lvl5pPr algn="l">
              <a:defRPr sz="1275">
                <a:solidFill>
                  <a:srgbClr val="5F6D76"/>
                </a:solidFill>
                <a:latin typeface="Arial"/>
                <a:ea typeface="Arial"/>
                <a:cs typeface="Arial"/>
              </a:defRPr>
            </a:lvl5pPr>
            <a:lvl6pPr algn="l">
              <a:defRPr sz="1275">
                <a:solidFill>
                  <a:srgbClr val="5F6D76"/>
                </a:solidFill>
                <a:latin typeface="Arial"/>
                <a:ea typeface="Arial"/>
                <a:cs typeface="Arial"/>
              </a:defRPr>
            </a:lvl6pPr>
            <a:lvl7pPr algn="l">
              <a:defRPr sz="1275">
                <a:solidFill>
                  <a:srgbClr val="5F6D76"/>
                </a:solidFill>
                <a:latin typeface="Arial"/>
                <a:ea typeface="Arial"/>
                <a:cs typeface="Arial"/>
              </a:defRPr>
            </a:lvl7pPr>
            <a:lvl8pPr algn="l">
              <a:defRPr sz="1275">
                <a:solidFill>
                  <a:srgbClr val="5F6D76"/>
                </a:solidFill>
                <a:latin typeface="Arial"/>
                <a:ea typeface="Arial"/>
                <a:cs typeface="Arial"/>
              </a:defRPr>
            </a:lvl8pPr>
            <a:lvl9pPr algn="l">
              <a:defRPr sz="1275">
                <a:solidFill>
                  <a:srgbClr val="5F6D76"/>
                </a:solidFill>
                <a:latin typeface="Arial"/>
                <a:ea typeface="Arial"/>
                <a:cs typeface="Arial"/>
              </a:defRPr>
            </a:lvl9pPr>
          </a:lstStyle>
          <a:p xmlns:a="http://schemas.openxmlformats.org/drawingml/2006/main">
            <a:pPr algn="l">
              <a:defRPr sz="1275">
                <a:solidFill>
                  <a:srgbClr val="5F6D76"/>
                </a:solidFill>
                <a:latin typeface="Arial"/>
                <a:ea typeface="Arial"/>
                <a:cs typeface="Arial"/>
              </a:defRPr>
            </a:pPr>
            <a:r>
              <a:rPr sz="1275">
                <a:solidFill>
                  <a:srgbClr val="5F6D76"/>
                </a:solidFill>
                <a:latin typeface="Arial"/>
                <a:ea typeface="Arial"/>
                <a:cs typeface="Arial"/>
              </a:rPr>
              <a:t>* Single fixed-split train-only popularity baseline. ** Uniform-rank expectation. Table entries for trained models show mean +/- sample SD.</a:t>
            </a:r>
          </a:p>
        </p:txBody>
      </p:sp>
    </p:spTree>
    <p:extLst>
      <p:ext uri="{BB962C8B-B14F-4D97-AF65-F5344CB8AC3E}">
        <p14:creationId xmlns:p14="http://schemas.microsoft.com/office/powerpoint/2010/main" val="18562968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8E12B2D-72F4-4906-9FAC-9E04AD175B27}"/>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Paired ablation differences</a:t>
            </a:r>
          </a:p>
        </p:txBody>
      </p:sp>
      <p:sp>
        <p:nvSpPr>
          <p:cNvPr id="2" name="divider">
            <a:extLst xmlns:a="http://schemas.openxmlformats.org/drawingml/2006/main">
              <a:ext uri="{FF2B5EF4-FFF2-40B4-BE49-F238E27FC236}">
                <a16:creationId xmlns:a16="http://schemas.microsoft.com/office/drawing/2014/main" id="{356E920B-86DE-44A5-B5E5-3195E9E85D92}"/>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1DDB040F-85BE-4E8A-AD0C-131109ABA22F}"/>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Each delta subtracts the matched second model from the first for the same seed</a:t>
            </a:r>
          </a:p>
        </p:txBody>
      </p:sp>
      <p:graphicFrame>
        <p:nvGraphicFramePr>
          <p:cNvPr id="4" name="">
            <a:extLst xmlns:a="http://schemas.openxmlformats.org/drawingml/2006/main">
              <a:ext uri="{FF2B5EF4-FFF2-40B4-BE49-F238E27FC236}">
                <a16:creationId xmlns:a16="http://schemas.microsoft.com/office/drawing/2014/main" id="{86B84C9B-446E-47B9-9BAD-F7E647972B5D}"/>
              </a:ext>
            </a:extLst>
          </p:cNvPr>
          <p:cNvGraphicFramePr/>
          <p:nvPr/>
        </p:nvGraphicFramePr>
        <p:xfrm>
          <a:off xmlns:a="http://schemas.openxmlformats.org/drawingml/2006/main" x="609600" y="1943100"/>
          <a:ext xmlns:a="http://schemas.openxmlformats.org/drawingml/2006/main" cx="5791200" cy="3200400"/>
        </p:xfrm>
        <a:graphic xmlns:a="http://schemas.openxmlformats.org/drawingml/2006/main">
          <a:graphicData uri="http://schemas.openxmlformats.org/drawingml/2006/table">
            <a:tbl>
              <a:tblPr firstRow="0" firstCol="0" bandRow="0" bandCol="0"/>
              <a:tblGrid>
                <a:gridCol w="2095500"/>
                <a:gridCol w="1771650"/>
                <a:gridCol w="1924050"/>
              </a:tblGrid>
              <a:tr h="609600">
                <a:tc>
                  <a:txBody>
                    <a:bodyPr wrap="square" lIns="76200" tIns="47625" rIns="57150" bIns="47625">
                      <a:normAutofit/>
                    </a:bodyPr>
                    <a:lstStyle/>
                    <a:p>
                      <a:pPr algn="l"/>
                      <a:r>
                        <a:rPr sz="1350" b="1">
                          <a:solidFill>
                            <a:srgbClr val="FFFFFF"/>
                          </a:solidFill>
                          <a:latin typeface="Arial"/>
                          <a:ea typeface="Arial"/>
                          <a:cs typeface="Arial"/>
                        </a:rPr>
                        <a:t>Paired comparison</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350" b="1">
                          <a:solidFill>
                            <a:srgbClr val="FFFFFF"/>
                          </a:solidFill>
                          <a:latin typeface="Arial"/>
                          <a:ea typeface="Arial"/>
                          <a:cs typeface="Arial"/>
                        </a:rPr>
                        <a:t>HR@10 delta</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350" b="1">
                          <a:solidFill>
                            <a:srgbClr val="FFFFFF"/>
                          </a:solidFill>
                          <a:latin typeface="Arial"/>
                          <a:ea typeface="Arial"/>
                          <a:cs typeface="Arial"/>
                        </a:rPr>
                        <a:t>NDCG@10 delta</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647700">
                <a:tc>
                  <a:txBody>
                    <a:bodyPr wrap="square" lIns="76200" tIns="47625" rIns="57150" bIns="47625">
                      <a:normAutofit/>
                    </a:bodyPr>
                    <a:lstStyle/>
                    <a:p>
                      <a:pPr algn="l"/>
                      <a:r>
                        <a:rPr sz="1350" b="1">
                          <a:solidFill>
                            <a:srgbClr val="293A45"/>
                          </a:solidFill>
                          <a:latin typeface="Arial"/>
                          <a:ea typeface="Arial"/>
                          <a:cs typeface="Arial"/>
                        </a:rPr>
                        <a:t>Full vs DeepCF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0.0111 +/- 0.0015</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0.0202 +/- 0.0101</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647700">
                <a:tc>
                  <a:txBody>
                    <a:bodyPr wrap="square" lIns="76200" tIns="47625" rIns="57150" bIns="47625">
                      <a:normAutofit/>
                    </a:bodyPr>
                    <a:lstStyle/>
                    <a:p>
                      <a:pPr algn="l"/>
                      <a:r>
                        <a:rPr sz="1350" b="1">
                          <a:solidFill>
                            <a:srgbClr val="293A45"/>
                          </a:solidFill>
                          <a:latin typeface="Arial"/>
                          <a:ea typeface="Arial"/>
                          <a:cs typeface="Arial"/>
                        </a:rPr>
                        <a:t>Add global path</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0.0010 +/- 0.0107</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0.0021 +/- 0.0170</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647700">
                <a:tc>
                  <a:txBody>
                    <a:bodyPr wrap="square" lIns="76200" tIns="47625" rIns="57150" bIns="47625">
                      <a:normAutofit/>
                    </a:bodyPr>
                    <a:lstStyle/>
                    <a:p>
                      <a:pPr algn="l"/>
                      <a:r>
                        <a:rPr sz="1350" b="1">
                          <a:solidFill>
                            <a:srgbClr val="293A45"/>
                          </a:solidFill>
                          <a:latin typeface="Arial"/>
                          <a:ea typeface="Arial"/>
                          <a:cs typeface="Arial"/>
                        </a:rPr>
                        <a:t>Add local path</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0.0102 +/- 0.0096</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0.0181 +/- 0.0075</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647700">
                <a:tc>
                  <a:txBody>
                    <a:bodyPr wrap="square" lIns="76200" tIns="47625" rIns="57150" bIns="47625">
                      <a:normAutofit/>
                    </a:bodyPr>
                    <a:lstStyle/>
                    <a:p>
                      <a:pPr algn="l"/>
                      <a:r>
                        <a:rPr sz="1350" b="1">
                          <a:solidFill>
                            <a:srgbClr val="293A45"/>
                          </a:solidFill>
                          <a:latin typeface="Arial"/>
                          <a:ea typeface="Arial"/>
                          <a:cs typeface="Arial"/>
                        </a:rPr>
                        <a:t>Local vs global</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-0.0083 +/- 0.0079</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-0.0010 +/- 0.0030</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0CD8DDAF-7F2E-46F7-99DB-3B11F9D9D8BC}"/>
              </a:ext>
            </a:extLst>
          </p:cNvPr>
          <p:cNvGraphicFramePr/>
          <p:nvPr/>
        </p:nvGraphicFramePr>
        <p:xfrm>
          <a:off xmlns:a="http://schemas.openxmlformats.org/drawingml/2006/main" x="6762750" y="1924050"/>
          <a:ext xmlns:a="http://schemas.openxmlformats.org/drawingml/2006/main" cx="4762500" cy="3257550"/>
        </p:xfrm>
        <a:graphic xmlns:a="http://schemas.openxmlformats.org/drawingml/2006/main">
          <a:graphicData uri="http://schemas.openxmlformats.org/drawingml/2006/chart">
            <c:chart xmlns:r="http://schemas.openxmlformats.org/officeDocument/2006/relationships" xmlns:c="http://schemas.openxmlformats.org/drawingml/2006/chart" r:id="R6d55108d023b4d49"/>
          </a:graphicData>
        </a:graphic>
      </p:graphicFrame>
      <p:sp>
        <p:nvSpPr>
          <p:cNvPr id="6" name="ablation-caution">
            <a:extLst xmlns:a="http://schemas.openxmlformats.org/drawingml/2006/main">
              <a:ext uri="{FF2B5EF4-FFF2-40B4-BE49-F238E27FC236}">
                <a16:creationId xmlns:a16="http://schemas.microsoft.com/office/drawing/2014/main" id="{45DCCB25-1407-46BA-87A2-55742B251915}"/>
              </a:ext>
            </a:extLst>
          </p:cNvPr>
          <p:cNvSpPr>
            <a:spLocks xmlns:a="http://schemas.openxmlformats.org/drawingml/2006/main" noGrp="1"/>
          </p:cNvSpPr>
          <p:nvPr/>
        </p:nvSpPr>
        <p:spPr>
          <a:xfrm xmlns:a="http://schemas.openxmlformats.org/drawingml/2006/main">
            <a:off x="609600" y="55911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a:solidFill>
                  <a:srgbClr val="5F6D76"/>
                </a:solidFill>
                <a:latin typeface="Arial"/>
                <a:ea typeface="Arial"/>
                <a:cs typeface="Arial"/>
              </a:defRPr>
            </a:defPPr>
            <a:lvl1pPr algn="l">
              <a:defRPr sz="1500">
                <a:solidFill>
                  <a:srgbClr val="5F6D76"/>
                </a:solidFill>
                <a:latin typeface="Arial"/>
                <a:ea typeface="Arial"/>
                <a:cs typeface="Arial"/>
              </a:defRPr>
            </a:lvl1pPr>
            <a:lvl2pPr algn="l">
              <a:defRPr sz="1500">
                <a:solidFill>
                  <a:srgbClr val="5F6D76"/>
                </a:solidFill>
                <a:latin typeface="Arial"/>
                <a:ea typeface="Arial"/>
                <a:cs typeface="Arial"/>
              </a:defRPr>
            </a:lvl2pPr>
            <a:lvl3pPr algn="l">
              <a:defRPr sz="1500">
                <a:solidFill>
                  <a:srgbClr val="5F6D76"/>
                </a:solidFill>
                <a:latin typeface="Arial"/>
                <a:ea typeface="Arial"/>
                <a:cs typeface="Arial"/>
              </a:defRPr>
            </a:lvl3pPr>
            <a:lvl4pPr algn="l">
              <a:defRPr sz="1500">
                <a:solidFill>
                  <a:srgbClr val="5F6D76"/>
                </a:solidFill>
                <a:latin typeface="Arial"/>
                <a:ea typeface="Arial"/>
                <a:cs typeface="Arial"/>
              </a:defRPr>
            </a:lvl4pPr>
            <a:lvl5pPr algn="l">
              <a:defRPr sz="1500">
                <a:solidFill>
                  <a:srgbClr val="5F6D76"/>
                </a:solidFill>
                <a:latin typeface="Arial"/>
                <a:ea typeface="Arial"/>
                <a:cs typeface="Arial"/>
              </a:defRPr>
            </a:lvl5pPr>
            <a:lvl6pPr algn="l">
              <a:defRPr sz="1500">
                <a:solidFill>
                  <a:srgbClr val="5F6D76"/>
                </a:solidFill>
                <a:latin typeface="Arial"/>
                <a:ea typeface="Arial"/>
                <a:cs typeface="Arial"/>
              </a:defRPr>
            </a:lvl6pPr>
            <a:lvl7pPr algn="l">
              <a:defRPr sz="1500">
                <a:solidFill>
                  <a:srgbClr val="5F6D76"/>
                </a:solidFill>
                <a:latin typeface="Arial"/>
                <a:ea typeface="Arial"/>
                <a:cs typeface="Arial"/>
              </a:defRPr>
            </a:lvl7pPr>
            <a:lvl8pPr algn="l">
              <a:defRPr sz="1500">
                <a:solidFill>
                  <a:srgbClr val="5F6D76"/>
                </a:solidFill>
                <a:latin typeface="Arial"/>
                <a:ea typeface="Arial"/>
                <a:cs typeface="Arial"/>
              </a:defRPr>
            </a:lvl8pPr>
            <a:lvl9pPr algn="l">
              <a:defRPr sz="1500">
                <a:solidFill>
                  <a:srgbClr val="5F6D76"/>
                </a:solidFill>
                <a:latin typeface="Arial"/>
                <a:ea typeface="Arial"/>
                <a:cs typeface="Arial"/>
              </a:defRPr>
            </a:lvl9pPr>
          </a:lstStyle>
          <a:p xmlns:a="http://schemas.openxmlformats.org/drawingml/2006/main">
            <a:pPr algn="l">
              <a:defRPr sz="1500">
                <a:solidFill>
                  <a:srgbClr val="5F6D76"/>
                </a:solidFill>
                <a:latin typeface="Arial"/>
                <a:ea typeface="Arial"/>
                <a:cs typeface="Arial"/>
              </a:defRPr>
            </a:pPr>
            <a:r>
              <a:rPr sz="1500">
                <a:solidFill>
                  <a:srgbClr val="5F6D76"/>
                </a:solidFill>
                <a:latin typeface="Arial"/>
                <a:ea typeface="Arial"/>
                <a:cs typeface="Arial"/>
              </a:rPr>
              <a:t>Positive values favor the first model. Three seeds describe this fixed split; they do not establish statistical significance.</a:t>
            </a:r>
          </a:p>
        </p:txBody>
      </p:sp>
    </p:spTree>
    <p:extLst>
      <p:ext uri="{BB962C8B-B14F-4D97-AF65-F5344CB8AC3E}">
        <p14:creationId xmlns:p14="http://schemas.microsoft.com/office/powerpoint/2010/main" val="19293255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57D4B02-2776-41AC-A350-75D3B36DE8EC}"/>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Compute and model cost</a:t>
            </a:r>
          </a:p>
        </p:txBody>
      </p:sp>
      <p:sp>
        <p:nvSpPr>
          <p:cNvPr id="2" name="divider">
            <a:extLst xmlns:a="http://schemas.openxmlformats.org/drawingml/2006/main">
              <a:ext uri="{FF2B5EF4-FFF2-40B4-BE49-F238E27FC236}">
                <a16:creationId xmlns:a16="http://schemas.microsoft.com/office/drawing/2014/main" id="{3804370E-AB93-4293-BA6D-E715DA0FAED7}"/>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E8D0DC09-93ED-4CC9-9AFF-78A0AD67BDF6}"/>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Run time and memory are observed costs on the recorded CPU host</a:t>
            </a:r>
          </a:p>
        </p:txBody>
      </p:sp>
      <p:sp>
        <p:nvSpPr>
          <p:cNvPr id="4" name="compute-config">
            <a:extLst xmlns:a="http://schemas.openxmlformats.org/drawingml/2006/main">
              <a:ext uri="{FF2B5EF4-FFF2-40B4-BE49-F238E27FC236}">
                <a16:creationId xmlns:a16="http://schemas.microsoft.com/office/drawing/2014/main" id="{3DDB8A80-CF41-4D6C-AC20-C49536D30B4F}"/>
              </a:ext>
            </a:extLst>
          </p:cNvPr>
          <p:cNvSpPr>
            <a:spLocks xmlns:a="http://schemas.openxmlformats.org/drawingml/2006/main" noGrp="1"/>
          </p:cNvSpPr>
          <p:nvPr/>
        </p:nvSpPr>
        <p:spPr>
          <a:xfrm xmlns:a="http://schemas.openxmlformats.org/drawingml/2006/main">
            <a:off x="609600" y="17716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5232D"/>
                </a:solidFill>
                <a:latin typeface="Arial"/>
                <a:ea typeface="Arial"/>
                <a:cs typeface="Arial"/>
              </a:defRPr>
            </a:defPPr>
            <a:lvl1pPr algn="l">
              <a:defRPr sz="1800" b="1">
                <a:solidFill>
                  <a:srgbClr val="15232D"/>
                </a:solidFill>
                <a:latin typeface="Arial"/>
                <a:ea typeface="Arial"/>
                <a:cs typeface="Arial"/>
              </a:defRPr>
            </a:lvl1pPr>
            <a:lvl2pPr algn="l">
              <a:defRPr sz="1800" b="1">
                <a:solidFill>
                  <a:srgbClr val="15232D"/>
                </a:solidFill>
                <a:latin typeface="Arial"/>
                <a:ea typeface="Arial"/>
                <a:cs typeface="Arial"/>
              </a:defRPr>
            </a:lvl2pPr>
            <a:lvl3pPr algn="l">
              <a:defRPr sz="1800" b="1">
                <a:solidFill>
                  <a:srgbClr val="15232D"/>
                </a:solidFill>
                <a:latin typeface="Arial"/>
                <a:ea typeface="Arial"/>
                <a:cs typeface="Arial"/>
              </a:defRPr>
            </a:lvl3pPr>
            <a:lvl4pPr algn="l">
              <a:defRPr sz="1800" b="1">
                <a:solidFill>
                  <a:srgbClr val="15232D"/>
                </a:solidFill>
                <a:latin typeface="Arial"/>
                <a:ea typeface="Arial"/>
                <a:cs typeface="Arial"/>
              </a:defRPr>
            </a:lvl4pPr>
            <a:lvl5pPr algn="l">
              <a:defRPr sz="1800" b="1">
                <a:solidFill>
                  <a:srgbClr val="15232D"/>
                </a:solidFill>
                <a:latin typeface="Arial"/>
                <a:ea typeface="Arial"/>
                <a:cs typeface="Arial"/>
              </a:defRPr>
            </a:lvl5pPr>
            <a:lvl6pPr algn="l">
              <a:defRPr sz="1800" b="1">
                <a:solidFill>
                  <a:srgbClr val="15232D"/>
                </a:solidFill>
                <a:latin typeface="Arial"/>
                <a:ea typeface="Arial"/>
                <a:cs typeface="Arial"/>
              </a:defRPr>
            </a:lvl6pPr>
            <a:lvl7pPr algn="l">
              <a:defRPr sz="1800" b="1">
                <a:solidFill>
                  <a:srgbClr val="15232D"/>
                </a:solidFill>
                <a:latin typeface="Arial"/>
                <a:ea typeface="Arial"/>
                <a:cs typeface="Arial"/>
              </a:defRPr>
            </a:lvl7pPr>
            <a:lvl8pPr algn="l">
              <a:defRPr sz="1800" b="1">
                <a:solidFill>
                  <a:srgbClr val="15232D"/>
                </a:solidFill>
                <a:latin typeface="Arial"/>
                <a:ea typeface="Arial"/>
                <a:cs typeface="Arial"/>
              </a:defRPr>
            </a:lvl8pPr>
            <a:lvl9pPr algn="l">
              <a:defRPr sz="1800" b="1">
                <a:solidFill>
                  <a:srgbClr val="15232D"/>
                </a:solidFill>
                <a:latin typeface="Arial"/>
                <a:ea typeface="Arial"/>
                <a:cs typeface="Arial"/>
              </a:defRPr>
            </a:lvl9pPr>
          </a:lstStyle>
          <a:p xmlns:a="http://schemas.openxmlformats.org/drawingml/2006/main">
            <a:pPr algn="l">
              <a:defRPr sz="1800" b="1">
                <a:solidFill>
                  <a:srgbClr val="15232D"/>
                </a:solidFill>
                <a:latin typeface="Arial"/>
                <a:ea typeface="Arial"/>
                <a:cs typeface="Arial"/>
              </a:defRPr>
            </a:pPr>
            <a:r>
              <a:rPr sz="1800" b="1">
                <a:solidFill>
                  <a:srgbClr val="15232D"/>
                </a:solidFill>
                <a:latin typeface="Arial"/>
                <a:ea typeface="Arial"/>
                <a:cs typeface="Arial"/>
              </a:rPr>
              <a:t>CPU | 10 epochs | batch 4096 | 2 threads</a:t>
            </a:r>
          </a:p>
        </p:txBody>
      </p:sp>
      <p:graphicFrame>
        <p:nvGraphicFramePr>
          <p:cNvPr id="5" name="">
            <a:extLst xmlns:a="http://schemas.openxmlformats.org/drawingml/2006/main">
              <a:ext uri="{FF2B5EF4-FFF2-40B4-BE49-F238E27FC236}">
                <a16:creationId xmlns:a16="http://schemas.microsoft.com/office/drawing/2014/main" id="{121EEFEF-C3C1-4C42-BC81-66B42DB591EA}"/>
              </a:ext>
            </a:extLst>
          </p:cNvPr>
          <p:cNvGraphicFramePr/>
          <p:nvPr/>
        </p:nvGraphicFramePr>
        <p:xfrm>
          <a:off xmlns:a="http://schemas.openxmlformats.org/drawingml/2006/main" x="609600" y="2324100"/>
          <a:ext xmlns:a="http://schemas.openxmlformats.org/drawingml/2006/main" cx="6743700" cy="3105150"/>
        </p:xfrm>
        <a:graphic xmlns:a="http://schemas.openxmlformats.org/drawingml/2006/main">
          <a:graphicData uri="http://schemas.openxmlformats.org/drawingml/2006/table">
            <a:tbl>
              <a:tblPr firstRow="0" firstCol="0" bandRow="0" bandCol="0"/>
              <a:tblGrid>
                <a:gridCol w="1371600"/>
                <a:gridCol w="1371600"/>
                <a:gridCol w="2076450"/>
                <a:gridCol w="1924050"/>
              </a:tblGrid>
              <a:tr h="514350">
                <a:tc>
                  <a:txBody>
                    <a:bodyPr wrap="square" lIns="76200" tIns="47625" rIns="57150" bIns="47625">
                      <a:normAutofit/>
                    </a:bodyPr>
                    <a:lstStyle/>
                    <a:p>
                      <a:pPr algn="l"/>
                      <a:r>
                        <a:rPr sz="1200" b="1">
                          <a:solidFill>
                            <a:srgbClr val="FFFFFF"/>
                          </a:solidFill>
                          <a:latin typeface="Arial"/>
                          <a:ea typeface="Arial"/>
                          <a:cs typeface="Arial"/>
                        </a:rPr>
                        <a:t>Model</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Parameters</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Wall time / run</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200" b="1">
                          <a:solidFill>
                            <a:srgbClr val="FFFFFF"/>
                          </a:solidFill>
                          <a:latin typeface="Arial"/>
                          <a:ea typeface="Arial"/>
                          <a:cs typeface="Arial"/>
                        </a:rPr>
                        <a:t>Peak RSS (MiB)</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514350">
                <a:tc>
                  <a:txBody>
                    <a:bodyPr wrap="square" lIns="76200" tIns="47625" rIns="57150" bIns="47625">
                      <a:normAutofit/>
                    </a:bodyPr>
                    <a:lstStyle/>
                    <a:p>
                      <a:pPr algn="l"/>
                      <a:r>
                        <a:rPr sz="1200" b="1">
                          <a:solidFill>
                            <a:srgbClr val="293A45"/>
                          </a:solidFill>
                          <a:latin typeface="Arial"/>
                          <a:ea typeface="Arial"/>
                          <a:cs typeface="Arial"/>
                        </a:rPr>
                        <a:t>DeepCF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319,841</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2.7 +/- 0.6 min</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752 +/- 5 MiB</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514350">
                <a:tc>
                  <a:txBody>
                    <a:bodyPr wrap="square" lIns="76200" tIns="47625" rIns="57150" bIns="47625">
                      <a:normAutofit/>
                    </a:bodyPr>
                    <a:lstStyle/>
                    <a:p>
                      <a:pPr algn="l"/>
                      <a:r>
                        <a:rPr sz="1200" b="1">
                          <a:solidFill>
                            <a:srgbClr val="293A45"/>
                          </a:solidFill>
                          <a:latin typeface="Arial"/>
                          <a:ea typeface="Arial"/>
                          <a:cs typeface="Arial"/>
                        </a:rPr>
                        <a:t>Local CNN</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33,113</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9.1 +/- 0.9 min</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797 +/- 9 MiB</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514350">
                <a:tc>
                  <a:txBody>
                    <a:bodyPr wrap="square" lIns="76200" tIns="47625" rIns="57150" bIns="47625">
                      <a:normAutofit/>
                    </a:bodyPr>
                    <a:lstStyle/>
                    <a:p>
                      <a:pPr algn="l"/>
                      <a:r>
                        <a:rPr sz="1200" b="1">
                          <a:solidFill>
                            <a:srgbClr val="293A45"/>
                          </a:solidFill>
                          <a:latin typeface="Arial"/>
                          <a:ea typeface="Arial"/>
                          <a:cs typeface="Arial"/>
                        </a:rPr>
                        <a:t>Global</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32,521</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4.2 +/- 0.7 min</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800 +/- 2 MiB</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514350">
                <a:tc>
                  <a:txBody>
                    <a:bodyPr wrap="square" lIns="76200" tIns="47625" rIns="57150" bIns="47625">
                      <a:normAutofit/>
                    </a:bodyPr>
                    <a:lstStyle/>
                    <a:p>
                      <a:pPr algn="l"/>
                      <a:r>
                        <a:rPr sz="1200" b="1">
                          <a:solidFill>
                            <a:srgbClr val="293A45"/>
                          </a:solidFill>
                          <a:latin typeface="Arial"/>
                          <a:ea typeface="Arial"/>
                          <a:cs typeface="Arial"/>
                        </a:rPr>
                        <a:t>Local + implicit</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361,273</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12.8 +/- 2.6 min</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200" b="0">
                          <a:solidFill>
                            <a:srgbClr val="293A45"/>
                          </a:solidFill>
                          <a:latin typeface="Arial"/>
                          <a:ea typeface="Arial"/>
                          <a:cs typeface="Arial"/>
                        </a:rPr>
                        <a:t>833 +/- 4 MiB</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533400">
                <a:tc>
                  <a:txBody>
                    <a:bodyPr wrap="square" lIns="76200" tIns="47625" rIns="57150" bIns="47625">
                      <a:normAutofit/>
                    </a:bodyPr>
                    <a:lstStyle/>
                    <a:p>
                      <a:pPr algn="l"/>
                      <a:r>
                        <a:rPr sz="1200" b="1">
                          <a:solidFill>
                            <a:srgbClr val="293A45"/>
                          </a:solidFill>
                          <a:latin typeface="Arial"/>
                          <a:ea typeface="Arial"/>
                          <a:cs typeface="Arial"/>
                        </a:rPr>
                        <a:t>CoupledCF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365,369</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12.6 +/- 2.3 min</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200" b="0">
                          <a:solidFill>
                            <a:srgbClr val="293A45"/>
                          </a:solidFill>
                          <a:latin typeface="Arial"/>
                          <a:ea typeface="Arial"/>
                          <a:cs typeface="Arial"/>
                        </a:rPr>
                        <a:t>840 +/- 3 MiB</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bl>
          </a:graphicData>
        </a:graphic>
      </p:graphicFrame>
      <p:graphicFrame>
        <p:nvGraphicFramePr>
          <p:cNvPr id="6" name="Chart">
            <a:extLst xmlns:a="http://schemas.openxmlformats.org/drawingml/2006/main">
              <a:ext uri="{FF2B5EF4-FFF2-40B4-BE49-F238E27FC236}">
                <a16:creationId xmlns:a16="http://schemas.microsoft.com/office/drawing/2014/main" id="{E4832E3C-CE8D-4CF6-AB00-77078D74A958}"/>
              </a:ext>
            </a:extLst>
          </p:cNvPr>
          <p:cNvGraphicFramePr/>
          <p:nvPr/>
        </p:nvGraphicFramePr>
        <p:xfrm>
          <a:off xmlns:a="http://schemas.openxmlformats.org/drawingml/2006/main" x="7658100" y="2228850"/>
          <a:ext xmlns:a="http://schemas.openxmlformats.org/drawingml/2006/main" cx="3848100" cy="3295650"/>
        </p:xfrm>
        <a:graphic xmlns:a="http://schemas.openxmlformats.org/drawingml/2006/main">
          <a:graphicData uri="http://schemas.openxmlformats.org/drawingml/2006/chart">
            <c:chart xmlns:r="http://schemas.openxmlformats.org/officeDocument/2006/relationships" xmlns:c="http://schemas.openxmlformats.org/drawingml/2006/chart" r:id="Raabf8f512b5a40c8"/>
          </a:graphicData>
        </a:graphic>
      </p:graphicFrame>
      <p:sp>
        <p:nvSpPr>
          <p:cNvPr id="7" name="cost-caveat">
            <a:extLst xmlns:a="http://schemas.openxmlformats.org/drawingml/2006/main">
              <a:ext uri="{FF2B5EF4-FFF2-40B4-BE49-F238E27FC236}">
                <a16:creationId xmlns:a16="http://schemas.microsoft.com/office/drawing/2014/main" id="{CF42D532-0960-4042-8219-9FE007F90078}"/>
              </a:ext>
            </a:extLst>
          </p:cNvPr>
          <p:cNvSpPr>
            <a:spLocks xmlns:a="http://schemas.openxmlformats.org/drawingml/2006/main" noGrp="1"/>
          </p:cNvSpPr>
          <p:nvPr/>
        </p:nvSpPr>
        <p:spPr>
          <a:xfrm xmlns:a="http://schemas.openxmlformats.org/drawingml/2006/main">
            <a:off x="609600" y="567690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F6D76"/>
                </a:solidFill>
                <a:latin typeface="Arial"/>
                <a:ea typeface="Arial"/>
                <a:cs typeface="Arial"/>
              </a:defRPr>
            </a:defPPr>
            <a:lvl1pPr algn="l">
              <a:defRPr sz="1350">
                <a:solidFill>
                  <a:srgbClr val="5F6D76"/>
                </a:solidFill>
                <a:latin typeface="Arial"/>
                <a:ea typeface="Arial"/>
                <a:cs typeface="Arial"/>
              </a:defRPr>
            </a:lvl1pPr>
            <a:lvl2pPr algn="l">
              <a:defRPr sz="1350">
                <a:solidFill>
                  <a:srgbClr val="5F6D76"/>
                </a:solidFill>
                <a:latin typeface="Arial"/>
                <a:ea typeface="Arial"/>
                <a:cs typeface="Arial"/>
              </a:defRPr>
            </a:lvl2pPr>
            <a:lvl3pPr algn="l">
              <a:defRPr sz="1350">
                <a:solidFill>
                  <a:srgbClr val="5F6D76"/>
                </a:solidFill>
                <a:latin typeface="Arial"/>
                <a:ea typeface="Arial"/>
                <a:cs typeface="Arial"/>
              </a:defRPr>
            </a:lvl3pPr>
            <a:lvl4pPr algn="l">
              <a:defRPr sz="1350">
                <a:solidFill>
                  <a:srgbClr val="5F6D76"/>
                </a:solidFill>
                <a:latin typeface="Arial"/>
                <a:ea typeface="Arial"/>
                <a:cs typeface="Arial"/>
              </a:defRPr>
            </a:lvl4pPr>
            <a:lvl5pPr algn="l">
              <a:defRPr sz="1350">
                <a:solidFill>
                  <a:srgbClr val="5F6D76"/>
                </a:solidFill>
                <a:latin typeface="Arial"/>
                <a:ea typeface="Arial"/>
                <a:cs typeface="Arial"/>
              </a:defRPr>
            </a:lvl5pPr>
            <a:lvl6pPr algn="l">
              <a:defRPr sz="1350">
                <a:solidFill>
                  <a:srgbClr val="5F6D76"/>
                </a:solidFill>
                <a:latin typeface="Arial"/>
                <a:ea typeface="Arial"/>
                <a:cs typeface="Arial"/>
              </a:defRPr>
            </a:lvl6pPr>
            <a:lvl7pPr algn="l">
              <a:defRPr sz="1350">
                <a:solidFill>
                  <a:srgbClr val="5F6D76"/>
                </a:solidFill>
                <a:latin typeface="Arial"/>
                <a:ea typeface="Arial"/>
                <a:cs typeface="Arial"/>
              </a:defRPr>
            </a:lvl7pPr>
            <a:lvl8pPr algn="l">
              <a:defRPr sz="1350">
                <a:solidFill>
                  <a:srgbClr val="5F6D76"/>
                </a:solidFill>
                <a:latin typeface="Arial"/>
                <a:ea typeface="Arial"/>
                <a:cs typeface="Arial"/>
              </a:defRPr>
            </a:lvl8pPr>
            <a:lvl9pPr algn="l">
              <a:defRPr sz="1350">
                <a:solidFill>
                  <a:srgbClr val="5F6D76"/>
                </a:solidFill>
                <a:latin typeface="Arial"/>
                <a:ea typeface="Arial"/>
                <a:cs typeface="Arial"/>
              </a:defRPr>
            </a:lvl9pPr>
          </a:lstStyle>
          <a:p xmlns:a="http://schemas.openxmlformats.org/drawingml/2006/main">
            <a:pPr algn="l">
              <a:defRPr sz="1350">
                <a:solidFill>
                  <a:srgbClr val="5F6D76"/>
                </a:solidFill>
                <a:latin typeface="Arial"/>
                <a:ea typeface="Arial"/>
                <a:cs typeface="Arial"/>
              </a:defRPr>
            </a:pPr>
            <a:r>
              <a:rPr sz="1350">
                <a:solidFill>
                  <a:srgbClr val="5F6D76"/>
                </a:solidFill>
                <a:latin typeface="Arial"/>
                <a:ea typeface="Arial"/>
                <a:cs typeface="Arial"/>
              </a:rPr>
              <a:t>Timing includes sampling, validation, checkpoint writes and final test evaluation. RSS is sampled process memory; neither is a controlled hardware benchmark.</a:t>
            </a:r>
          </a:p>
        </p:txBody>
      </p:sp>
    </p:spTree>
    <p:extLst>
      <p:ext uri="{BB962C8B-B14F-4D97-AF65-F5344CB8AC3E}">
        <p14:creationId xmlns:p14="http://schemas.microsoft.com/office/powerpoint/2010/main" val="17013744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946145B-C1D0-4D9E-9E5B-E6BADB35370B}"/>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Published MovieLens 1M reference</a:t>
            </a:r>
          </a:p>
        </p:txBody>
      </p:sp>
      <p:sp>
        <p:nvSpPr>
          <p:cNvPr id="2" name="divider">
            <a:extLst xmlns:a="http://schemas.openxmlformats.org/drawingml/2006/main">
              <a:ext uri="{FF2B5EF4-FFF2-40B4-BE49-F238E27FC236}">
                <a16:creationId xmlns:a16="http://schemas.microsoft.com/office/drawing/2014/main" id="{ECF8C4CC-79EC-4004-B15E-F2D75D11589C}"/>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3BDFFED4-2C69-44F2-B1DD-9BC81B326B62}"/>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Table 7 reports HR@10 and NDCG@10 for four Top-10 methods</a:t>
            </a:r>
          </a:p>
        </p:txBody>
      </p:sp>
      <p:graphicFrame>
        <p:nvGraphicFramePr>
          <p:cNvPr id="4" name="">
            <a:extLst xmlns:a="http://schemas.openxmlformats.org/drawingml/2006/main">
              <a:ext uri="{FF2B5EF4-FFF2-40B4-BE49-F238E27FC236}">
                <a16:creationId xmlns:a16="http://schemas.microsoft.com/office/drawing/2014/main" id="{9581ED09-15BF-4C6B-82FF-DD66035DCAE2}"/>
              </a:ext>
            </a:extLst>
          </p:cNvPr>
          <p:cNvGraphicFramePr/>
          <p:nvPr/>
        </p:nvGraphicFramePr>
        <p:xfrm>
          <a:off xmlns:a="http://schemas.openxmlformats.org/drawingml/2006/main" x="685800" y="2152650"/>
          <a:ext xmlns:a="http://schemas.openxmlformats.org/drawingml/2006/main" cx="7810500" cy="2895600"/>
        </p:xfrm>
        <a:graphic xmlns:a="http://schemas.openxmlformats.org/drawingml/2006/main">
          <a:graphicData uri="http://schemas.openxmlformats.org/drawingml/2006/table">
            <a:tbl>
              <a:tblPr firstRow="0" firstCol="0" bandRow="0" bandCol="0"/>
              <a:tblGrid>
                <a:gridCol w="3733800"/>
                <a:gridCol w="1981200"/>
                <a:gridCol w="2095500"/>
              </a:tblGrid>
              <a:tr h="571500">
                <a:tc>
                  <a:txBody>
                    <a:bodyPr wrap="square" lIns="76200" tIns="47625" rIns="57150" bIns="47625">
                      <a:normAutofit/>
                    </a:bodyPr>
                    <a:lstStyle/>
                    <a:p>
                      <a:pPr algn="l"/>
                      <a:r>
                        <a:rPr sz="1725" b="1">
                          <a:solidFill>
                            <a:srgbClr val="FFFFFF"/>
                          </a:solidFill>
                          <a:latin typeface="Arial"/>
                          <a:ea typeface="Arial"/>
                          <a:cs typeface="Arial"/>
                        </a:rPr>
                        <a:t>Paper method</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725" b="1">
                          <a:solidFill>
                            <a:srgbClr val="FFFFFF"/>
                          </a:solidFill>
                          <a:latin typeface="Arial"/>
                          <a:ea typeface="Arial"/>
                          <a:cs typeface="Arial"/>
                        </a:rPr>
                        <a:t>HR@10</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725" b="1">
                          <a:solidFill>
                            <a:srgbClr val="FFFFFF"/>
                          </a:solidFill>
                          <a:latin typeface="Arial"/>
                          <a:ea typeface="Arial"/>
                          <a:cs typeface="Arial"/>
                        </a:rPr>
                        <a:t>NDCG@10</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581025">
                <a:tc>
                  <a:txBody>
                    <a:bodyPr wrap="square" lIns="76200" tIns="47625" rIns="57150" bIns="47625">
                      <a:normAutofit/>
                    </a:bodyPr>
                    <a:lstStyle/>
                    <a:p>
                      <a:pPr algn="l"/>
                      <a:r>
                        <a:rPr sz="1725" b="1">
                          <a:solidFill>
                            <a:srgbClr val="293A45"/>
                          </a:solidFill>
                          <a:latin typeface="Arial"/>
                          <a:ea typeface="Arial"/>
                          <a:cs typeface="Arial"/>
                        </a:rPr>
                        <a:t>DeepCF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725" b="0">
                          <a:solidFill>
                            <a:srgbClr val="293A45"/>
                          </a:solidFill>
                          <a:latin typeface="Arial"/>
                          <a:ea typeface="Arial"/>
                          <a:cs typeface="Arial"/>
                        </a:rPr>
                        <a:t>0.7147</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725" b="0">
                          <a:solidFill>
                            <a:srgbClr val="293A45"/>
                          </a:solidFill>
                          <a:latin typeface="Arial"/>
                          <a:ea typeface="Arial"/>
                          <a:cs typeface="Arial"/>
                        </a:rPr>
                        <a:t>0.4312</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581025">
                <a:tc>
                  <a:txBody>
                    <a:bodyPr wrap="square" lIns="76200" tIns="47625" rIns="57150" bIns="47625">
                      <a:normAutofit/>
                    </a:bodyPr>
                    <a:lstStyle/>
                    <a:p>
                      <a:pPr algn="l"/>
                      <a:r>
                        <a:rPr sz="1725" b="1">
                          <a:solidFill>
                            <a:srgbClr val="293A45"/>
                          </a:solidFill>
                          <a:latin typeface="Arial"/>
                          <a:ea typeface="Arial"/>
                          <a:cs typeface="Arial"/>
                        </a:rPr>
                        <a:t>Local CNN</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725" b="0">
                          <a:solidFill>
                            <a:srgbClr val="293A45"/>
                          </a:solidFill>
                          <a:latin typeface="Arial"/>
                          <a:ea typeface="Arial"/>
                          <a:cs typeface="Arial"/>
                        </a:rPr>
                        <a:t>0.8212</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725" b="0">
                          <a:solidFill>
                            <a:srgbClr val="293A45"/>
                          </a:solidFill>
                          <a:latin typeface="Arial"/>
                          <a:ea typeface="Arial"/>
                          <a:cs typeface="Arial"/>
                        </a:rPr>
                        <a:t>0.5408</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r h="581025">
                <a:tc>
                  <a:txBody>
                    <a:bodyPr wrap="square" lIns="76200" tIns="47625" rIns="57150" bIns="47625">
                      <a:normAutofit/>
                    </a:bodyPr>
                    <a:lstStyle/>
                    <a:p>
                      <a:pPr algn="l"/>
                      <a:r>
                        <a:rPr sz="1725" b="1">
                          <a:solidFill>
                            <a:srgbClr val="293A45"/>
                          </a:solidFill>
                          <a:latin typeface="Arial"/>
                          <a:ea typeface="Arial"/>
                          <a:cs typeface="Arial"/>
                        </a:rPr>
                        <a:t>Global</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725" b="0">
                          <a:solidFill>
                            <a:srgbClr val="293A45"/>
                          </a:solidFill>
                          <a:latin typeface="Arial"/>
                          <a:ea typeface="Arial"/>
                          <a:cs typeface="Arial"/>
                        </a:rPr>
                        <a:t>0.7826</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725" b="0">
                          <a:solidFill>
                            <a:srgbClr val="293A45"/>
                          </a:solidFill>
                          <a:latin typeface="Arial"/>
                          <a:ea typeface="Arial"/>
                          <a:cs typeface="Arial"/>
                        </a:rPr>
                        <a:t>0.5252</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581025">
                <a:tc>
                  <a:txBody>
                    <a:bodyPr wrap="square" lIns="76200" tIns="47625" rIns="57150" bIns="47625">
                      <a:normAutofit/>
                    </a:bodyPr>
                    <a:lstStyle/>
                    <a:p>
                      <a:pPr algn="l"/>
                      <a:r>
                        <a:rPr sz="1725" b="1">
                          <a:solidFill>
                            <a:srgbClr val="293A45"/>
                          </a:solidFill>
                          <a:latin typeface="Arial"/>
                          <a:ea typeface="Arial"/>
                          <a:cs typeface="Arial"/>
                        </a:rPr>
                        <a:t>CoupledCF</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725" b="0">
                          <a:solidFill>
                            <a:srgbClr val="293A45"/>
                          </a:solidFill>
                          <a:latin typeface="Arial"/>
                          <a:ea typeface="Arial"/>
                          <a:cs typeface="Arial"/>
                        </a:rPr>
                        <a:t>0.8252</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725" b="0">
                          <a:solidFill>
                            <a:srgbClr val="293A45"/>
                          </a:solidFill>
                          <a:latin typeface="Arial"/>
                          <a:ea typeface="Arial"/>
                          <a:cs typeface="Arial"/>
                        </a:rPr>
                        <a:t>0.5440</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bl>
          </a:graphicData>
        </a:graphic>
      </p:graphicFrame>
      <p:sp>
        <p:nvSpPr>
          <p:cNvPr id="5" name="paper-comparison-caveat">
            <a:extLst xmlns:a="http://schemas.openxmlformats.org/drawingml/2006/main">
              <a:ext uri="{FF2B5EF4-FFF2-40B4-BE49-F238E27FC236}">
                <a16:creationId xmlns:a16="http://schemas.microsoft.com/office/drawing/2014/main" id="{B4705F44-D8FD-4793-9D85-8C190AD64069}"/>
              </a:ext>
            </a:extLst>
          </p:cNvPr>
          <p:cNvSpPr>
            <a:spLocks xmlns:a="http://schemas.openxmlformats.org/drawingml/2006/main" noGrp="1"/>
          </p:cNvSpPr>
          <p:nvPr/>
        </p:nvSpPr>
        <p:spPr>
          <a:xfrm xmlns:a="http://schemas.openxmlformats.org/drawingml/2006/main">
            <a:off x="685800" y="5391150"/>
            <a:ext cx="1043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9B4C51"/>
                </a:solidFill>
                <a:latin typeface="Arial"/>
                <a:ea typeface="Arial"/>
                <a:cs typeface="Arial"/>
              </a:defRPr>
            </a:defPPr>
            <a:lvl1pPr algn="l">
              <a:defRPr sz="1650" b="1">
                <a:solidFill>
                  <a:srgbClr val="9B4C51"/>
                </a:solidFill>
                <a:latin typeface="Arial"/>
                <a:ea typeface="Arial"/>
                <a:cs typeface="Arial"/>
              </a:defRPr>
            </a:lvl1pPr>
            <a:lvl2pPr algn="l">
              <a:defRPr sz="1650" b="1">
                <a:solidFill>
                  <a:srgbClr val="9B4C51"/>
                </a:solidFill>
                <a:latin typeface="Arial"/>
                <a:ea typeface="Arial"/>
                <a:cs typeface="Arial"/>
              </a:defRPr>
            </a:lvl2pPr>
            <a:lvl3pPr algn="l">
              <a:defRPr sz="1650" b="1">
                <a:solidFill>
                  <a:srgbClr val="9B4C51"/>
                </a:solidFill>
                <a:latin typeface="Arial"/>
                <a:ea typeface="Arial"/>
                <a:cs typeface="Arial"/>
              </a:defRPr>
            </a:lvl3pPr>
            <a:lvl4pPr algn="l">
              <a:defRPr sz="1650" b="1">
                <a:solidFill>
                  <a:srgbClr val="9B4C51"/>
                </a:solidFill>
                <a:latin typeface="Arial"/>
                <a:ea typeface="Arial"/>
                <a:cs typeface="Arial"/>
              </a:defRPr>
            </a:lvl4pPr>
            <a:lvl5pPr algn="l">
              <a:defRPr sz="1650" b="1">
                <a:solidFill>
                  <a:srgbClr val="9B4C51"/>
                </a:solidFill>
                <a:latin typeface="Arial"/>
                <a:ea typeface="Arial"/>
                <a:cs typeface="Arial"/>
              </a:defRPr>
            </a:lvl5pPr>
            <a:lvl6pPr algn="l">
              <a:defRPr sz="1650" b="1">
                <a:solidFill>
                  <a:srgbClr val="9B4C51"/>
                </a:solidFill>
                <a:latin typeface="Arial"/>
                <a:ea typeface="Arial"/>
                <a:cs typeface="Arial"/>
              </a:defRPr>
            </a:lvl6pPr>
            <a:lvl7pPr algn="l">
              <a:defRPr sz="1650" b="1">
                <a:solidFill>
                  <a:srgbClr val="9B4C51"/>
                </a:solidFill>
                <a:latin typeface="Arial"/>
                <a:ea typeface="Arial"/>
                <a:cs typeface="Arial"/>
              </a:defRPr>
            </a:lvl7pPr>
            <a:lvl8pPr algn="l">
              <a:defRPr sz="1650" b="1">
                <a:solidFill>
                  <a:srgbClr val="9B4C51"/>
                </a:solidFill>
                <a:latin typeface="Arial"/>
                <a:ea typeface="Arial"/>
                <a:cs typeface="Arial"/>
              </a:defRPr>
            </a:lvl8pPr>
            <a:lvl9pPr algn="l">
              <a:defRPr sz="1650" b="1">
                <a:solidFill>
                  <a:srgbClr val="9B4C51"/>
                </a:solidFill>
                <a:latin typeface="Arial"/>
                <a:ea typeface="Arial"/>
                <a:cs typeface="Arial"/>
              </a:defRPr>
            </a:lvl9pPr>
          </a:lstStyle>
          <a:p xmlns:a="http://schemas.openxmlformats.org/drawingml/2006/main">
            <a:pPr algn="l">
              <a:defRPr sz="1650" b="1">
                <a:solidFill>
                  <a:srgbClr val="9B4C51"/>
                </a:solidFill>
                <a:latin typeface="Arial"/>
                <a:ea typeface="Arial"/>
                <a:cs typeface="Arial"/>
              </a:defRPr>
            </a:pPr>
            <a:r>
              <a:rPr sz="1650" b="1">
                <a:solidFill>
                  <a:srgbClr val="9B4C51"/>
                </a:solidFill>
                <a:latin typeface="Arial"/>
                <a:ea typeface="Arial"/>
                <a:cs typeface="Arial"/>
              </a:rPr>
              <a:t>Paper protocol and implementation details differ from this project. The numbers are context, never targets for tuning.</a:t>
            </a:r>
          </a:p>
        </p:txBody>
      </p:sp>
    </p:spTree>
    <p:extLst>
      <p:ext uri="{BB962C8B-B14F-4D97-AF65-F5344CB8AC3E}">
        <p14:creationId xmlns:p14="http://schemas.microsoft.com/office/powerpoint/2010/main" val="11111087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FE981FD-5342-4D64-AC41-708984479DFC}"/>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Reading the measured comparison</a:t>
            </a:r>
          </a:p>
        </p:txBody>
      </p:sp>
      <p:sp>
        <p:nvSpPr>
          <p:cNvPr id="2" name="divider">
            <a:extLst xmlns:a="http://schemas.openxmlformats.org/drawingml/2006/main">
              <a:ext uri="{FF2B5EF4-FFF2-40B4-BE49-F238E27FC236}">
                <a16:creationId xmlns:a16="http://schemas.microsoft.com/office/drawing/2014/main" id="{ABFB4E2E-F524-40C4-9F25-60F194B2C45C}"/>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E92FF59A-A493-4EC5-ABCA-E306EC89A9B7}"/>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Three seed means on one fixed split provide descriptive evidence</a:t>
            </a:r>
          </a:p>
        </p:txBody>
      </p:sp>
      <p:sp>
        <p:nvSpPr>
          <p:cNvPr id="4" name="divider">
            <a:extLst xmlns:a="http://schemas.openxmlformats.org/drawingml/2006/main">
              <a:ext uri="{FF2B5EF4-FFF2-40B4-BE49-F238E27FC236}">
                <a16:creationId xmlns:a16="http://schemas.microsoft.com/office/drawing/2014/main" id="{493435BE-F409-4C4B-9CEB-6E550415A714}"/>
              </a:ext>
            </a:extLst>
          </p:cNvPr>
          <p:cNvSpPr>
            <a:spLocks xmlns:a="http://schemas.openxmlformats.org/drawingml/2006/main" noGrp="1"/>
          </p:cNvSpPr>
          <p:nvPr/>
        </p:nvSpPr>
        <p:spPr>
          <a:xfrm xmlns:a="http://schemas.openxmlformats.org/drawingml/2006/main">
            <a:off x="685800" y="2019300"/>
            <a:ext cx="419100" cy="38100"/>
          </a:xfrm>
          <a:prstGeom xmlns:a="http://schemas.openxmlformats.org/drawingml/2006/main" prst="rect">
            <a:avLst/>
          </a:prstGeom>
          <a:solidFill xmlns:a="http://schemas.openxmlformats.org/drawingml/2006/main">
            <a:srgbClr val="147C74"/>
          </a:solidFill>
          <a:ln xmlns:a="http://schemas.openxmlformats.org/drawingml/2006/main" w="0">
            <a:solidFill>
              <a:srgbClr val="147C74"/>
            </a:solidFill>
            <a:prstDash val="solid"/>
          </a:ln>
        </p:spPr>
      </p:sp>
      <p:sp>
        <p:nvSpPr>
          <p:cNvPr id="5" name="column-title">
            <a:extLst xmlns:a="http://schemas.openxmlformats.org/drawingml/2006/main">
              <a:ext uri="{FF2B5EF4-FFF2-40B4-BE49-F238E27FC236}">
                <a16:creationId xmlns:a16="http://schemas.microsoft.com/office/drawing/2014/main" id="{E1B16892-6E4C-4276-85E9-607DD49E1A9F}"/>
              </a:ext>
            </a:extLst>
          </p:cNvPr>
          <p:cNvSpPr>
            <a:spLocks xmlns:a="http://schemas.openxmlformats.org/drawingml/2006/main" noGrp="1"/>
          </p:cNvSpPr>
          <p:nvPr/>
        </p:nvSpPr>
        <p:spPr>
          <a:xfrm xmlns:a="http://schemas.openxmlformats.org/drawingml/2006/main">
            <a:off x="685800" y="219075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CoupledCF versus DeepCF</a:t>
            </a:r>
          </a:p>
        </p:txBody>
      </p:sp>
      <p:sp>
        <p:nvSpPr>
          <p:cNvPr id="6" name="column-copy">
            <a:extLst xmlns:a="http://schemas.openxmlformats.org/drawingml/2006/main">
              <a:ext uri="{FF2B5EF4-FFF2-40B4-BE49-F238E27FC236}">
                <a16:creationId xmlns:a16="http://schemas.microsoft.com/office/drawing/2014/main" id="{B2A96B91-8FA2-4692-BC22-7CA57F52C4DC}"/>
              </a:ext>
            </a:extLst>
          </p:cNvPr>
          <p:cNvSpPr>
            <a:spLocks xmlns:a="http://schemas.openxmlformats.org/drawingml/2006/main" noGrp="1"/>
          </p:cNvSpPr>
          <p:nvPr/>
        </p:nvSpPr>
        <p:spPr>
          <a:xfrm xmlns:a="http://schemas.openxmlformats.org/drawingml/2006/main">
            <a:off x="685800" y="2705100"/>
            <a:ext cx="48577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293A45"/>
                </a:solidFill>
                <a:latin typeface="Arial"/>
                <a:ea typeface="Arial"/>
                <a:cs typeface="Arial"/>
              </a:defRPr>
            </a:defPPr>
            <a:lvl1pPr algn="l">
              <a:defRPr sz="1725">
                <a:solidFill>
                  <a:srgbClr val="293A45"/>
                </a:solidFill>
                <a:latin typeface="Arial"/>
                <a:ea typeface="Arial"/>
                <a:cs typeface="Arial"/>
              </a:defRPr>
            </a:lvl1pPr>
            <a:lvl2pPr algn="l">
              <a:defRPr sz="1725">
                <a:solidFill>
                  <a:srgbClr val="293A45"/>
                </a:solidFill>
                <a:latin typeface="Arial"/>
                <a:ea typeface="Arial"/>
                <a:cs typeface="Arial"/>
              </a:defRPr>
            </a:lvl2pPr>
            <a:lvl3pPr algn="l">
              <a:defRPr sz="1725">
                <a:solidFill>
                  <a:srgbClr val="293A45"/>
                </a:solidFill>
                <a:latin typeface="Arial"/>
                <a:ea typeface="Arial"/>
                <a:cs typeface="Arial"/>
              </a:defRPr>
            </a:lvl3pPr>
            <a:lvl4pPr algn="l">
              <a:defRPr sz="1725">
                <a:solidFill>
                  <a:srgbClr val="293A45"/>
                </a:solidFill>
                <a:latin typeface="Arial"/>
                <a:ea typeface="Arial"/>
                <a:cs typeface="Arial"/>
              </a:defRPr>
            </a:lvl4pPr>
            <a:lvl5pPr algn="l">
              <a:defRPr sz="1725">
                <a:solidFill>
                  <a:srgbClr val="293A45"/>
                </a:solidFill>
                <a:latin typeface="Arial"/>
                <a:ea typeface="Arial"/>
                <a:cs typeface="Arial"/>
              </a:defRPr>
            </a:lvl5pPr>
            <a:lvl6pPr algn="l">
              <a:defRPr sz="1725">
                <a:solidFill>
                  <a:srgbClr val="293A45"/>
                </a:solidFill>
                <a:latin typeface="Arial"/>
                <a:ea typeface="Arial"/>
                <a:cs typeface="Arial"/>
              </a:defRPr>
            </a:lvl6pPr>
            <a:lvl7pPr algn="l">
              <a:defRPr sz="1725">
                <a:solidFill>
                  <a:srgbClr val="293A45"/>
                </a:solidFill>
                <a:latin typeface="Arial"/>
                <a:ea typeface="Arial"/>
                <a:cs typeface="Arial"/>
              </a:defRPr>
            </a:lvl7pPr>
            <a:lvl8pPr algn="l">
              <a:defRPr sz="1725">
                <a:solidFill>
                  <a:srgbClr val="293A45"/>
                </a:solidFill>
                <a:latin typeface="Arial"/>
                <a:ea typeface="Arial"/>
                <a:cs typeface="Arial"/>
              </a:defRPr>
            </a:lvl8pPr>
            <a:lvl9pPr algn="l">
              <a:defRPr sz="1725">
                <a:solidFill>
                  <a:srgbClr val="293A45"/>
                </a:solidFill>
                <a:latin typeface="Arial"/>
                <a:ea typeface="Arial"/>
                <a:cs typeface="Arial"/>
              </a:defRPr>
            </a:lvl9pPr>
          </a:lstStyle>
          <a:p xmlns:a="http://schemas.openxmlformats.org/drawingml/2006/main">
            <a:pPr algn="l">
              <a:lnSpc>
                <a:spcPct val="104000"/>
              </a:lnSpc>
              <a:buNone/>
              <a:defRPr sz="1725">
                <a:solidFill>
                  <a:srgbClr val="293A45"/>
                </a:solidFill>
                <a:latin typeface="Arial"/>
                <a:ea typeface="Arial"/>
                <a:cs typeface="Arial"/>
              </a:defRPr>
            </a:pPr>
            <a:r>
              <a:rPr sz="1725">
                <a:solidFill>
                  <a:srgbClr val="293A45"/>
                </a:solidFill>
                <a:latin typeface="Arial"/>
                <a:ea typeface="Arial"/>
                <a:cs typeface="Arial"/>
              </a:rPr>
              <a:t>Paired mean difference: HR@10 +0.0111; NDCG@10 +0.0202.</a:t>
            </a:r>
          </a:p>
          <a:p xmlns:a="http://schemas.openxmlformats.org/drawingml/2006/main">
            <a:r>
              <a:t/>
            </a:r>
          </a:p>
          <a:p xmlns:a="http://schemas.openxmlformats.org/drawingml/2006/main">
            <a:pPr algn="l">
              <a:lnSpc>
                <a:spcPct val="104000"/>
              </a:lnSpc>
              <a:buNone/>
              <a:defRPr sz="1725">
                <a:solidFill>
                  <a:srgbClr val="293A45"/>
                </a:solidFill>
                <a:latin typeface="Arial"/>
                <a:ea typeface="Arial"/>
                <a:cs typeface="Arial"/>
              </a:defRPr>
            </a:pPr>
            <a:r>
              <a:rPr sz="1725">
                <a:solidFill>
                  <a:srgbClr val="293A45"/>
                </a:solidFill>
                <a:latin typeface="Arial"/>
                <a:ea typeface="Arial"/>
                <a:cs typeface="Arial"/>
              </a:rPr>
              <a:t>These means use matched seeds and identical test candidates.</a:t>
            </a:r>
          </a:p>
        </p:txBody>
      </p:sp>
      <p:sp>
        <p:nvSpPr>
          <p:cNvPr id="7" name="divider">
            <a:extLst xmlns:a="http://schemas.openxmlformats.org/drawingml/2006/main">
              <a:ext uri="{FF2B5EF4-FFF2-40B4-BE49-F238E27FC236}">
                <a16:creationId xmlns:a16="http://schemas.microsoft.com/office/drawing/2014/main" id="{AFFC67C5-A3C4-4CBA-921E-B9DCF4C0AC0A}"/>
              </a:ext>
            </a:extLst>
          </p:cNvPr>
          <p:cNvSpPr>
            <a:spLocks xmlns:a="http://schemas.openxmlformats.org/drawingml/2006/main" noGrp="1"/>
          </p:cNvSpPr>
          <p:nvPr/>
        </p:nvSpPr>
        <p:spPr>
          <a:xfrm xmlns:a="http://schemas.openxmlformats.org/drawingml/2006/main">
            <a:off x="6477000" y="2019300"/>
            <a:ext cx="419100" cy="38100"/>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8" name="column-title">
            <a:extLst xmlns:a="http://schemas.openxmlformats.org/drawingml/2006/main">
              <a:ext uri="{FF2B5EF4-FFF2-40B4-BE49-F238E27FC236}">
                <a16:creationId xmlns:a16="http://schemas.microsoft.com/office/drawing/2014/main" id="{DA08F986-7DF8-4C21-AFA4-94199D16BA56}"/>
              </a:ext>
            </a:extLst>
          </p:cNvPr>
          <p:cNvSpPr>
            <a:spLocks xmlns:a="http://schemas.openxmlformats.org/drawingml/2006/main" noGrp="1"/>
          </p:cNvSpPr>
          <p:nvPr/>
        </p:nvSpPr>
        <p:spPr>
          <a:xfrm xmlns:a="http://schemas.openxmlformats.org/drawingml/2006/main">
            <a:off x="6477000" y="21907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5232D"/>
                </a:solidFill>
                <a:latin typeface="Arial"/>
                <a:ea typeface="Arial"/>
                <a:cs typeface="Arial"/>
              </a:defRPr>
            </a:defPPr>
            <a:lvl1pPr algn="l">
              <a:defRPr sz="1950" b="1">
                <a:solidFill>
                  <a:srgbClr val="15232D"/>
                </a:solidFill>
                <a:latin typeface="Arial"/>
                <a:ea typeface="Arial"/>
                <a:cs typeface="Arial"/>
              </a:defRPr>
            </a:lvl1pPr>
            <a:lvl2pPr algn="l">
              <a:defRPr sz="1950" b="1">
                <a:solidFill>
                  <a:srgbClr val="15232D"/>
                </a:solidFill>
                <a:latin typeface="Arial"/>
                <a:ea typeface="Arial"/>
                <a:cs typeface="Arial"/>
              </a:defRPr>
            </a:lvl2pPr>
            <a:lvl3pPr algn="l">
              <a:defRPr sz="1950" b="1">
                <a:solidFill>
                  <a:srgbClr val="15232D"/>
                </a:solidFill>
                <a:latin typeface="Arial"/>
                <a:ea typeface="Arial"/>
                <a:cs typeface="Arial"/>
              </a:defRPr>
            </a:lvl3pPr>
            <a:lvl4pPr algn="l">
              <a:defRPr sz="1950" b="1">
                <a:solidFill>
                  <a:srgbClr val="15232D"/>
                </a:solidFill>
                <a:latin typeface="Arial"/>
                <a:ea typeface="Arial"/>
                <a:cs typeface="Arial"/>
              </a:defRPr>
            </a:lvl4pPr>
            <a:lvl5pPr algn="l">
              <a:defRPr sz="1950" b="1">
                <a:solidFill>
                  <a:srgbClr val="15232D"/>
                </a:solidFill>
                <a:latin typeface="Arial"/>
                <a:ea typeface="Arial"/>
                <a:cs typeface="Arial"/>
              </a:defRPr>
            </a:lvl5pPr>
            <a:lvl6pPr algn="l">
              <a:defRPr sz="1950" b="1">
                <a:solidFill>
                  <a:srgbClr val="15232D"/>
                </a:solidFill>
                <a:latin typeface="Arial"/>
                <a:ea typeface="Arial"/>
                <a:cs typeface="Arial"/>
              </a:defRPr>
            </a:lvl6pPr>
            <a:lvl7pPr algn="l">
              <a:defRPr sz="1950" b="1">
                <a:solidFill>
                  <a:srgbClr val="15232D"/>
                </a:solidFill>
                <a:latin typeface="Arial"/>
                <a:ea typeface="Arial"/>
                <a:cs typeface="Arial"/>
              </a:defRPr>
            </a:lvl7pPr>
            <a:lvl8pPr algn="l">
              <a:defRPr sz="1950" b="1">
                <a:solidFill>
                  <a:srgbClr val="15232D"/>
                </a:solidFill>
                <a:latin typeface="Arial"/>
                <a:ea typeface="Arial"/>
                <a:cs typeface="Arial"/>
              </a:defRPr>
            </a:lvl8pPr>
            <a:lvl9pPr algn="l">
              <a:defRPr sz="1950" b="1">
                <a:solidFill>
                  <a:srgbClr val="15232D"/>
                </a:solidFill>
                <a:latin typeface="Arial"/>
                <a:ea typeface="Arial"/>
                <a:cs typeface="Arial"/>
              </a:defRPr>
            </a:lvl9pPr>
          </a:lstStyle>
          <a:p xmlns:a="http://schemas.openxmlformats.org/drawingml/2006/main">
            <a:pPr algn="l">
              <a:defRPr sz="1950" b="1">
                <a:solidFill>
                  <a:srgbClr val="15232D"/>
                </a:solidFill>
                <a:latin typeface="Arial"/>
                <a:ea typeface="Arial"/>
                <a:cs typeface="Arial"/>
              </a:defRPr>
            </a:pPr>
            <a:r>
              <a:rPr sz="1950" b="1">
                <a:solidFill>
                  <a:srgbClr val="15232D"/>
                </a:solidFill>
                <a:latin typeface="Arial"/>
                <a:ea typeface="Arial"/>
                <a:cs typeface="Arial"/>
              </a:rPr>
              <a:t>Highest measured means</a:t>
            </a:r>
          </a:p>
        </p:txBody>
      </p:sp>
      <p:sp>
        <p:nvSpPr>
          <p:cNvPr id="9" name="column-copy">
            <a:extLst xmlns:a="http://schemas.openxmlformats.org/drawingml/2006/main">
              <a:ext uri="{FF2B5EF4-FFF2-40B4-BE49-F238E27FC236}">
                <a16:creationId xmlns:a16="http://schemas.microsoft.com/office/drawing/2014/main" id="{A2B7B2DB-D5C5-4ACB-92A7-559EA82B2015}"/>
              </a:ext>
            </a:extLst>
          </p:cNvPr>
          <p:cNvSpPr>
            <a:spLocks xmlns:a="http://schemas.openxmlformats.org/drawingml/2006/main" noGrp="1"/>
          </p:cNvSpPr>
          <p:nvPr/>
        </p:nvSpPr>
        <p:spPr>
          <a:xfrm xmlns:a="http://schemas.openxmlformats.org/drawingml/2006/main">
            <a:off x="6477000" y="2705100"/>
            <a:ext cx="46672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293A45"/>
                </a:solidFill>
                <a:latin typeface="Arial"/>
                <a:ea typeface="Arial"/>
                <a:cs typeface="Arial"/>
              </a:defRPr>
            </a:defPPr>
            <a:lvl1pPr algn="l">
              <a:defRPr sz="1800">
                <a:solidFill>
                  <a:srgbClr val="293A45"/>
                </a:solidFill>
                <a:latin typeface="Arial"/>
                <a:ea typeface="Arial"/>
                <a:cs typeface="Arial"/>
              </a:defRPr>
            </a:lvl1pPr>
            <a:lvl2pPr algn="l">
              <a:defRPr sz="1800">
                <a:solidFill>
                  <a:srgbClr val="293A45"/>
                </a:solidFill>
                <a:latin typeface="Arial"/>
                <a:ea typeface="Arial"/>
                <a:cs typeface="Arial"/>
              </a:defRPr>
            </a:lvl2pPr>
            <a:lvl3pPr algn="l">
              <a:defRPr sz="1800">
                <a:solidFill>
                  <a:srgbClr val="293A45"/>
                </a:solidFill>
                <a:latin typeface="Arial"/>
                <a:ea typeface="Arial"/>
                <a:cs typeface="Arial"/>
              </a:defRPr>
            </a:lvl3pPr>
            <a:lvl4pPr algn="l">
              <a:defRPr sz="1800">
                <a:solidFill>
                  <a:srgbClr val="293A45"/>
                </a:solidFill>
                <a:latin typeface="Arial"/>
                <a:ea typeface="Arial"/>
                <a:cs typeface="Arial"/>
              </a:defRPr>
            </a:lvl4pPr>
            <a:lvl5pPr algn="l">
              <a:defRPr sz="1800">
                <a:solidFill>
                  <a:srgbClr val="293A45"/>
                </a:solidFill>
                <a:latin typeface="Arial"/>
                <a:ea typeface="Arial"/>
                <a:cs typeface="Arial"/>
              </a:defRPr>
            </a:lvl5pPr>
            <a:lvl6pPr algn="l">
              <a:defRPr sz="1800">
                <a:solidFill>
                  <a:srgbClr val="293A45"/>
                </a:solidFill>
                <a:latin typeface="Arial"/>
                <a:ea typeface="Arial"/>
                <a:cs typeface="Arial"/>
              </a:defRPr>
            </a:lvl6pPr>
            <a:lvl7pPr algn="l">
              <a:defRPr sz="1800">
                <a:solidFill>
                  <a:srgbClr val="293A45"/>
                </a:solidFill>
                <a:latin typeface="Arial"/>
                <a:ea typeface="Arial"/>
                <a:cs typeface="Arial"/>
              </a:defRPr>
            </a:lvl7pPr>
            <a:lvl8pPr algn="l">
              <a:defRPr sz="1800">
                <a:solidFill>
                  <a:srgbClr val="293A45"/>
                </a:solidFill>
                <a:latin typeface="Arial"/>
                <a:ea typeface="Arial"/>
                <a:cs typeface="Arial"/>
              </a:defRPr>
            </a:lvl8pPr>
            <a:lvl9pPr algn="l">
              <a:defRPr sz="1800">
                <a:solidFill>
                  <a:srgbClr val="293A45"/>
                </a:solidFill>
                <a:latin typeface="Arial"/>
                <a:ea typeface="Arial"/>
                <a:cs typeface="Arial"/>
              </a:defRPr>
            </a:lvl9pPr>
          </a:lstStyle>
          <a:p xmlns:a="http://schemas.openxmlformats.org/drawingml/2006/main">
            <a:pPr algn="l">
              <a:lnSpc>
                <a:spcPct val="104000"/>
              </a:lnSpc>
              <a:buNone/>
              <a:defRPr sz="1800">
                <a:solidFill>
                  <a:srgbClr val="293A45"/>
                </a:solidFill>
                <a:latin typeface="Arial"/>
                <a:ea typeface="Arial"/>
                <a:cs typeface="Arial"/>
              </a:defRPr>
            </a:pPr>
            <a:r>
              <a:rPr sz="1800">
                <a:solidFill>
                  <a:srgbClr val="293A45"/>
                </a:solidFill>
                <a:latin typeface="Arial"/>
                <a:ea typeface="Arial"/>
                <a:cs typeface="Arial"/>
              </a:rPr>
              <a:t>HR@10: CoupledCF at 0.7937.</a:t>
            </a:r>
          </a:p>
          <a:p xmlns:a="http://schemas.openxmlformats.org/drawingml/2006/main">
            <a:r>
              <a:t/>
            </a:r>
          </a:p>
          <a:p xmlns:a="http://schemas.openxmlformats.org/drawingml/2006/main">
            <a:pPr algn="l">
              <a:lnSpc>
                <a:spcPct val="104000"/>
              </a:lnSpc>
              <a:buNone/>
              <a:defRPr sz="1800">
                <a:solidFill>
                  <a:srgbClr val="293A45"/>
                </a:solidFill>
                <a:latin typeface="Arial"/>
                <a:ea typeface="Arial"/>
                <a:cs typeface="Arial"/>
              </a:defRPr>
            </a:pPr>
            <a:r>
              <a:rPr sz="1800">
                <a:solidFill>
                  <a:srgbClr val="293A45"/>
                </a:solidFill>
                <a:latin typeface="Arial"/>
                <a:ea typeface="Arial"/>
                <a:cs typeface="Arial"/>
              </a:rPr>
              <a:t>NDCG@10: CoupledCF at 0.5224.</a:t>
            </a:r>
          </a:p>
        </p:txBody>
      </p:sp>
      <p:sp>
        <p:nvSpPr>
          <p:cNvPr id="10" name="divider">
            <a:extLst xmlns:a="http://schemas.openxmlformats.org/drawingml/2006/main">
              <a:ext uri="{FF2B5EF4-FFF2-40B4-BE49-F238E27FC236}">
                <a16:creationId xmlns:a16="http://schemas.microsoft.com/office/drawing/2014/main" id="{B2FF6D5E-C875-4E81-A4B9-201FA8A8506C}"/>
              </a:ext>
            </a:extLst>
          </p:cNvPr>
          <p:cNvSpPr>
            <a:spLocks xmlns:a="http://schemas.openxmlformats.org/drawingml/2006/main" noGrp="1"/>
          </p:cNvSpPr>
          <p:nvPr/>
        </p:nvSpPr>
        <p:spPr>
          <a:xfrm xmlns:a="http://schemas.openxmlformats.org/drawingml/2006/main">
            <a:off x="685800" y="5448300"/>
            <a:ext cx="10439400" cy="9525"/>
          </a:xfrm>
          <a:prstGeom xmlns:a="http://schemas.openxmlformats.org/drawingml/2006/main" prst="rect">
            <a:avLst/>
          </a:prstGeom>
          <a:solidFill xmlns:a="http://schemas.openxmlformats.org/drawingml/2006/main">
            <a:srgbClr val="D5DEE3"/>
          </a:solidFill>
          <a:ln xmlns:a="http://schemas.openxmlformats.org/drawingml/2006/main" w="0">
            <a:solidFill>
              <a:srgbClr val="D5DEE3"/>
            </a:solidFill>
            <a:prstDash val="solid"/>
          </a:ln>
        </p:spPr>
      </p:sp>
      <p:sp>
        <p:nvSpPr>
          <p:cNvPr id="11" name="result-interpretation-limit">
            <a:extLst xmlns:a="http://schemas.openxmlformats.org/drawingml/2006/main">
              <a:ext uri="{FF2B5EF4-FFF2-40B4-BE49-F238E27FC236}">
                <a16:creationId xmlns:a16="http://schemas.microsoft.com/office/drawing/2014/main" id="{86862140-8A97-4F3F-A236-4EB7FA417241}"/>
              </a:ext>
            </a:extLst>
          </p:cNvPr>
          <p:cNvSpPr>
            <a:spLocks xmlns:a="http://schemas.openxmlformats.org/drawingml/2006/main" noGrp="1"/>
          </p:cNvSpPr>
          <p:nvPr/>
        </p:nvSpPr>
        <p:spPr>
          <a:xfrm xmlns:a="http://schemas.openxmlformats.org/drawingml/2006/main">
            <a:off x="685800" y="5695950"/>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5232D"/>
                </a:solidFill>
                <a:latin typeface="Arial"/>
                <a:ea typeface="Arial"/>
                <a:cs typeface="Arial"/>
              </a:defRPr>
            </a:defPPr>
            <a:lvl1pPr algn="l">
              <a:defRPr sz="1500" b="1">
                <a:solidFill>
                  <a:srgbClr val="15232D"/>
                </a:solidFill>
                <a:latin typeface="Arial"/>
                <a:ea typeface="Arial"/>
                <a:cs typeface="Arial"/>
              </a:defRPr>
            </a:lvl1pPr>
            <a:lvl2pPr algn="l">
              <a:defRPr sz="1500" b="1">
                <a:solidFill>
                  <a:srgbClr val="15232D"/>
                </a:solidFill>
                <a:latin typeface="Arial"/>
                <a:ea typeface="Arial"/>
                <a:cs typeface="Arial"/>
              </a:defRPr>
            </a:lvl2pPr>
            <a:lvl3pPr algn="l">
              <a:defRPr sz="1500" b="1">
                <a:solidFill>
                  <a:srgbClr val="15232D"/>
                </a:solidFill>
                <a:latin typeface="Arial"/>
                <a:ea typeface="Arial"/>
                <a:cs typeface="Arial"/>
              </a:defRPr>
            </a:lvl3pPr>
            <a:lvl4pPr algn="l">
              <a:defRPr sz="1500" b="1">
                <a:solidFill>
                  <a:srgbClr val="15232D"/>
                </a:solidFill>
                <a:latin typeface="Arial"/>
                <a:ea typeface="Arial"/>
                <a:cs typeface="Arial"/>
              </a:defRPr>
            </a:lvl4pPr>
            <a:lvl5pPr algn="l">
              <a:defRPr sz="1500" b="1">
                <a:solidFill>
                  <a:srgbClr val="15232D"/>
                </a:solidFill>
                <a:latin typeface="Arial"/>
                <a:ea typeface="Arial"/>
                <a:cs typeface="Arial"/>
              </a:defRPr>
            </a:lvl5pPr>
            <a:lvl6pPr algn="l">
              <a:defRPr sz="1500" b="1">
                <a:solidFill>
                  <a:srgbClr val="15232D"/>
                </a:solidFill>
                <a:latin typeface="Arial"/>
                <a:ea typeface="Arial"/>
                <a:cs typeface="Arial"/>
              </a:defRPr>
            </a:lvl6pPr>
            <a:lvl7pPr algn="l">
              <a:defRPr sz="1500" b="1">
                <a:solidFill>
                  <a:srgbClr val="15232D"/>
                </a:solidFill>
                <a:latin typeface="Arial"/>
                <a:ea typeface="Arial"/>
                <a:cs typeface="Arial"/>
              </a:defRPr>
            </a:lvl7pPr>
            <a:lvl8pPr algn="l">
              <a:defRPr sz="1500" b="1">
                <a:solidFill>
                  <a:srgbClr val="15232D"/>
                </a:solidFill>
                <a:latin typeface="Arial"/>
                <a:ea typeface="Arial"/>
                <a:cs typeface="Arial"/>
              </a:defRPr>
            </a:lvl8pPr>
            <a:lvl9pPr algn="l">
              <a:defRPr sz="1500" b="1">
                <a:solidFill>
                  <a:srgbClr val="15232D"/>
                </a:solidFill>
                <a:latin typeface="Arial"/>
                <a:ea typeface="Arial"/>
                <a:cs typeface="Arial"/>
              </a:defRPr>
            </a:lvl9pPr>
          </a:lstStyle>
          <a:p xmlns:a="http://schemas.openxmlformats.org/drawingml/2006/main">
            <a:pPr algn="l">
              <a:defRPr sz="1500" b="1">
                <a:solidFill>
                  <a:srgbClr val="15232D"/>
                </a:solidFill>
                <a:latin typeface="Arial"/>
                <a:ea typeface="Arial"/>
                <a:cs typeface="Arial"/>
              </a:defRPr>
            </a:pPr>
            <a:r>
              <a:rPr sz="1500" b="1">
                <a:solidFill>
                  <a:srgbClr val="15232D"/>
                </a:solidFill>
                <a:latin typeface="Arial"/>
                <a:ea typeface="Arial"/>
                <a:cs typeface="Arial"/>
              </a:rPr>
              <a:t>Three seeds on one random split support a local comparison. They do not establish significance, temporal quality or performance on other datasets.</a:t>
            </a:r>
          </a:p>
        </p:txBody>
      </p:sp>
    </p:spTree>
    <p:extLst>
      <p:ext uri="{BB962C8B-B14F-4D97-AF65-F5344CB8AC3E}">
        <p14:creationId xmlns:p14="http://schemas.microsoft.com/office/powerpoint/2010/main" val="16437958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33D5BD2-E53C-4276-B9F2-95AAE1D7E153}"/>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Limitations and next experiment</a:t>
            </a:r>
          </a:p>
        </p:txBody>
      </p:sp>
      <p:sp>
        <p:nvSpPr>
          <p:cNvPr id="2" name="divider">
            <a:extLst xmlns:a="http://schemas.openxmlformats.org/drawingml/2006/main">
              <a:ext uri="{FF2B5EF4-FFF2-40B4-BE49-F238E27FC236}">
                <a16:creationId xmlns:a16="http://schemas.microsoft.com/office/drawing/2014/main" id="{7F3B17D0-BEE4-41AE-973A-99AABC072F8C}"/>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934472C3-3A39-457A-B74D-0F565E45874B}"/>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The implementation keeps the core outer-product mechanism and discloses its scope</a:t>
            </a:r>
          </a:p>
        </p:txBody>
      </p:sp>
      <p:sp>
        <p:nvSpPr>
          <p:cNvPr id="4" name="limitations-list">
            <a:extLst xmlns:a="http://schemas.openxmlformats.org/drawingml/2006/main">
              <a:ext uri="{FF2B5EF4-FFF2-40B4-BE49-F238E27FC236}">
                <a16:creationId xmlns:a16="http://schemas.microsoft.com/office/drawing/2014/main" id="{53FF2E32-D1F1-4956-9525-B27C656EBFA9}"/>
              </a:ext>
            </a:extLst>
          </p:cNvPr>
          <p:cNvSpPr>
            <a:spLocks xmlns:a="http://schemas.openxmlformats.org/drawingml/2006/main" noGrp="1"/>
          </p:cNvSpPr>
          <p:nvPr/>
        </p:nvSpPr>
        <p:spPr>
          <a:xfrm xmlns:a="http://schemas.openxmlformats.org/drawingml/2006/main">
            <a:off x="781050" y="1905000"/>
            <a:ext cx="105156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00">
                <a:solidFill>
                  <a:srgbClr val="293A45"/>
                </a:solidFill>
                <a:latin typeface="Arial"/>
                <a:ea typeface="Arial"/>
                <a:cs typeface="Arial"/>
              </a:defRPr>
            </a:defPPr>
            <a:lvl1pPr>
              <a:defRPr sz="1500">
                <a:solidFill>
                  <a:srgbClr val="293A45"/>
                </a:solidFill>
                <a:latin typeface="Arial"/>
                <a:ea typeface="Arial"/>
                <a:cs typeface="Arial"/>
              </a:defRPr>
            </a:lvl1pPr>
            <a:lvl2pPr>
              <a:defRPr sz="1500">
                <a:solidFill>
                  <a:srgbClr val="293A45"/>
                </a:solidFill>
                <a:latin typeface="Arial"/>
                <a:ea typeface="Arial"/>
                <a:cs typeface="Arial"/>
              </a:defRPr>
            </a:lvl2pPr>
            <a:lvl3pPr>
              <a:defRPr sz="1500">
                <a:solidFill>
                  <a:srgbClr val="293A45"/>
                </a:solidFill>
                <a:latin typeface="Arial"/>
                <a:ea typeface="Arial"/>
                <a:cs typeface="Arial"/>
              </a:defRPr>
            </a:lvl3pPr>
            <a:lvl4pPr>
              <a:defRPr sz="1500">
                <a:solidFill>
                  <a:srgbClr val="293A45"/>
                </a:solidFill>
                <a:latin typeface="Arial"/>
                <a:ea typeface="Arial"/>
                <a:cs typeface="Arial"/>
              </a:defRPr>
            </a:lvl4pPr>
            <a:lvl5pPr>
              <a:defRPr sz="1500">
                <a:solidFill>
                  <a:srgbClr val="293A45"/>
                </a:solidFill>
                <a:latin typeface="Arial"/>
                <a:ea typeface="Arial"/>
                <a:cs typeface="Arial"/>
              </a:defRPr>
            </a:lvl5pPr>
            <a:lvl6pPr>
              <a:defRPr sz="1500">
                <a:solidFill>
                  <a:srgbClr val="293A45"/>
                </a:solidFill>
                <a:latin typeface="Arial"/>
                <a:ea typeface="Arial"/>
                <a:cs typeface="Arial"/>
              </a:defRPr>
            </a:lvl6pPr>
            <a:lvl7pPr>
              <a:defRPr sz="1500">
                <a:solidFill>
                  <a:srgbClr val="293A45"/>
                </a:solidFill>
                <a:latin typeface="Arial"/>
                <a:ea typeface="Arial"/>
                <a:cs typeface="Arial"/>
              </a:defRPr>
            </a:lvl7pPr>
            <a:lvl8pPr>
              <a:defRPr sz="1500">
                <a:solidFill>
                  <a:srgbClr val="293A45"/>
                </a:solidFill>
                <a:latin typeface="Arial"/>
                <a:ea typeface="Arial"/>
                <a:cs typeface="Arial"/>
              </a:defRPr>
            </a:lvl8pPr>
            <a:lvl9pPr>
              <a:defRPr sz="1500">
                <a:solidFill>
                  <a:srgbClr val="293A45"/>
                </a:solidFill>
                <a:latin typeface="Arial"/>
                <a:ea typeface="Arial"/>
                <a:cs typeface="Arial"/>
              </a:defRPr>
            </a:lvl9pPr>
          </a:lstStyle>
          <a:p xmlns:a="http://schemas.openxmlformats.org/drawingml/2006/main">
            <a:pPr marL="241300" indent="-127000">
              <a:spcAft>
                <a:spcPts val="800"/>
              </a:spcAft>
              <a:buChar char="•"/>
              <a:defRPr sz="1500">
                <a:solidFill>
                  <a:srgbClr val="293A45"/>
                </a:solidFill>
                <a:latin typeface="Arial"/>
                <a:ea typeface="Arial"/>
                <a:cs typeface="Arial"/>
              </a:defRPr>
            </a:pPr>
            <a:r>
              <a:rPr sz="1500">
                <a:solidFill>
                  <a:srgbClr val="293A45"/>
                </a:solidFill>
                <a:latin typeface="Arial"/>
                <a:ea typeface="Arial"/>
                <a:cs typeface="Arial"/>
              </a:rPr>
              <a:t>The paper uses two CNN layers for ML-1M. This project uses one convolution plus max pooling.</a:t>
            </a:r>
          </a:p>
          <a:p xmlns:a="http://schemas.openxmlformats.org/drawingml/2006/main">
            <a:pPr marL="241300" indent="-127000">
              <a:spcAft>
                <a:spcPts val="800"/>
              </a:spcAft>
              <a:buChar char="•"/>
              <a:defRPr sz="1500">
                <a:solidFill>
                  <a:srgbClr val="293A45"/>
                </a:solidFill>
                <a:latin typeface="Arial"/>
                <a:ea typeface="Arial"/>
                <a:cs typeface="Arial"/>
              </a:defRPr>
            </a:pPr>
            <a:r>
              <a:rPr sz="1500">
                <a:solidFill>
                  <a:srgbClr val="293A45"/>
                </a:solidFill>
                <a:latin typeface="Arial"/>
                <a:ea typeface="Arial"/>
                <a:cs typeface="Arial"/>
              </a:rPr>
              <a:t>The project uses attributes and genres. Review text, rating prediction and other paper datasets remain outside scope.</a:t>
            </a:r>
          </a:p>
          <a:p xmlns:a="http://schemas.openxmlformats.org/drawingml/2006/main">
            <a:pPr marL="241300" indent="-127000">
              <a:spcAft>
                <a:spcPts val="800"/>
              </a:spcAft>
              <a:buChar char="•"/>
              <a:defRPr sz="1500">
                <a:solidFill>
                  <a:srgbClr val="293A45"/>
                </a:solidFill>
                <a:latin typeface="Arial"/>
                <a:ea typeface="Arial"/>
                <a:cs typeface="Arial"/>
              </a:defRPr>
            </a:pPr>
            <a:r>
              <a:rPr sz="1500">
                <a:solidFill>
                  <a:srgbClr val="293A45"/>
                </a:solidFill>
                <a:latin typeface="Arial"/>
                <a:ea typeface="Arial"/>
                <a:cs typeface="Arial"/>
              </a:rPr>
              <a:t>Evaluation uses warm users on one random split. It does not test temporal order, cold-start users or transfer.</a:t>
            </a:r>
          </a:p>
          <a:p xmlns:a="http://schemas.openxmlformats.org/drawingml/2006/main">
            <a:pPr marL="241300" indent="-127000">
              <a:spcAft>
                <a:spcPts val="800"/>
              </a:spcAft>
              <a:buChar char="•"/>
              <a:defRPr sz="1500">
                <a:solidFill>
                  <a:srgbClr val="293A45"/>
                </a:solidFill>
                <a:latin typeface="Arial"/>
                <a:ea typeface="Arial"/>
                <a:cs typeface="Arial"/>
              </a:defRPr>
            </a:pPr>
            <a:r>
              <a:rPr sz="1500">
                <a:solidFill>
                  <a:srgbClr val="293A45"/>
                </a:solidFill>
                <a:latin typeface="Arial"/>
                <a:ea typeface="Arial"/>
                <a:cs typeface="Arial"/>
              </a:rPr>
              <a:t>The project trains for 10 CPU epochs with batch size 4096; the paper reports up to 100 epochs and a batch size of 256.</a:t>
            </a:r>
          </a:p>
          <a:p xmlns:a="http://schemas.openxmlformats.org/drawingml/2006/main">
            <a:pPr marL="241300" indent="-127000">
              <a:spcAft>
                <a:spcPts val="800"/>
              </a:spcAft>
              <a:buChar char="•"/>
              <a:defRPr sz="1500">
                <a:solidFill>
                  <a:srgbClr val="293A45"/>
                </a:solidFill>
                <a:latin typeface="Arial"/>
                <a:ea typeface="Arial"/>
                <a:cs typeface="Arial"/>
              </a:defRPr>
            </a:pPr>
            <a:r>
              <a:rPr sz="1500">
                <a:solidFill>
                  <a:srgbClr val="293A45"/>
                </a:solidFill>
                <a:latin typeface="Arial"/>
                <a:ea typeface="Arial"/>
                <a:cs typeface="Arial"/>
              </a:rPr>
              <a:t>The paper lists 3,952 items. This project has 3,883 metadata records; the maximum item ID is 3,952.</a:t>
            </a:r>
          </a:p>
        </p:txBody>
      </p:sp>
      <p:sp>
        <p:nvSpPr>
          <p:cNvPr id="5" name="divider">
            <a:extLst xmlns:a="http://schemas.openxmlformats.org/drawingml/2006/main">
              <a:ext uri="{FF2B5EF4-FFF2-40B4-BE49-F238E27FC236}">
                <a16:creationId xmlns:a16="http://schemas.microsoft.com/office/drawing/2014/main" id="{28DFA2E7-BBFC-4732-898D-A60393208D4C}"/>
              </a:ext>
            </a:extLst>
          </p:cNvPr>
          <p:cNvSpPr>
            <a:spLocks xmlns:a="http://schemas.openxmlformats.org/drawingml/2006/main" noGrp="1"/>
          </p:cNvSpPr>
          <p:nvPr/>
        </p:nvSpPr>
        <p:spPr>
          <a:xfrm xmlns:a="http://schemas.openxmlformats.org/drawingml/2006/main">
            <a:off x="781050" y="5067300"/>
            <a:ext cx="10382250" cy="28575"/>
          </a:xfrm>
          <a:prstGeom xmlns:a="http://schemas.openxmlformats.org/drawingml/2006/main" prst="rect">
            <a:avLst/>
          </a:prstGeom>
          <a:solidFill xmlns:a="http://schemas.openxmlformats.org/drawingml/2006/main">
            <a:srgbClr val="147C74"/>
          </a:solidFill>
          <a:ln xmlns:a="http://schemas.openxmlformats.org/drawingml/2006/main" w="0">
            <a:solidFill>
              <a:srgbClr val="147C74"/>
            </a:solidFill>
            <a:prstDash val="solid"/>
          </a:ln>
        </p:spPr>
      </p:sp>
      <p:sp>
        <p:nvSpPr>
          <p:cNvPr id="6" name="improvement-heading">
            <a:extLst xmlns:a="http://schemas.openxmlformats.org/drawingml/2006/main">
              <a:ext uri="{FF2B5EF4-FFF2-40B4-BE49-F238E27FC236}">
                <a16:creationId xmlns:a16="http://schemas.microsoft.com/office/drawing/2014/main" id="{2C92C919-30C2-472A-9415-E42C102227E8}"/>
              </a:ext>
            </a:extLst>
          </p:cNvPr>
          <p:cNvSpPr>
            <a:spLocks xmlns:a="http://schemas.openxmlformats.org/drawingml/2006/main" noGrp="1"/>
          </p:cNvSpPr>
          <p:nvPr/>
        </p:nvSpPr>
        <p:spPr>
          <a:xfrm xmlns:a="http://schemas.openxmlformats.org/drawingml/2006/main">
            <a:off x="781050" y="52578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47C74"/>
                </a:solidFill>
                <a:latin typeface="Arial"/>
                <a:ea typeface="Arial"/>
                <a:cs typeface="Arial"/>
              </a:defRPr>
            </a:defPPr>
            <a:lvl1pPr algn="l">
              <a:defRPr sz="1650" b="1">
                <a:solidFill>
                  <a:srgbClr val="147C74"/>
                </a:solidFill>
                <a:latin typeface="Arial"/>
                <a:ea typeface="Arial"/>
                <a:cs typeface="Arial"/>
              </a:defRPr>
            </a:lvl1pPr>
            <a:lvl2pPr algn="l">
              <a:defRPr sz="1650" b="1">
                <a:solidFill>
                  <a:srgbClr val="147C74"/>
                </a:solidFill>
                <a:latin typeface="Arial"/>
                <a:ea typeface="Arial"/>
                <a:cs typeface="Arial"/>
              </a:defRPr>
            </a:lvl2pPr>
            <a:lvl3pPr algn="l">
              <a:defRPr sz="1650" b="1">
                <a:solidFill>
                  <a:srgbClr val="147C74"/>
                </a:solidFill>
                <a:latin typeface="Arial"/>
                <a:ea typeface="Arial"/>
                <a:cs typeface="Arial"/>
              </a:defRPr>
            </a:lvl3pPr>
            <a:lvl4pPr algn="l">
              <a:defRPr sz="1650" b="1">
                <a:solidFill>
                  <a:srgbClr val="147C74"/>
                </a:solidFill>
                <a:latin typeface="Arial"/>
                <a:ea typeface="Arial"/>
                <a:cs typeface="Arial"/>
              </a:defRPr>
            </a:lvl4pPr>
            <a:lvl5pPr algn="l">
              <a:defRPr sz="1650" b="1">
                <a:solidFill>
                  <a:srgbClr val="147C74"/>
                </a:solidFill>
                <a:latin typeface="Arial"/>
                <a:ea typeface="Arial"/>
                <a:cs typeface="Arial"/>
              </a:defRPr>
            </a:lvl5pPr>
            <a:lvl6pPr algn="l">
              <a:defRPr sz="1650" b="1">
                <a:solidFill>
                  <a:srgbClr val="147C74"/>
                </a:solidFill>
                <a:latin typeface="Arial"/>
                <a:ea typeface="Arial"/>
                <a:cs typeface="Arial"/>
              </a:defRPr>
            </a:lvl6pPr>
            <a:lvl7pPr algn="l">
              <a:defRPr sz="1650" b="1">
                <a:solidFill>
                  <a:srgbClr val="147C74"/>
                </a:solidFill>
                <a:latin typeface="Arial"/>
                <a:ea typeface="Arial"/>
                <a:cs typeface="Arial"/>
              </a:defRPr>
            </a:lvl7pPr>
            <a:lvl8pPr algn="l">
              <a:defRPr sz="1650" b="1">
                <a:solidFill>
                  <a:srgbClr val="147C74"/>
                </a:solidFill>
                <a:latin typeface="Arial"/>
                <a:ea typeface="Arial"/>
                <a:cs typeface="Arial"/>
              </a:defRPr>
            </a:lvl8pPr>
            <a:lvl9pPr algn="l">
              <a:defRPr sz="1650" b="1">
                <a:solidFill>
                  <a:srgbClr val="147C74"/>
                </a:solidFill>
                <a:latin typeface="Arial"/>
                <a:ea typeface="Arial"/>
                <a:cs typeface="Arial"/>
              </a:defRPr>
            </a:lvl9pPr>
          </a:lstStyle>
          <a:p xmlns:a="http://schemas.openxmlformats.org/drawingml/2006/main">
            <a:pPr algn="l">
              <a:defRPr sz="1650" b="1">
                <a:solidFill>
                  <a:srgbClr val="147C74"/>
                </a:solidFill>
                <a:latin typeface="Arial"/>
                <a:ea typeface="Arial"/>
                <a:cs typeface="Arial"/>
              </a:defRPr>
            </a:pPr>
            <a:r>
              <a:rPr sz="1650" b="1">
                <a:solidFill>
                  <a:srgbClr val="147C74"/>
                </a:solidFill>
                <a:latin typeface="Arial"/>
                <a:ea typeface="Arial"/>
                <a:cs typeface="Arial"/>
              </a:rPr>
              <a:t>Proposed improvement</a:t>
            </a:r>
          </a:p>
        </p:txBody>
      </p:sp>
      <p:sp>
        <p:nvSpPr>
          <p:cNvPr id="7" name="improvement-proposal">
            <a:extLst xmlns:a="http://schemas.openxmlformats.org/drawingml/2006/main">
              <a:ext uri="{FF2B5EF4-FFF2-40B4-BE49-F238E27FC236}">
                <a16:creationId xmlns:a16="http://schemas.microsoft.com/office/drawing/2014/main" id="{F370C15B-4EE6-4294-8767-F55E0C6B3514}"/>
              </a:ext>
            </a:extLst>
          </p:cNvPr>
          <p:cNvSpPr>
            <a:spLocks xmlns:a="http://schemas.openxmlformats.org/drawingml/2006/main" noGrp="1"/>
          </p:cNvSpPr>
          <p:nvPr/>
        </p:nvSpPr>
        <p:spPr>
          <a:xfrm xmlns:a="http://schemas.openxmlformats.org/drawingml/2006/main">
            <a:off x="3238500" y="5219700"/>
            <a:ext cx="796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defPPr algn="l">
              <a:defRPr sz="1575" b="1">
                <a:solidFill>
                  <a:srgbClr val="15232D"/>
                </a:solidFill>
                <a:latin typeface="Arial"/>
                <a:ea typeface="Arial"/>
                <a:cs typeface="Arial"/>
              </a:defRPr>
            </a:defPPr>
            <a:lvl1pPr algn="l">
              <a:defRPr sz="1575" b="1">
                <a:solidFill>
                  <a:srgbClr val="15232D"/>
                </a:solidFill>
                <a:latin typeface="Arial"/>
                <a:ea typeface="Arial"/>
                <a:cs typeface="Arial"/>
              </a:defRPr>
            </a:lvl1pPr>
            <a:lvl2pPr algn="l">
              <a:defRPr sz="1575" b="1">
                <a:solidFill>
                  <a:srgbClr val="15232D"/>
                </a:solidFill>
                <a:latin typeface="Arial"/>
                <a:ea typeface="Arial"/>
                <a:cs typeface="Arial"/>
              </a:defRPr>
            </a:lvl2pPr>
            <a:lvl3pPr algn="l">
              <a:defRPr sz="1575" b="1">
                <a:solidFill>
                  <a:srgbClr val="15232D"/>
                </a:solidFill>
                <a:latin typeface="Arial"/>
                <a:ea typeface="Arial"/>
                <a:cs typeface="Arial"/>
              </a:defRPr>
            </a:lvl3pPr>
            <a:lvl4pPr algn="l">
              <a:defRPr sz="1575" b="1">
                <a:solidFill>
                  <a:srgbClr val="15232D"/>
                </a:solidFill>
                <a:latin typeface="Arial"/>
                <a:ea typeface="Arial"/>
                <a:cs typeface="Arial"/>
              </a:defRPr>
            </a:lvl4pPr>
            <a:lvl5pPr algn="l">
              <a:defRPr sz="1575" b="1">
                <a:solidFill>
                  <a:srgbClr val="15232D"/>
                </a:solidFill>
                <a:latin typeface="Arial"/>
                <a:ea typeface="Arial"/>
                <a:cs typeface="Arial"/>
              </a:defRPr>
            </a:lvl5pPr>
            <a:lvl6pPr algn="l">
              <a:defRPr sz="1575" b="1">
                <a:solidFill>
                  <a:srgbClr val="15232D"/>
                </a:solidFill>
                <a:latin typeface="Arial"/>
                <a:ea typeface="Arial"/>
                <a:cs typeface="Arial"/>
              </a:defRPr>
            </a:lvl6pPr>
            <a:lvl7pPr algn="l">
              <a:defRPr sz="1575" b="1">
                <a:solidFill>
                  <a:srgbClr val="15232D"/>
                </a:solidFill>
                <a:latin typeface="Arial"/>
                <a:ea typeface="Arial"/>
                <a:cs typeface="Arial"/>
              </a:defRPr>
            </a:lvl7pPr>
            <a:lvl8pPr algn="l">
              <a:defRPr sz="1575" b="1">
                <a:solidFill>
                  <a:srgbClr val="15232D"/>
                </a:solidFill>
                <a:latin typeface="Arial"/>
                <a:ea typeface="Arial"/>
                <a:cs typeface="Arial"/>
              </a:defRPr>
            </a:lvl8pPr>
            <a:lvl9pPr algn="l">
              <a:defRPr sz="1575" b="1">
                <a:solidFill>
                  <a:srgbClr val="15232D"/>
                </a:solidFill>
                <a:latin typeface="Arial"/>
                <a:ea typeface="Arial"/>
                <a:cs typeface="Arial"/>
              </a:defRPr>
            </a:lvl9pPr>
          </a:lstStyle>
          <a:p xmlns:a="http://schemas.openxmlformats.org/drawingml/2006/main">
            <a:pPr algn="l">
              <a:defRPr sz="1575" b="1">
                <a:solidFill>
                  <a:srgbClr val="15232D"/>
                </a:solidFill>
                <a:latin typeface="Arial"/>
                <a:ea typeface="Arial"/>
                <a:cs typeface="Arial"/>
              </a:defRPr>
            </a:pPr>
            <a:r>
              <a:rPr sz="1575" b="1">
                <a:solidFill>
                  <a:srgbClr val="15232D"/>
                </a:solidFill>
                <a:latin typeface="Arial"/>
                <a:ea typeface="Arial"/>
                <a:cs typeface="Arial"/>
              </a:rPr>
              <a:t>Replace the CNN with field-aware cross attention over demographic fields and genre tokens. Match parameter count, split, seeds and update budget. Improvement remains an untested hypothesis.</a:t>
            </a:r>
          </a:p>
        </p:txBody>
      </p:sp>
    </p:spTree>
    <p:extLst>
      <p:ext uri="{BB962C8B-B14F-4D97-AF65-F5344CB8AC3E}">
        <p14:creationId xmlns:p14="http://schemas.microsoft.com/office/powerpoint/2010/main" val="59492454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524E603-0E28-4B73-BEA1-509F46439DFC}"/>
              </a:ext>
            </a:extLst>
          </p:cNvPr>
          <p:cNvSpPr>
            <a:spLocks xmlns:a="http://schemas.openxmlformats.org/drawingml/2006/main" noGrp="1"/>
          </p:cNvSpPr>
          <p:nvPr/>
        </p:nvSpPr>
        <p:spPr>
          <a:xfrm xmlns:a="http://schemas.openxmlformats.org/drawingml/2006/main">
            <a:off x="609600" y="4000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5232D"/>
                </a:solidFill>
                <a:latin typeface="Arial"/>
                <a:ea typeface="Arial"/>
                <a:cs typeface="Arial"/>
              </a:defRPr>
            </a:defPPr>
            <a:lvl1pPr algn="l">
              <a:defRPr sz="3300" b="1">
                <a:solidFill>
                  <a:srgbClr val="15232D"/>
                </a:solidFill>
                <a:latin typeface="Arial"/>
                <a:ea typeface="Arial"/>
                <a:cs typeface="Arial"/>
              </a:defRPr>
            </a:lvl1pPr>
            <a:lvl2pPr algn="l">
              <a:defRPr sz="3300" b="1">
                <a:solidFill>
                  <a:srgbClr val="15232D"/>
                </a:solidFill>
                <a:latin typeface="Arial"/>
                <a:ea typeface="Arial"/>
                <a:cs typeface="Arial"/>
              </a:defRPr>
            </a:lvl2pPr>
            <a:lvl3pPr algn="l">
              <a:defRPr sz="3300" b="1">
                <a:solidFill>
                  <a:srgbClr val="15232D"/>
                </a:solidFill>
                <a:latin typeface="Arial"/>
                <a:ea typeface="Arial"/>
                <a:cs typeface="Arial"/>
              </a:defRPr>
            </a:lvl3pPr>
            <a:lvl4pPr algn="l">
              <a:defRPr sz="3300" b="1">
                <a:solidFill>
                  <a:srgbClr val="15232D"/>
                </a:solidFill>
                <a:latin typeface="Arial"/>
                <a:ea typeface="Arial"/>
                <a:cs typeface="Arial"/>
              </a:defRPr>
            </a:lvl4pPr>
            <a:lvl5pPr algn="l">
              <a:defRPr sz="3300" b="1">
                <a:solidFill>
                  <a:srgbClr val="15232D"/>
                </a:solidFill>
                <a:latin typeface="Arial"/>
                <a:ea typeface="Arial"/>
                <a:cs typeface="Arial"/>
              </a:defRPr>
            </a:lvl5pPr>
            <a:lvl6pPr algn="l">
              <a:defRPr sz="3300" b="1">
                <a:solidFill>
                  <a:srgbClr val="15232D"/>
                </a:solidFill>
                <a:latin typeface="Arial"/>
                <a:ea typeface="Arial"/>
                <a:cs typeface="Arial"/>
              </a:defRPr>
            </a:lvl6pPr>
            <a:lvl7pPr algn="l">
              <a:defRPr sz="3300" b="1">
                <a:solidFill>
                  <a:srgbClr val="15232D"/>
                </a:solidFill>
                <a:latin typeface="Arial"/>
                <a:ea typeface="Arial"/>
                <a:cs typeface="Arial"/>
              </a:defRPr>
            </a:lvl7pPr>
            <a:lvl8pPr algn="l">
              <a:defRPr sz="3300" b="1">
                <a:solidFill>
                  <a:srgbClr val="15232D"/>
                </a:solidFill>
                <a:latin typeface="Arial"/>
                <a:ea typeface="Arial"/>
                <a:cs typeface="Arial"/>
              </a:defRPr>
            </a:lvl8pPr>
            <a:lvl9pPr algn="l">
              <a:defRPr sz="3300" b="1">
                <a:solidFill>
                  <a:srgbClr val="15232D"/>
                </a:solidFill>
                <a:latin typeface="Arial"/>
                <a:ea typeface="Arial"/>
                <a:cs typeface="Arial"/>
              </a:defRPr>
            </a:lvl9pPr>
          </a:lstStyle>
          <a:p xmlns:a="http://schemas.openxmlformats.org/drawingml/2006/main">
            <a:pPr algn="l">
              <a:defRPr sz="3300" b="1">
                <a:solidFill>
                  <a:srgbClr val="15232D"/>
                </a:solidFill>
                <a:latin typeface="Arial"/>
                <a:ea typeface="Arial"/>
                <a:cs typeface="Arial"/>
              </a:defRPr>
            </a:pPr>
            <a:r>
              <a:rPr sz="3300" b="1">
                <a:solidFill>
                  <a:srgbClr val="15232D"/>
                </a:solidFill>
                <a:latin typeface="Arial"/>
                <a:ea typeface="Arial"/>
                <a:cs typeface="Arial"/>
              </a:rPr>
              <a:t>Project team and viva</a:t>
            </a:r>
          </a:p>
        </p:txBody>
      </p:sp>
      <p:sp>
        <p:nvSpPr>
          <p:cNvPr id="2" name="divider">
            <a:extLst xmlns:a="http://schemas.openxmlformats.org/drawingml/2006/main">
              <a:ext uri="{FF2B5EF4-FFF2-40B4-BE49-F238E27FC236}">
                <a16:creationId xmlns:a16="http://schemas.microsoft.com/office/drawing/2014/main" id="{F7073034-F313-493D-ADFD-AE1651480916}"/>
              </a:ext>
            </a:extLst>
          </p:cNvPr>
          <p:cNvSpPr>
            <a:spLocks xmlns:a="http://schemas.openxmlformats.org/drawingml/2006/main" noGrp="1"/>
          </p:cNvSpPr>
          <p:nvPr/>
        </p:nvSpPr>
        <p:spPr>
          <a:xfrm xmlns:a="http://schemas.openxmlformats.org/drawingml/2006/main">
            <a:off x="609600" y="1028700"/>
            <a:ext cx="10972800" cy="28575"/>
          </a:xfrm>
          <a:prstGeom xmlns:a="http://schemas.openxmlformats.org/drawingml/2006/main" prst="rect">
            <a:avLst/>
          </a:prstGeom>
          <a:solidFill xmlns:a="http://schemas.openxmlformats.org/drawingml/2006/main">
            <a:srgbClr val="19689A"/>
          </a:solidFill>
          <a:ln xmlns:a="http://schemas.openxmlformats.org/drawingml/2006/main" w="0">
            <a:solidFill>
              <a:srgbClr val="19689A"/>
            </a:solidFill>
            <a:prstDash val="solid"/>
          </a:ln>
        </p:spPr>
      </p:sp>
      <p:sp>
        <p:nvSpPr>
          <p:cNvPr id="3" name="slide-subtitle">
            <a:extLst xmlns:a="http://schemas.openxmlformats.org/drawingml/2006/main">
              <a:ext uri="{FF2B5EF4-FFF2-40B4-BE49-F238E27FC236}">
                <a16:creationId xmlns:a16="http://schemas.microsoft.com/office/drawing/2014/main" id="{D631202D-9935-4113-A813-14BC202B52CF}"/>
              </a:ext>
            </a:extLst>
          </p:cNvPr>
          <p:cNvSpPr>
            <a:spLocks xmlns:a="http://schemas.openxmlformats.org/drawingml/2006/main" noGrp="1"/>
          </p:cNvSpPr>
          <p:nvPr/>
        </p:nvSpPr>
        <p:spPr>
          <a:xfrm xmlns:a="http://schemas.openxmlformats.org/drawingml/2006/main">
            <a:off x="609600" y="11620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a:solidFill>
                  <a:srgbClr val="5F6D76"/>
                </a:solidFill>
                <a:latin typeface="Arial"/>
                <a:ea typeface="Arial"/>
                <a:cs typeface="Arial"/>
              </a:defRPr>
            </a:defPPr>
            <a:lvl1pPr algn="l">
              <a:defRPr sz="1725">
                <a:solidFill>
                  <a:srgbClr val="5F6D76"/>
                </a:solidFill>
                <a:latin typeface="Arial"/>
                <a:ea typeface="Arial"/>
                <a:cs typeface="Arial"/>
              </a:defRPr>
            </a:lvl1pPr>
            <a:lvl2pPr algn="l">
              <a:defRPr sz="1725">
                <a:solidFill>
                  <a:srgbClr val="5F6D76"/>
                </a:solidFill>
                <a:latin typeface="Arial"/>
                <a:ea typeface="Arial"/>
                <a:cs typeface="Arial"/>
              </a:defRPr>
            </a:lvl2pPr>
            <a:lvl3pPr algn="l">
              <a:defRPr sz="1725">
                <a:solidFill>
                  <a:srgbClr val="5F6D76"/>
                </a:solidFill>
                <a:latin typeface="Arial"/>
                <a:ea typeface="Arial"/>
                <a:cs typeface="Arial"/>
              </a:defRPr>
            </a:lvl3pPr>
            <a:lvl4pPr algn="l">
              <a:defRPr sz="1725">
                <a:solidFill>
                  <a:srgbClr val="5F6D76"/>
                </a:solidFill>
                <a:latin typeface="Arial"/>
                <a:ea typeface="Arial"/>
                <a:cs typeface="Arial"/>
              </a:defRPr>
            </a:lvl4pPr>
            <a:lvl5pPr algn="l">
              <a:defRPr sz="1725">
                <a:solidFill>
                  <a:srgbClr val="5F6D76"/>
                </a:solidFill>
                <a:latin typeface="Arial"/>
                <a:ea typeface="Arial"/>
                <a:cs typeface="Arial"/>
              </a:defRPr>
            </a:lvl5pPr>
            <a:lvl6pPr algn="l">
              <a:defRPr sz="1725">
                <a:solidFill>
                  <a:srgbClr val="5F6D76"/>
                </a:solidFill>
                <a:latin typeface="Arial"/>
                <a:ea typeface="Arial"/>
                <a:cs typeface="Arial"/>
              </a:defRPr>
            </a:lvl6pPr>
            <a:lvl7pPr algn="l">
              <a:defRPr sz="1725">
                <a:solidFill>
                  <a:srgbClr val="5F6D76"/>
                </a:solidFill>
                <a:latin typeface="Arial"/>
                <a:ea typeface="Arial"/>
                <a:cs typeface="Arial"/>
              </a:defRPr>
            </a:lvl7pPr>
            <a:lvl8pPr algn="l">
              <a:defRPr sz="1725">
                <a:solidFill>
                  <a:srgbClr val="5F6D76"/>
                </a:solidFill>
                <a:latin typeface="Arial"/>
                <a:ea typeface="Arial"/>
                <a:cs typeface="Arial"/>
              </a:defRPr>
            </a:lvl8pPr>
            <a:lvl9pPr algn="l">
              <a:defRPr sz="1725">
                <a:solidFill>
                  <a:srgbClr val="5F6D76"/>
                </a:solidFill>
                <a:latin typeface="Arial"/>
                <a:ea typeface="Arial"/>
                <a:cs typeface="Arial"/>
              </a:defRPr>
            </a:lvl9pPr>
          </a:lstStyle>
          <a:p xmlns:a="http://schemas.openxmlformats.org/drawingml/2006/main">
            <a:pPr algn="l">
              <a:defRPr sz="1725">
                <a:solidFill>
                  <a:srgbClr val="5F6D76"/>
                </a:solidFill>
                <a:latin typeface="Arial"/>
                <a:ea typeface="Arial"/>
                <a:cs typeface="Arial"/>
              </a:defRPr>
            </a:pPr>
            <a:r>
              <a:rPr sz="1725">
                <a:solidFill>
                  <a:srgbClr val="5F6D76"/>
                </a:solidFill>
                <a:latin typeface="Arial"/>
                <a:ea typeface="Arial"/>
                <a:cs typeface="Arial"/>
              </a:rPr>
              <a:t>Names and contributions stay editable until the team verifies them</a:t>
            </a:r>
          </a:p>
        </p:txBody>
      </p:sp>
      <p:graphicFrame>
        <p:nvGraphicFramePr>
          <p:cNvPr id="4" name="">
            <a:extLst xmlns:a="http://schemas.openxmlformats.org/drawingml/2006/main">
              <a:ext uri="{FF2B5EF4-FFF2-40B4-BE49-F238E27FC236}">
                <a16:creationId xmlns:a16="http://schemas.microsoft.com/office/drawing/2014/main" id="{9E149964-EF1E-4330-84A5-76F2F7B86C2C}"/>
              </a:ext>
            </a:extLst>
          </p:cNvPr>
          <p:cNvGraphicFramePr/>
          <p:nvPr/>
        </p:nvGraphicFramePr>
        <p:xfrm>
          <a:off xmlns:a="http://schemas.openxmlformats.org/drawingml/2006/main" x="609600" y="1847850"/>
          <a:ext xmlns:a="http://schemas.openxmlformats.org/drawingml/2006/main" cx="10972800" cy="1943100"/>
        </p:xfrm>
        <a:graphic xmlns:a="http://schemas.openxmlformats.org/drawingml/2006/main">
          <a:graphicData uri="http://schemas.openxmlformats.org/drawingml/2006/table">
            <a:tbl>
              <a:tblPr firstRow="0" firstCol="0" bandRow="0" bandCol="0"/>
              <a:tblGrid>
                <a:gridCol w="2857500"/>
                <a:gridCol w="2095500"/>
                <a:gridCol w="6019800"/>
              </a:tblGrid>
              <a:tr h="647700">
                <a:tc>
                  <a:txBody>
                    <a:bodyPr wrap="square" lIns="76200" tIns="47625" rIns="57150" bIns="47625">
                      <a:normAutofit/>
                    </a:bodyPr>
                    <a:lstStyle/>
                    <a:p>
                      <a:pPr algn="l"/>
                      <a:r>
                        <a:rPr sz="1350" b="1">
                          <a:solidFill>
                            <a:srgbClr val="FFFFFF"/>
                          </a:solidFill>
                          <a:latin typeface="Arial"/>
                          <a:ea typeface="Arial"/>
                          <a:cs typeface="Arial"/>
                        </a:rPr>
                        <a:t>Student</a:t>
                      </a:r>
                    </a:p>
                  </a:txBody>
                  <a:tcPr marL="91440" marR="91440" marT="45720" marB="45720" anchor="ctr">
                    <a:lnL w="9525">
                      <a:solidFill>
                        <a:srgbClr val="D5DEE3"/>
                      </a:solidFill>
                      <a:prstDash val="solid"/>
                    </a:lnL>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350" b="1">
                          <a:solidFill>
                            <a:srgbClr val="FFFFFF"/>
                          </a:solidFill>
                          <a:latin typeface="Arial"/>
                          <a:ea typeface="Arial"/>
                          <a:cs typeface="Arial"/>
                        </a:rPr>
                        <a:t>Roll number</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c>
                  <a:txBody>
                    <a:bodyPr wrap="square" lIns="76200" tIns="47625" rIns="57150" bIns="47625">
                      <a:normAutofit/>
                    </a:bodyPr>
                    <a:lstStyle/>
                    <a:p>
                      <a:pPr algn="ctr"/>
                      <a:r>
                        <a:rPr sz="1350" b="1">
                          <a:solidFill>
                            <a:srgbClr val="FFFFFF"/>
                          </a:solidFill>
                          <a:latin typeface="Arial"/>
                          <a:ea typeface="Arial"/>
                          <a:cs typeface="Arial"/>
                        </a:rPr>
                        <a:t>Individual contribution</a:t>
                      </a:r>
                    </a:p>
                  </a:txBody>
                  <a:tcPr marL="91440" marR="91440" marT="45720" marB="45720" anchor="ctr">
                    <a:lnR w="9525">
                      <a:solidFill>
                        <a:srgbClr val="D5DEE3"/>
                      </a:solidFill>
                      <a:prstDash val="solid"/>
                    </a:lnR>
                    <a:lnT w="9525">
                      <a:solidFill>
                        <a:srgbClr val="D5DEE3"/>
                      </a:solidFill>
                      <a:prstDash val="solid"/>
                    </a:lnT>
                    <a:lnB w="9525">
                      <a:solidFill>
                        <a:srgbClr val="D5DEE3"/>
                      </a:solidFill>
                      <a:prstDash val="solid"/>
                    </a:lnB>
                    <a:solidFill>
                      <a:srgbClr val="15232D"/>
                    </a:solidFill>
                  </a:tcPr>
                </a:tc>
              </a:tr>
              <a:tr h="647700">
                <a:tc>
                  <a:txBody>
                    <a:bodyPr wrap="square" lIns="76200" tIns="47625" rIns="57150" bIns="47625">
                      <a:normAutofit/>
                    </a:bodyPr>
                    <a:lstStyle/>
                    <a:p>
                      <a:pPr algn="l"/>
                      <a:r>
                        <a:rPr sz="1350" b="1">
                          <a:solidFill>
                            <a:srgbClr val="293A45"/>
                          </a:solidFill>
                          <a:latin typeface="Arial"/>
                          <a:ea typeface="Arial"/>
                          <a:cs typeface="Arial"/>
                        </a:rPr>
                        <a:t>[Student name]</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[Roll number]</a:t>
                      </a:r>
                    </a:p>
                  </a:txBody>
                  <a:tcPr marL="91440" marR="91440" marT="45720" marB="45720" anchor="ctr">
                    <a:lnR w="9525">
                      <a:solidFill>
                        <a:srgbClr val="D5DEE3"/>
                      </a:solidFill>
                      <a:prstDash val="solid"/>
                    </a:lnR>
                    <a:lnB w="9525">
                      <a:solidFill>
                        <a:srgbClr val="D5DEE3"/>
                      </a:solidFill>
                      <a:prstDash val="solid"/>
                    </a:lnB>
                    <a:solidFill>
                      <a:srgbClr val="FFFFFF"/>
                    </a:solidFill>
                  </a:tcPr>
                </a:tc>
                <a:tc>
                  <a:txBody>
                    <a:bodyPr wrap="square" lIns="76200" tIns="47625" rIns="57150" bIns="47625">
                      <a:normAutofit/>
                    </a:bodyPr>
                    <a:lstStyle/>
                    <a:p>
                      <a:pPr algn="ctr"/>
                      <a:r>
                        <a:rPr sz="1350" b="0">
                          <a:solidFill>
                            <a:srgbClr val="293A45"/>
                          </a:solidFill>
                          <a:latin typeface="Arial"/>
                          <a:ea typeface="Arial"/>
                          <a:cs typeface="Arial"/>
                        </a:rPr>
                        <a:t>[Describe actual individual contribution]</a:t>
                      </a:r>
                    </a:p>
                  </a:txBody>
                  <a:tcPr marL="91440" marR="91440" marT="45720" marB="45720" anchor="ctr">
                    <a:lnR w="9525">
                      <a:solidFill>
                        <a:srgbClr val="D5DEE3"/>
                      </a:solidFill>
                      <a:prstDash val="solid"/>
                    </a:lnR>
                    <a:lnB w="9525">
                      <a:solidFill>
                        <a:srgbClr val="D5DEE3"/>
                      </a:solidFill>
                      <a:prstDash val="solid"/>
                    </a:lnB>
                    <a:solidFill>
                      <a:srgbClr val="FFFFFF"/>
                    </a:solidFill>
                  </a:tcPr>
                </a:tc>
              </a:tr>
              <a:tr h="647700">
                <a:tc>
                  <a:txBody>
                    <a:bodyPr wrap="square" lIns="76200" tIns="47625" rIns="57150" bIns="47625">
                      <a:normAutofit/>
                    </a:bodyPr>
                    <a:lstStyle/>
                    <a:p>
                      <a:pPr algn="l"/>
                      <a:r>
                        <a:rPr sz="1350" b="1">
                          <a:solidFill>
                            <a:srgbClr val="293A45"/>
                          </a:solidFill>
                          <a:latin typeface="Arial"/>
                          <a:ea typeface="Arial"/>
                          <a:cs typeface="Arial"/>
                        </a:rPr>
                        <a:t>[Student name]</a:t>
                      </a:r>
                    </a:p>
                  </a:txBody>
                  <a:tcPr marL="91440" marR="91440" marT="45720" marB="45720" anchor="ctr">
                    <a:lnL w="9525">
                      <a:solidFill>
                        <a:srgbClr val="D5DEE3"/>
                      </a:solidFill>
                      <a:prstDash val="solid"/>
                    </a:lnL>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[Roll number]</a:t>
                      </a:r>
                    </a:p>
                  </a:txBody>
                  <a:tcPr marL="91440" marR="91440" marT="45720" marB="45720" anchor="ctr">
                    <a:lnR w="9525">
                      <a:solidFill>
                        <a:srgbClr val="D5DEE3"/>
                      </a:solidFill>
                      <a:prstDash val="solid"/>
                    </a:lnR>
                    <a:lnB w="9525">
                      <a:solidFill>
                        <a:srgbClr val="D5DEE3"/>
                      </a:solidFill>
                      <a:prstDash val="solid"/>
                    </a:lnB>
                    <a:solidFill>
                      <a:srgbClr val="F3F6F7"/>
                    </a:solidFill>
                  </a:tcPr>
                </a:tc>
                <a:tc>
                  <a:txBody>
                    <a:bodyPr wrap="square" lIns="76200" tIns="47625" rIns="57150" bIns="47625">
                      <a:normAutofit/>
                    </a:bodyPr>
                    <a:lstStyle/>
                    <a:p>
                      <a:pPr algn="ctr"/>
                      <a:r>
                        <a:rPr sz="1350" b="0">
                          <a:solidFill>
                            <a:srgbClr val="293A45"/>
                          </a:solidFill>
                          <a:latin typeface="Arial"/>
                          <a:ea typeface="Arial"/>
                          <a:cs typeface="Arial"/>
                        </a:rPr>
                        <a:t>[Describe actual individual contribution]</a:t>
                      </a:r>
                    </a:p>
                  </a:txBody>
                  <a:tcPr marL="91440" marR="91440" marT="45720" marB="45720" anchor="ctr">
                    <a:lnR w="9525">
                      <a:solidFill>
                        <a:srgbClr val="D5DEE3"/>
                      </a:solidFill>
                      <a:prstDash val="solid"/>
                    </a:lnR>
                    <a:lnB w="9525">
                      <a:solidFill>
                        <a:srgbClr val="D5DEE3"/>
                      </a:solidFill>
                      <a:prstDash val="solid"/>
                    </a:lnB>
                    <a:solidFill>
                      <a:srgbClr val="F3F6F7"/>
                    </a:solidFill>
                  </a:tcPr>
                </a:tc>
              </a:tr>
            </a:tbl>
          </a:graphicData>
        </a:graphic>
      </p:graphicFrame>
      <p:sp>
        <p:nvSpPr>
          <p:cNvPr id="5" name="section-heading">
            <a:extLst xmlns:a="http://schemas.openxmlformats.org/drawingml/2006/main">
              <a:ext uri="{FF2B5EF4-FFF2-40B4-BE49-F238E27FC236}">
                <a16:creationId xmlns:a16="http://schemas.microsoft.com/office/drawing/2014/main" id="{C8E0CDC4-308F-49A9-9DB4-A74B73B935A1}"/>
              </a:ext>
            </a:extLst>
          </p:cNvPr>
          <p:cNvSpPr>
            <a:spLocks xmlns:a="http://schemas.openxmlformats.org/drawingml/2006/main" noGrp="1"/>
          </p:cNvSpPr>
          <p:nvPr/>
        </p:nvSpPr>
        <p:spPr>
          <a:xfrm xmlns:a="http://schemas.openxmlformats.org/drawingml/2006/main">
            <a:off x="609600" y="41719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9689A"/>
                </a:solidFill>
                <a:latin typeface="Arial"/>
                <a:ea typeface="Arial"/>
                <a:cs typeface="Arial"/>
              </a:defRPr>
            </a:defPPr>
            <a:lvl1pPr algn="l">
              <a:defRPr sz="1725" b="1">
                <a:solidFill>
                  <a:srgbClr val="19689A"/>
                </a:solidFill>
                <a:latin typeface="Arial"/>
                <a:ea typeface="Arial"/>
                <a:cs typeface="Arial"/>
              </a:defRPr>
            </a:lvl1pPr>
            <a:lvl2pPr algn="l">
              <a:defRPr sz="1725" b="1">
                <a:solidFill>
                  <a:srgbClr val="19689A"/>
                </a:solidFill>
                <a:latin typeface="Arial"/>
                <a:ea typeface="Arial"/>
                <a:cs typeface="Arial"/>
              </a:defRPr>
            </a:lvl2pPr>
            <a:lvl3pPr algn="l">
              <a:defRPr sz="1725" b="1">
                <a:solidFill>
                  <a:srgbClr val="19689A"/>
                </a:solidFill>
                <a:latin typeface="Arial"/>
                <a:ea typeface="Arial"/>
                <a:cs typeface="Arial"/>
              </a:defRPr>
            </a:lvl3pPr>
            <a:lvl4pPr algn="l">
              <a:defRPr sz="1725" b="1">
                <a:solidFill>
                  <a:srgbClr val="19689A"/>
                </a:solidFill>
                <a:latin typeface="Arial"/>
                <a:ea typeface="Arial"/>
                <a:cs typeface="Arial"/>
              </a:defRPr>
            </a:lvl4pPr>
            <a:lvl5pPr algn="l">
              <a:defRPr sz="1725" b="1">
                <a:solidFill>
                  <a:srgbClr val="19689A"/>
                </a:solidFill>
                <a:latin typeface="Arial"/>
                <a:ea typeface="Arial"/>
                <a:cs typeface="Arial"/>
              </a:defRPr>
            </a:lvl5pPr>
            <a:lvl6pPr algn="l">
              <a:defRPr sz="1725" b="1">
                <a:solidFill>
                  <a:srgbClr val="19689A"/>
                </a:solidFill>
                <a:latin typeface="Arial"/>
                <a:ea typeface="Arial"/>
                <a:cs typeface="Arial"/>
              </a:defRPr>
            </a:lvl6pPr>
            <a:lvl7pPr algn="l">
              <a:defRPr sz="1725" b="1">
                <a:solidFill>
                  <a:srgbClr val="19689A"/>
                </a:solidFill>
                <a:latin typeface="Arial"/>
                <a:ea typeface="Arial"/>
                <a:cs typeface="Arial"/>
              </a:defRPr>
            </a:lvl7pPr>
            <a:lvl8pPr algn="l">
              <a:defRPr sz="1725" b="1">
                <a:solidFill>
                  <a:srgbClr val="19689A"/>
                </a:solidFill>
                <a:latin typeface="Arial"/>
                <a:ea typeface="Arial"/>
                <a:cs typeface="Arial"/>
              </a:defRPr>
            </a:lvl8pPr>
            <a:lvl9pPr algn="l">
              <a:defRPr sz="1725" b="1">
                <a:solidFill>
                  <a:srgbClr val="19689A"/>
                </a:solidFill>
                <a:latin typeface="Arial"/>
                <a:ea typeface="Arial"/>
                <a:cs typeface="Arial"/>
              </a:defRPr>
            </a:lvl9pPr>
          </a:lstStyle>
          <a:p xmlns:a="http://schemas.openxmlformats.org/drawingml/2006/main">
            <a:pPr algn="l">
              <a:defRPr sz="1725" b="1">
                <a:solidFill>
                  <a:srgbClr val="19689A"/>
                </a:solidFill>
                <a:latin typeface="Arial"/>
                <a:ea typeface="Arial"/>
                <a:cs typeface="Arial"/>
              </a:defRPr>
            </a:pPr>
            <a:r>
              <a:rPr sz="1725" b="1">
                <a:solidFill>
                  <a:srgbClr val="19689A"/>
                </a:solidFill>
                <a:latin typeface="Arial"/>
                <a:ea typeface="Arial"/>
                <a:cs typeface="Arial"/>
              </a:rPr>
              <a:t>Viva prompts</a:t>
            </a:r>
          </a:p>
        </p:txBody>
      </p:sp>
      <p:sp>
        <p:nvSpPr>
          <p:cNvPr id="6" name="viva-prompts">
            <a:extLst xmlns:a="http://schemas.openxmlformats.org/drawingml/2006/main">
              <a:ext uri="{FF2B5EF4-FFF2-40B4-BE49-F238E27FC236}">
                <a16:creationId xmlns:a16="http://schemas.microsoft.com/office/drawing/2014/main" id="{311B147A-242C-4036-AED7-BCCEF2596E35}"/>
              </a:ext>
            </a:extLst>
          </p:cNvPr>
          <p:cNvSpPr>
            <a:spLocks xmlns:a="http://schemas.openxmlformats.org/drawingml/2006/main" noGrp="1"/>
          </p:cNvSpPr>
          <p:nvPr/>
        </p:nvSpPr>
        <p:spPr>
          <a:xfrm xmlns:a="http://schemas.openxmlformats.org/drawingml/2006/main">
            <a:off x="609600" y="4572000"/>
            <a:ext cx="109728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defRPr sz="1575">
                <a:solidFill>
                  <a:srgbClr val="293A45"/>
                </a:solidFill>
                <a:latin typeface="Arial"/>
                <a:ea typeface="Arial"/>
                <a:cs typeface="Arial"/>
              </a:defRPr>
            </a:defPPr>
            <a:lvl1pPr>
              <a:defRPr sz="1575">
                <a:solidFill>
                  <a:srgbClr val="293A45"/>
                </a:solidFill>
                <a:latin typeface="Arial"/>
                <a:ea typeface="Arial"/>
                <a:cs typeface="Arial"/>
              </a:defRPr>
            </a:lvl1pPr>
            <a:lvl2pPr>
              <a:defRPr sz="1575">
                <a:solidFill>
                  <a:srgbClr val="293A45"/>
                </a:solidFill>
                <a:latin typeface="Arial"/>
                <a:ea typeface="Arial"/>
                <a:cs typeface="Arial"/>
              </a:defRPr>
            </a:lvl2pPr>
            <a:lvl3pPr>
              <a:defRPr sz="1575">
                <a:solidFill>
                  <a:srgbClr val="293A45"/>
                </a:solidFill>
                <a:latin typeface="Arial"/>
                <a:ea typeface="Arial"/>
                <a:cs typeface="Arial"/>
              </a:defRPr>
            </a:lvl3pPr>
            <a:lvl4pPr>
              <a:defRPr sz="1575">
                <a:solidFill>
                  <a:srgbClr val="293A45"/>
                </a:solidFill>
                <a:latin typeface="Arial"/>
                <a:ea typeface="Arial"/>
                <a:cs typeface="Arial"/>
              </a:defRPr>
            </a:lvl4pPr>
            <a:lvl5pPr>
              <a:defRPr sz="1575">
                <a:solidFill>
                  <a:srgbClr val="293A45"/>
                </a:solidFill>
                <a:latin typeface="Arial"/>
                <a:ea typeface="Arial"/>
                <a:cs typeface="Arial"/>
              </a:defRPr>
            </a:lvl5pPr>
            <a:lvl6pPr>
              <a:defRPr sz="1575">
                <a:solidFill>
                  <a:srgbClr val="293A45"/>
                </a:solidFill>
                <a:latin typeface="Arial"/>
                <a:ea typeface="Arial"/>
                <a:cs typeface="Arial"/>
              </a:defRPr>
            </a:lvl6pPr>
            <a:lvl7pPr>
              <a:defRPr sz="1575">
                <a:solidFill>
                  <a:srgbClr val="293A45"/>
                </a:solidFill>
                <a:latin typeface="Arial"/>
                <a:ea typeface="Arial"/>
                <a:cs typeface="Arial"/>
              </a:defRPr>
            </a:lvl7pPr>
            <a:lvl8pPr>
              <a:defRPr sz="1575">
                <a:solidFill>
                  <a:srgbClr val="293A45"/>
                </a:solidFill>
                <a:latin typeface="Arial"/>
                <a:ea typeface="Arial"/>
                <a:cs typeface="Arial"/>
              </a:defRPr>
            </a:lvl8pPr>
            <a:lvl9pPr>
              <a:defRPr sz="1575">
                <a:solidFill>
                  <a:srgbClr val="293A45"/>
                </a:solidFill>
                <a:latin typeface="Arial"/>
                <a:ea typeface="Arial"/>
                <a:cs typeface="Arial"/>
              </a:defRPr>
            </a:lvl9pPr>
          </a:lstStyle>
          <a:p xmlns:a="http://schemas.openxmlformats.org/drawingml/2006/main">
            <a:pPr marL="241300" indent="-127000">
              <a:spcAft>
                <a:spcPts val="400"/>
              </a:spcAft>
              <a:buChar char="•"/>
              <a:defRPr sz="1575">
                <a:solidFill>
                  <a:srgbClr val="293A45"/>
                </a:solidFill>
                <a:latin typeface="Arial"/>
                <a:ea typeface="Arial"/>
                <a:cs typeface="Arial"/>
              </a:defRPr>
            </a:pPr>
            <a:r>
              <a:rPr sz="1575">
                <a:solidFill>
                  <a:srgbClr val="293A45"/>
                </a:solidFill>
                <a:latin typeface="Arial"/>
                <a:ea typeface="Arial"/>
                <a:cs typeface="Arial"/>
              </a:rPr>
              <a:t>How does the outer product represent a user-item feature interaction?</a:t>
            </a:r>
          </a:p>
          <a:p xmlns:a="http://schemas.openxmlformats.org/drawingml/2006/main">
            <a:pPr marL="241300" indent="-127000">
              <a:spcAft>
                <a:spcPts val="400"/>
              </a:spcAft>
              <a:buChar char="•"/>
              <a:defRPr sz="1575">
                <a:solidFill>
                  <a:srgbClr val="293A45"/>
                </a:solidFill>
                <a:latin typeface="Arial"/>
                <a:ea typeface="Arial"/>
                <a:cs typeface="Arial"/>
              </a:defRPr>
            </a:pPr>
            <a:r>
              <a:rPr sz="1575">
                <a:solidFill>
                  <a:srgbClr val="293A45"/>
                </a:solidFill>
                <a:latin typeface="Arial"/>
                <a:ea typeface="Arial"/>
                <a:cs typeface="Arial"/>
              </a:rPr>
              <a:t>Why are all observed 1-5 ratings treated as positive labels in this Top-N task?</a:t>
            </a:r>
          </a:p>
          <a:p xmlns:a="http://schemas.openxmlformats.org/drawingml/2006/main">
            <a:pPr marL="241300" indent="-127000">
              <a:spcAft>
                <a:spcPts val="400"/>
              </a:spcAft>
              <a:buChar char="•"/>
              <a:defRPr sz="1575">
                <a:solidFill>
                  <a:srgbClr val="293A45"/>
                </a:solidFill>
                <a:latin typeface="Arial"/>
                <a:ea typeface="Arial"/>
                <a:cs typeface="Arial"/>
              </a:defRPr>
            </a:pPr>
            <a:r>
              <a:rPr sz="1575">
                <a:solidFill>
                  <a:srgbClr val="293A45"/>
                </a:solidFill>
                <a:latin typeface="Arial"/>
                <a:ea typeface="Arial"/>
                <a:cs typeface="Arial"/>
              </a:rPr>
              <a:t>Which protocol differences limit comparison with the paper's Table 7?</a:t>
            </a:r>
          </a:p>
        </p:txBody>
      </p:sp>
    </p:spTree>
    <p:extLst>
      <p:ext uri="{BB962C8B-B14F-4D97-AF65-F5344CB8AC3E}">
        <p14:creationId xmlns:p14="http://schemas.microsoft.com/office/powerpoint/2010/main" val="1292589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2026-10-18T17:14:07.3570000Z</dcterms:created>
  <dcterms:modified xsi:type="dcterms:W3CDTF">2026-10-18T17:14:07.3580000Z</dcterms:modified>
</coreProperties>
</file>